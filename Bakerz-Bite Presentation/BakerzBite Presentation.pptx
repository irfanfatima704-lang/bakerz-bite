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66" r:id="rId4"/>
    <p:sldId id="267" r:id="rId5"/>
    <p:sldId id="268" r:id="rId6"/>
    <p:sldId id="258" r:id="rId7"/>
    <p:sldId id="259" r:id="rId8"/>
    <p:sldId id="260" r:id="rId9"/>
    <p:sldId id="261" r:id="rId10"/>
    <p:sldId id="262" r:id="rId11"/>
    <p:sldId id="263" r:id="rId12"/>
    <p:sldId id="264" r:id="rId13"/>
    <p:sldId id="269" r:id="rId14"/>
    <p:sldId id="270" r:id="rId15"/>
    <p:sldId id="271" r:id="rId16"/>
    <p:sldId id="265" r:id="rId17"/>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92" d="100"/>
          <a:sy n="92" d="100"/>
        </p:scale>
        <p:origin x="756"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03375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Bakerz Bite is our front-end project: a multi-page artisan bakery and café website built with HTML, CSS, JavaScript and a few supporting libraries. (Team names and batch are taken from the Developer Guide — edit if needed.)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overview, purpose, audience and objective. Figures (56 products, 14 categories, 26 pages) come from the Developer Guide.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Problem statement. Explain why a bakery or café needs a modern online presence. These are the common pain points the Bakerz Bite website is designed to remove.</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Core idea: the whole catalogue lives in data files and one shared script builds every page in the browser, so no server is needed. Walk the three points on the left, then the data flow on the right.</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Six objectives taken from the Developer Guide. Each one maps to a part of the finished website.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palette and fonts shown here are what the website actually uses (peach, mocha, espresso, champagne on cream; Fraunces + Nunito). The deck uses Cambria and Calibri so it renders on any PC.</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screenshot of our homepage. Walk through the numbered features. Welcome intro, city chooser (Karachi, Hyderabad, Lahore) exist in the code; show them live if you want to demo.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Menu page screenshot and product-details modal come from the real site. Product data (56 items) lives in data.js / products.json.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journey left to right using real screenshots. Be clear that checkout is simulated. Build-your-own-cake and recently-viewed are not in the submitted code, so they are intentionally not shown.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 pages: index.html plus 25 files in /html — Menu, 14 categories, Offers, Our Story, Gallery, Reviews, Contact, FAQ, Cart, Privacy, Terms, Sitemap.</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technologies that are in the code are listed. jQuery and the XML catalogue are optional enhancements; the core site works without them.</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areas are listed as what we check, not as pass/fail results. Add real results here only if you actually ran them. Challenges are drawn from the project architecture.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Two columns: who the website is for, and what each group gains. Mention accessibility and dietary filters because they are real features in the code.</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Eight realistic next steps from the Developer Guide. The current version is front-end only, so these all build on the existing structure.</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Notes Placeholder 2"/>
          <p:cNvSpPr>
            <a:spLocks noGrp="1"/>
          </p:cNvSpPr>
          <p:nvPr>
            <p:ph type="body" idx="1"/>
          </p:nvPr>
        </p:nvSpPr>
        <p:spPr/>
        <p:txBody>
          <a:bodyPr/>
          <a:lstStyle/>
          <a:p>
            <a:r>
              <a:t>Wrap up: what was built, what the team learned, and that the structure is ready to grow. Then move to the thank-you slide and offer a live demo.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the teacher and invite questions. Offer to open the live website for a demo.</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transition spd="med" advClick="0" advTm="6000">
    <p:fad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AF6"/>
        </a:solidFill>
        <a:effectLst/>
      </p:bgPr>
    </p:bg>
    <p:spTree>
      <p:nvGrpSpPr>
        <p:cNvPr id="1" name=""/>
        <p:cNvGrpSpPr/>
        <p:nvPr/>
      </p:nvGrpSpPr>
      <p:grpSpPr>
        <a:xfrm>
          <a:off x="0" y="0"/>
          <a:ext cx="0" cy="0"/>
          <a:chOff x="0" y="0"/>
          <a:chExt cx="0" cy="0"/>
        </a:xfrm>
      </p:grpSpPr>
      <p:sp>
        <p:nvSpPr>
          <p:cNvPr id="2" name="Text 0"/>
          <p:cNvSpPr/>
          <p:nvPr/>
        </p:nvSpPr>
        <p:spPr>
          <a:xfrm>
            <a:off x="457200" y="4773168"/>
            <a:ext cx="2743200" cy="228600"/>
          </a:xfrm>
          <a:prstGeom prst="rect">
            <a:avLst/>
          </a:prstGeom>
          <a:noFill/>
          <a:ln/>
        </p:spPr>
        <p:txBody>
          <a:bodyPr wrap="square" lIns="0" tIns="0" rIns="0" bIns="0" rtlCol="0" anchor="ctr"/>
          <a:lstStyle/>
          <a:p>
            <a:pPr marL="0" indent="0">
              <a:buNone/>
            </a:pPr>
            <a:r>
              <a:rPr lang="en-US" sz="1000" b="1" kern="0" spc="400" dirty="0">
                <a:solidFill>
                  <a:srgbClr val="B06A59"/>
                </a:solidFill>
                <a:latin typeface="Calibri" pitchFamily="34" charset="0"/>
                <a:ea typeface="Calibri" pitchFamily="34" charset="-122"/>
                <a:cs typeface="Calibri" pitchFamily="34" charset="-120"/>
              </a:rPr>
              <a:t>BAKERZ BITE</a:t>
            </a:r>
            <a:endParaRPr lang="en-US" sz="1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transition spd="med" advClick="0" advTm="6000">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BARE">
    <p:bg>
      <p:bgPr>
        <a:solidFill>
          <a:srgbClr val="FFFAF6"/>
        </a:solidFill>
        <a:effectLst/>
      </p:bgPr>
    </p:bg>
    <p:spTree>
      <p:nvGrpSpPr>
        <p:cNvPr id="1" name=""/>
        <p:cNvGrpSpPr/>
        <p:nvPr/>
      </p:nvGrpSpPr>
      <p:grpSpPr>
        <a:xfrm>
          <a:off x="0" y="0"/>
          <a:ext cx="0" cy="0"/>
          <a:chOff x="0" y="0"/>
          <a:chExt cx="0" cy="0"/>
        </a:xfrm>
      </p:grpSpPr>
    </p:spTree>
  </p:cSld>
  <p:clrMapOvr>
    <a:masterClrMapping/>
  </p:clrMapOvr>
  <p:transition spd="med" advClick="0" advTm="6000">
    <p:fade/>
  </p:transition>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transition spd="med" advClick="0" advTm="6000">
    <p:fade/>
  </p:transition>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4.jpg"/><Relationship Id="rId3" Type="http://schemas.openxmlformats.org/officeDocument/2006/relationships/image" Target="../media/image9.jpg"/><Relationship Id="rId7" Type="http://schemas.openxmlformats.org/officeDocument/2006/relationships/image" Target="../media/image13.jp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2.jpg"/><Relationship Id="rId5" Type="http://schemas.openxmlformats.org/officeDocument/2006/relationships/image" Target="../media/image11.jpg"/><Relationship Id="rId4" Type="http://schemas.openxmlformats.org/officeDocument/2006/relationships/image" Target="../media/image10.jpg"/><Relationship Id="rId9" Type="http://schemas.openxmlformats.org/officeDocument/2006/relationships/image" Target="../media/image15.jpg"/></Relationships>
</file>

<file path=ppt/slides/_rels/slide9.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18.jpg"/><Relationship Id="rId5" Type="http://schemas.openxmlformats.org/officeDocument/2006/relationships/image" Target="../media/image17.jpg"/><Relationship Id="rId4" Type="http://schemas.openxmlformats.org/officeDocument/2006/relationships/image" Target="../media/image15.jp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4.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27.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25.png"/><Relationship Id="rId9" Type="http://schemas.openxmlformats.org/officeDocument/2006/relationships/image" Target="../media/image30.png"/></Relationships>
</file>

<file path=ppt/slides/_rels/slide15.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1.png"/></Relationships>
</file>

<file path=ppt/slides/_rels/slide16.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CF1E7"/>
        </a:solidFill>
        <a:effectLst/>
      </p:bgPr>
    </p:bg>
    <p:spTree>
      <p:nvGrpSpPr>
        <p:cNvPr id="1" name=""/>
        <p:cNvGrpSpPr/>
        <p:nvPr/>
      </p:nvGrpSpPr>
      <p:grpSpPr>
        <a:xfrm>
          <a:off x="0" y="0"/>
          <a:ext cx="0" cy="0"/>
          <a:chOff x="0" y="0"/>
          <a:chExt cx="0" cy="0"/>
        </a:xfrm>
      </p:grpSpPr>
      <p:pic>
        <p:nvPicPr>
          <p:cNvPr id="2" name="A1w" descr="/home/claude/img/cover.jpg"/>
          <p:cNvPicPr>
            <a:picLocks noChangeAspect="1"/>
          </p:cNvPicPr>
          <p:nvPr/>
        </p:nvPicPr>
        <p:blipFill>
          <a:blip r:embed="rId3"/>
          <a:stretch>
            <a:fillRect/>
          </a:stretch>
        </p:blipFill>
        <p:spPr>
          <a:xfrm>
            <a:off x="5577840" y="0"/>
            <a:ext cx="3566160" cy="5143500"/>
          </a:xfrm>
          <a:prstGeom prst="rect">
            <a:avLst/>
          </a:prstGeom>
        </p:spPr>
      </p:pic>
      <p:pic>
        <p:nvPicPr>
          <p:cNvPr id="3" name="A2f" descr="/home/claude/img/logo.png"/>
          <p:cNvPicPr>
            <a:picLocks noChangeAspect="1"/>
          </p:cNvPicPr>
          <p:nvPr/>
        </p:nvPicPr>
        <p:blipFill>
          <a:blip r:embed="rId4"/>
          <a:stretch>
            <a:fillRect/>
          </a:stretch>
        </p:blipFill>
        <p:spPr>
          <a:xfrm>
            <a:off x="640080" y="256032"/>
            <a:ext cx="1417320" cy="1005840"/>
          </a:xfrm>
          <a:prstGeom prst="rect">
            <a:avLst/>
          </a:prstGeom>
        </p:spPr>
      </p:pic>
      <p:sp>
        <p:nvSpPr>
          <p:cNvPr id="4" name="A3f"/>
          <p:cNvSpPr txBox="1"/>
          <p:nvPr/>
        </p:nvSpPr>
        <p:spPr>
          <a:xfrm>
            <a:off x="640080" y="1298448"/>
            <a:ext cx="4754880" cy="685800"/>
          </a:xfrm>
          <a:prstGeom prst="rect">
            <a:avLst/>
          </a:prstGeom>
          <a:noFill/>
          <a:ln/>
        </p:spPr>
        <p:txBody>
          <a:bodyPr wrap="square" lIns="0" tIns="0" rIns="0" bIns="0" rtlCol="0" anchor="t"/>
          <a:lstStyle/>
          <a:p>
            <a:pPr marL="0" indent="0">
              <a:buNone/>
            </a:pPr>
            <a:r>
              <a:rPr lang="en-US" sz="4400" b="1" kern="0" spc="300" dirty="0">
                <a:solidFill>
                  <a:srgbClr val="765044"/>
                </a:solidFill>
                <a:latin typeface="Cambria" pitchFamily="34" charset="0"/>
                <a:ea typeface="Cambria" pitchFamily="34" charset="-122"/>
                <a:cs typeface="Cambria" pitchFamily="34" charset="-120"/>
              </a:rPr>
              <a:t>BAKERZ BITE</a:t>
            </a:r>
            <a:endParaRPr lang="en-US" sz="5000" dirty="0"/>
          </a:p>
        </p:txBody>
      </p:sp>
      <p:sp>
        <p:nvSpPr>
          <p:cNvPr id="5" name="A4f"/>
          <p:cNvSpPr txBox="1"/>
          <p:nvPr/>
        </p:nvSpPr>
        <p:spPr>
          <a:xfrm>
            <a:off x="640080" y="2011680"/>
            <a:ext cx="4754880" cy="365760"/>
          </a:xfrm>
          <a:prstGeom prst="rect">
            <a:avLst/>
          </a:prstGeom>
          <a:noFill/>
          <a:ln/>
        </p:spPr>
        <p:txBody>
          <a:bodyPr wrap="square" lIns="0" tIns="0" rIns="0" bIns="0" rtlCol="0" anchor="t"/>
          <a:lstStyle/>
          <a:p>
            <a:pPr marL="0" indent="0">
              <a:buNone/>
            </a:pPr>
            <a:r>
              <a:rPr lang="en-US" sz="2000" i="1" dirty="0">
                <a:solidFill>
                  <a:srgbClr val="B06A59"/>
                </a:solidFill>
                <a:latin typeface="Cambria" pitchFamily="34" charset="0"/>
                <a:ea typeface="Cambria" pitchFamily="34" charset="-122"/>
                <a:cs typeface="Cambria" pitchFamily="34" charset="-120"/>
              </a:rPr>
              <a:t>Artisan Bakery &amp; Café</a:t>
            </a:r>
            <a:endParaRPr lang="en-US" sz="2200" dirty="0"/>
          </a:p>
        </p:txBody>
      </p:sp>
      <p:sp>
        <p:nvSpPr>
          <p:cNvPr id="6" name="A5f"/>
          <p:cNvSpPr txBox="1"/>
          <p:nvPr/>
        </p:nvSpPr>
        <p:spPr>
          <a:xfrm>
            <a:off x="640080" y="2423160"/>
            <a:ext cx="4754880" cy="274320"/>
          </a:xfrm>
          <a:prstGeom prst="rect">
            <a:avLst/>
          </a:prstGeom>
          <a:noFill/>
          <a:ln/>
        </p:spPr>
        <p:txBody>
          <a:bodyPr wrap="square" lIns="0" tIns="0" rIns="0" bIns="0" rtlCol="0" anchor="t"/>
          <a:lstStyle/>
          <a:p>
            <a:pPr marL="0" indent="0">
              <a:buNone/>
            </a:pPr>
            <a:r>
              <a:rPr lang="en-US" sz="1400" dirty="0">
                <a:solidFill>
                  <a:srgbClr val="3D2925"/>
                </a:solidFill>
                <a:latin typeface="Calibri" pitchFamily="34" charset="0"/>
                <a:ea typeface="Calibri" pitchFamily="34" charset="-122"/>
                <a:cs typeface="Calibri" pitchFamily="34" charset="-120"/>
              </a:rPr>
              <a:t>A Front-End Website Development Project</a:t>
            </a:r>
            <a:endParaRPr lang="en-US" sz="1500" dirty="0"/>
          </a:p>
        </p:txBody>
      </p:sp>
      <p:sp>
        <p:nvSpPr>
          <p:cNvPr id="7" name="A5f2"/>
          <p:cNvSpPr/>
          <p:nvPr/>
        </p:nvSpPr>
        <p:spPr>
          <a:xfrm>
            <a:off x="640080" y="2807208"/>
            <a:ext cx="1097280" cy="0"/>
          </a:xfrm>
          <a:prstGeom prst="line">
            <a:avLst/>
          </a:prstGeom>
          <a:noFill/>
          <a:ln w="19050">
            <a:solidFill>
              <a:srgbClr val="D8B779"/>
            </a:solidFill>
            <a:prstDash val="solid"/>
          </a:ln>
        </p:spPr>
        <p:txBody>
          <a:bodyPr/>
          <a:lstStyle/>
          <a:p>
            <a:endParaRPr lang="en-US"/>
          </a:p>
        </p:txBody>
      </p:sp>
      <p:sp>
        <p:nvSpPr>
          <p:cNvPr id="21" name="Group_course"/>
          <p:cNvSpPr txBox="1"/>
          <p:nvPr/>
        </p:nvSpPr>
        <p:spPr>
          <a:xfrm>
            <a:off x="640080" y="2926080"/>
            <a:ext cx="4754880" cy="201168"/>
          </a:xfrm>
          <a:prstGeom prst="rect">
            <a:avLst/>
          </a:prstGeom>
          <a:noFill/>
          <a:ln/>
        </p:spPr>
        <p:txBody>
          <a:bodyPr wrap="square" lIns="0" tIns="0" rIns="0" bIns="0" rtlCol="0" anchor="t"/>
          <a:lstStyle/>
          <a:p>
            <a:pPr marL="0" indent="0" algn="l">
              <a:buNone/>
            </a:pPr>
            <a:r>
              <a:rPr lang="en-US" sz="1100" b="1" dirty="0">
                <a:solidFill>
                  <a:srgbClr val="B06A59"/>
                </a:solidFill>
                <a:latin typeface="Calibri"/>
                <a:ea typeface="Calibri"/>
                <a:cs typeface="Calibri"/>
              </a:rPr>
              <a:t>Group: </a:t>
            </a:r>
            <a:r>
              <a:rPr lang="en-US" sz="1100" b="1" dirty="0">
                <a:solidFill>
                  <a:srgbClr val="765044"/>
                </a:solidFill>
                <a:latin typeface="Calibri"/>
                <a:ea typeface="Calibri"/>
                <a:cs typeface="Calibri"/>
              </a:rPr>
              <a:t>A</a:t>
            </a:r>
            <a:r>
              <a:rPr lang="en-US" sz="1100" b="1" dirty="0">
                <a:solidFill>
                  <a:srgbClr val="B06A59"/>
                </a:solidFill>
                <a:latin typeface="Calibri"/>
                <a:ea typeface="Calibri"/>
                <a:cs typeface="Calibri"/>
              </a:rPr>
              <a:t>     Course: </a:t>
            </a:r>
            <a:r>
              <a:rPr lang="en-US" sz="1100" b="1" dirty="0">
                <a:solidFill>
                  <a:srgbClr val="765044"/>
                </a:solidFill>
                <a:latin typeface="Calibri"/>
                <a:ea typeface="Calibri"/>
                <a:cs typeface="Calibri"/>
              </a:rPr>
              <a:t>CPISM</a:t>
            </a:r>
          </a:p>
        </p:txBody>
      </p:sp>
      <p:sp>
        <p:nvSpPr>
          <p:cNvPr id="22" name="Batch"/>
          <p:cNvSpPr txBox="1"/>
          <p:nvPr/>
        </p:nvSpPr>
        <p:spPr>
          <a:xfrm>
            <a:off x="640080" y="3127248"/>
            <a:ext cx="4754880" cy="201168"/>
          </a:xfrm>
          <a:prstGeom prst="rect">
            <a:avLst/>
          </a:prstGeom>
          <a:noFill/>
          <a:ln/>
        </p:spPr>
        <p:txBody>
          <a:bodyPr wrap="square" lIns="0" tIns="0" rIns="0" bIns="0" rtlCol="0" anchor="t"/>
          <a:lstStyle/>
          <a:p>
            <a:pPr marL="0" indent="0" algn="l">
              <a:buNone/>
            </a:pPr>
            <a:r>
              <a:rPr lang="en-US" sz="1100" b="1" dirty="0">
                <a:solidFill>
                  <a:srgbClr val="B06A59"/>
                </a:solidFill>
                <a:latin typeface="Calibri"/>
                <a:ea typeface="Calibri"/>
                <a:cs typeface="Calibri"/>
              </a:rPr>
              <a:t>Batch code: </a:t>
            </a:r>
            <a:r>
              <a:rPr lang="en-US" sz="1100" b="1" dirty="0">
                <a:solidFill>
                  <a:srgbClr val="765044"/>
                </a:solidFill>
                <a:latin typeface="Calibri"/>
                <a:ea typeface="Calibri"/>
                <a:cs typeface="Calibri"/>
              </a:rPr>
              <a:t>2606E2     APTECH NN 2</a:t>
            </a:r>
          </a:p>
        </p:txBody>
      </p:sp>
      <p:sp>
        <p:nvSpPr>
          <p:cNvPr id="23" name="Team_label"/>
          <p:cNvSpPr txBox="1"/>
          <p:nvPr/>
        </p:nvSpPr>
        <p:spPr>
          <a:xfrm>
            <a:off x="640080" y="3438144"/>
            <a:ext cx="4754880" cy="182880"/>
          </a:xfrm>
          <a:prstGeom prst="rect">
            <a:avLst/>
          </a:prstGeom>
          <a:noFill/>
          <a:ln/>
        </p:spPr>
        <p:txBody>
          <a:bodyPr wrap="square" lIns="0" tIns="0" rIns="0" bIns="0" rtlCol="0" anchor="t"/>
          <a:lstStyle/>
          <a:p>
            <a:pPr marL="0" indent="0" algn="l">
              <a:buNone/>
            </a:pPr>
            <a:r>
              <a:rPr lang="en-US" sz="950" b="1" spc="300" dirty="0">
                <a:solidFill>
                  <a:srgbClr val="B06A59"/>
                </a:solidFill>
                <a:latin typeface="Calibri"/>
                <a:ea typeface="Calibri"/>
                <a:cs typeface="Calibri"/>
              </a:rPr>
              <a:t>TEAM MEMBERS</a:t>
            </a:r>
          </a:p>
        </p:txBody>
      </p:sp>
      <p:sp>
        <p:nvSpPr>
          <p:cNvPr id="24" name="Member_1"/>
          <p:cNvSpPr txBox="1"/>
          <p:nvPr/>
        </p:nvSpPr>
        <p:spPr>
          <a:xfrm>
            <a:off x="640080" y="3639312"/>
            <a:ext cx="4754880" cy="182880"/>
          </a:xfrm>
          <a:prstGeom prst="rect">
            <a:avLst/>
          </a:prstGeom>
          <a:noFill/>
          <a:ln/>
        </p:spPr>
        <p:txBody>
          <a:bodyPr wrap="square" lIns="0" tIns="0" rIns="0" bIns="0" rtlCol="0" anchor="t"/>
          <a:lstStyle/>
          <a:p>
            <a:pPr marL="0" indent="0" algn="l">
              <a:buNone/>
            </a:pPr>
            <a:r>
              <a:rPr lang="en-US" sz="1100" b="1" dirty="0">
                <a:solidFill>
                  <a:srgbClr val="765044"/>
                </a:solidFill>
                <a:latin typeface="Calibri"/>
                <a:ea typeface="Calibri"/>
                <a:cs typeface="Calibri"/>
              </a:rPr>
              <a:t>Fariha Kamran</a:t>
            </a:r>
            <a:r>
              <a:rPr lang="en-US" sz="1100" dirty="0">
                <a:solidFill>
                  <a:srgbClr val="3D2925"/>
                </a:solidFill>
                <a:latin typeface="Calibri"/>
                <a:ea typeface="Calibri"/>
                <a:cs typeface="Calibri"/>
              </a:rPr>
              <a:t>   Student1733422</a:t>
            </a:r>
          </a:p>
        </p:txBody>
      </p:sp>
      <p:sp>
        <p:nvSpPr>
          <p:cNvPr id="25" name="Member_2"/>
          <p:cNvSpPr txBox="1"/>
          <p:nvPr/>
        </p:nvSpPr>
        <p:spPr>
          <a:xfrm>
            <a:off x="640080" y="3822192"/>
            <a:ext cx="4754880" cy="182880"/>
          </a:xfrm>
          <a:prstGeom prst="rect">
            <a:avLst/>
          </a:prstGeom>
          <a:noFill/>
          <a:ln/>
        </p:spPr>
        <p:txBody>
          <a:bodyPr wrap="square" lIns="0" tIns="0" rIns="0" bIns="0" rtlCol="0" anchor="t"/>
          <a:lstStyle/>
          <a:p>
            <a:pPr marL="0" indent="0" algn="l">
              <a:buNone/>
            </a:pPr>
            <a:r>
              <a:rPr lang="en-US" sz="1100" b="1" dirty="0">
                <a:solidFill>
                  <a:srgbClr val="765044"/>
                </a:solidFill>
                <a:latin typeface="Calibri"/>
                <a:ea typeface="Calibri"/>
                <a:cs typeface="Calibri"/>
              </a:rPr>
              <a:t>Fatima Irfan</a:t>
            </a:r>
            <a:r>
              <a:rPr lang="en-US" sz="1100" dirty="0">
                <a:solidFill>
                  <a:srgbClr val="3D2925"/>
                </a:solidFill>
                <a:latin typeface="Calibri"/>
                <a:ea typeface="Calibri"/>
                <a:cs typeface="Calibri"/>
              </a:rPr>
              <a:t>   Student1728977</a:t>
            </a:r>
          </a:p>
        </p:txBody>
      </p:sp>
      <p:sp>
        <p:nvSpPr>
          <p:cNvPr id="26" name="Member_3"/>
          <p:cNvSpPr txBox="1"/>
          <p:nvPr/>
        </p:nvSpPr>
        <p:spPr>
          <a:xfrm>
            <a:off x="640080" y="4005072"/>
            <a:ext cx="4754880" cy="182880"/>
          </a:xfrm>
          <a:prstGeom prst="rect">
            <a:avLst/>
          </a:prstGeom>
          <a:noFill/>
          <a:ln/>
        </p:spPr>
        <p:txBody>
          <a:bodyPr wrap="square" lIns="0" tIns="0" rIns="0" bIns="0" rtlCol="0" anchor="t"/>
          <a:lstStyle/>
          <a:p>
            <a:pPr marL="0" indent="0" algn="l">
              <a:buNone/>
            </a:pPr>
            <a:r>
              <a:rPr lang="en-US" sz="1100" b="1" dirty="0">
                <a:solidFill>
                  <a:srgbClr val="765044"/>
                </a:solidFill>
                <a:latin typeface="Calibri"/>
                <a:ea typeface="Calibri"/>
                <a:cs typeface="Calibri"/>
              </a:rPr>
              <a:t>Kashaf Baig</a:t>
            </a:r>
            <a:r>
              <a:rPr lang="en-US" sz="1100" dirty="0">
                <a:solidFill>
                  <a:srgbClr val="3D2925"/>
                </a:solidFill>
                <a:latin typeface="Calibri"/>
                <a:ea typeface="Calibri"/>
                <a:cs typeface="Calibri"/>
              </a:rPr>
              <a:t>   Student1733423</a:t>
            </a:r>
          </a:p>
        </p:txBody>
      </p:sp>
      <p:sp>
        <p:nvSpPr>
          <p:cNvPr id="27" name="Member_4"/>
          <p:cNvSpPr txBox="1"/>
          <p:nvPr/>
        </p:nvSpPr>
        <p:spPr>
          <a:xfrm>
            <a:off x="640080" y="4187952"/>
            <a:ext cx="4754880" cy="182880"/>
          </a:xfrm>
          <a:prstGeom prst="rect">
            <a:avLst/>
          </a:prstGeom>
          <a:noFill/>
          <a:ln/>
        </p:spPr>
        <p:txBody>
          <a:bodyPr wrap="square" lIns="0" tIns="0" rIns="0" bIns="0" rtlCol="0" anchor="t"/>
          <a:lstStyle/>
          <a:p>
            <a:pPr marL="0" indent="0" algn="l">
              <a:buNone/>
            </a:pPr>
            <a:r>
              <a:rPr lang="en-US" sz="1100" b="1" dirty="0">
                <a:solidFill>
                  <a:srgbClr val="765044"/>
                </a:solidFill>
                <a:latin typeface="Calibri"/>
                <a:ea typeface="Calibri"/>
                <a:cs typeface="Calibri"/>
              </a:rPr>
              <a:t>Ahmed Faraz Siddiqui</a:t>
            </a:r>
            <a:r>
              <a:rPr lang="en-US" sz="1100" dirty="0">
                <a:solidFill>
                  <a:srgbClr val="3D2925"/>
                </a:solidFill>
                <a:latin typeface="Calibri"/>
                <a:ea typeface="Calibri"/>
                <a:cs typeface="Calibri"/>
              </a:rPr>
              <a:t>   Student1733177</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800"/>
                                        <p:tgtEl>
                                          <p:spTgt spid="2"/>
                                        </p:tgtEl>
                                      </p:cBhvr>
                                    </p:animEffect>
                                  </p:childTnLst>
                                </p:cTn>
                              </p:par>
                            </p:childTnLst>
                          </p:cTn>
                        </p:par>
                        <p:par>
                          <p:cTn id="8" fill="hold">
                            <p:stCondLst>
                              <p:cond delay="7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14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childTnLst>
                          </p:cTn>
                        </p:par>
                        <p:par>
                          <p:cTn id="16" fill="hold">
                            <p:stCondLst>
                              <p:cond delay="21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childTnLst>
                                </p:cTn>
                              </p:par>
                            </p:childTnLst>
                          </p:cTn>
                        </p:par>
                        <p:par>
                          <p:cTn id="20" fill="hold">
                            <p:stCondLst>
                              <p:cond delay="28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PROJECT OVERVIEW</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A modern digital bakery experience</a:t>
            </a:r>
            <a:endParaRPr lang="en-US" sz="3200" dirty="0"/>
          </a:p>
        </p:txBody>
      </p:sp>
      <p:sp>
        <p:nvSpPr>
          <p:cNvPr id="4" name="A1f"/>
          <p:cNvSpPr txBox="1"/>
          <p:nvPr/>
        </p:nvSpPr>
        <p:spPr>
          <a:xfrm>
            <a:off x="457200" y="1188720"/>
            <a:ext cx="3931920" cy="731520"/>
          </a:xfrm>
          <a:prstGeom prst="rect">
            <a:avLst/>
          </a:prstGeom>
          <a:noFill/>
          <a:ln/>
        </p:spPr>
        <p:txBody>
          <a:bodyPr wrap="square" lIns="0" tIns="0" rIns="0" bIns="0" rtlCol="0" anchor="t"/>
          <a:lstStyle/>
          <a:p>
            <a:pPr marL="0" indent="0">
              <a:buNone/>
            </a:pPr>
            <a:r>
              <a:rPr lang="en-US" sz="1500" dirty="0">
                <a:solidFill>
                  <a:srgbClr val="3D2925"/>
                </a:solidFill>
                <a:latin typeface="Calibri" pitchFamily="34" charset="0"/>
                <a:ea typeface="Calibri" pitchFamily="34" charset="-122"/>
                <a:cs typeface="Calibri" pitchFamily="34" charset="-120"/>
              </a:rPr>
              <a:t>Bakerz Bite is a responsive multi-page website for a fictional artisan bakery &amp; café in Lahore, Pakistan.</a:t>
            </a:r>
            <a:endParaRPr lang="en-US" sz="1500" dirty="0"/>
          </a:p>
        </p:txBody>
      </p:sp>
      <p:sp>
        <p:nvSpPr>
          <p:cNvPr id="5" name="A2f_c0"/>
          <p:cNvSpPr/>
          <p:nvPr/>
        </p:nvSpPr>
        <p:spPr>
          <a:xfrm>
            <a:off x="457200" y="2029968"/>
            <a:ext cx="329184" cy="329184"/>
          </a:xfrm>
          <a:prstGeom prst="ellipse">
            <a:avLst/>
          </a:prstGeom>
          <a:solidFill>
            <a:srgbClr val="F2C4B5"/>
          </a:solidFill>
          <a:ln w="12700">
            <a:solidFill>
              <a:srgbClr val="F2C4B5"/>
            </a:solidFill>
            <a:prstDash val="solid"/>
          </a:ln>
        </p:spPr>
        <p:txBody>
          <a:bodyPr/>
          <a:lstStyle/>
          <a:p>
            <a:endParaRPr lang="en-US"/>
          </a:p>
        </p:txBody>
      </p:sp>
      <p:sp>
        <p:nvSpPr>
          <p:cNvPr id="6" name="A2f_n0"/>
          <p:cNvSpPr txBox="1"/>
          <p:nvPr/>
        </p:nvSpPr>
        <p:spPr>
          <a:xfrm>
            <a:off x="457200" y="2029968"/>
            <a:ext cx="329184" cy="329184"/>
          </a:xfrm>
          <a:prstGeom prst="rect">
            <a:avLst/>
          </a:prstGeom>
          <a:noFill/>
          <a:ln/>
        </p:spPr>
        <p:txBody>
          <a:bodyPr wrap="square" lIns="0" tIns="0" rIns="0" bIns="0" rtlCol="0" anchor="ctr"/>
          <a:lstStyle/>
          <a:p>
            <a:pPr marL="0" indent="0" algn="ctr">
              <a:buNone/>
            </a:pPr>
            <a:r>
              <a:rPr lang="en-US" sz="1300" b="1" dirty="0">
                <a:solidFill>
                  <a:srgbClr val="3D2925"/>
                </a:solidFill>
                <a:latin typeface="Calibri" pitchFamily="34" charset="0"/>
                <a:ea typeface="Calibri" pitchFamily="34" charset="-122"/>
                <a:cs typeface="Calibri" pitchFamily="34" charset="-120"/>
              </a:rPr>
              <a:t>1</a:t>
            </a:r>
            <a:endParaRPr lang="en-US" sz="1300" dirty="0"/>
          </a:p>
        </p:txBody>
      </p:sp>
      <p:sp>
        <p:nvSpPr>
          <p:cNvPr id="7" name="A2f_t0"/>
          <p:cNvSpPr txBox="1"/>
          <p:nvPr/>
        </p:nvSpPr>
        <p:spPr>
          <a:xfrm>
            <a:off x="960120" y="2011680"/>
            <a:ext cx="3429000" cy="6858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Purpose</a:t>
            </a:r>
            <a:endParaRPr lang="en-US" sz="1400" dirty="0"/>
          </a:p>
          <a:p>
            <a:pPr marL="0" indent="0">
              <a:buNone/>
            </a:pPr>
            <a:r>
              <a:rPr lang="en-US" sz="1250" dirty="0">
                <a:solidFill>
                  <a:srgbClr val="3D2925"/>
                </a:solidFill>
                <a:latin typeface="Calibri" pitchFamily="34" charset="0"/>
                <a:ea typeface="Calibri" pitchFamily="34" charset="-122"/>
                <a:cs typeface="Calibri" pitchFamily="34" charset="-120"/>
              </a:rPr>
              <a:t>Let visitors discover products, prices, ingredients and allergens — then personalise and order online.</a:t>
            </a:r>
            <a:endParaRPr lang="en-US" sz="1400" dirty="0"/>
          </a:p>
        </p:txBody>
      </p:sp>
      <p:sp>
        <p:nvSpPr>
          <p:cNvPr id="8" name="A3f_c1"/>
          <p:cNvSpPr/>
          <p:nvPr/>
        </p:nvSpPr>
        <p:spPr>
          <a:xfrm>
            <a:off x="457200" y="2779776"/>
            <a:ext cx="329184" cy="329184"/>
          </a:xfrm>
          <a:prstGeom prst="ellipse">
            <a:avLst/>
          </a:prstGeom>
          <a:solidFill>
            <a:srgbClr val="F2C4B5"/>
          </a:solidFill>
          <a:ln w="12700">
            <a:solidFill>
              <a:srgbClr val="F2C4B5"/>
            </a:solidFill>
            <a:prstDash val="solid"/>
          </a:ln>
        </p:spPr>
        <p:txBody>
          <a:bodyPr/>
          <a:lstStyle/>
          <a:p>
            <a:endParaRPr lang="en-US"/>
          </a:p>
        </p:txBody>
      </p:sp>
      <p:sp>
        <p:nvSpPr>
          <p:cNvPr id="9" name="A3f_n1"/>
          <p:cNvSpPr txBox="1"/>
          <p:nvPr/>
        </p:nvSpPr>
        <p:spPr>
          <a:xfrm>
            <a:off x="457200" y="2779776"/>
            <a:ext cx="329184" cy="329184"/>
          </a:xfrm>
          <a:prstGeom prst="rect">
            <a:avLst/>
          </a:prstGeom>
          <a:noFill/>
          <a:ln/>
        </p:spPr>
        <p:txBody>
          <a:bodyPr wrap="square" lIns="0" tIns="0" rIns="0" bIns="0" rtlCol="0" anchor="ctr"/>
          <a:lstStyle/>
          <a:p>
            <a:pPr marL="0" indent="0" algn="ctr">
              <a:buNone/>
            </a:pPr>
            <a:r>
              <a:rPr lang="en-US" sz="1300" b="1" dirty="0">
                <a:solidFill>
                  <a:srgbClr val="3D2925"/>
                </a:solidFill>
                <a:latin typeface="Calibri" pitchFamily="34" charset="0"/>
                <a:ea typeface="Calibri" pitchFamily="34" charset="-122"/>
                <a:cs typeface="Calibri" pitchFamily="34" charset="-120"/>
              </a:rPr>
              <a:t>2</a:t>
            </a:r>
            <a:endParaRPr lang="en-US" sz="1300" dirty="0"/>
          </a:p>
        </p:txBody>
      </p:sp>
      <p:sp>
        <p:nvSpPr>
          <p:cNvPr id="10" name="A3f_t1"/>
          <p:cNvSpPr txBox="1"/>
          <p:nvPr/>
        </p:nvSpPr>
        <p:spPr>
          <a:xfrm>
            <a:off x="960120" y="2761488"/>
            <a:ext cx="3429000" cy="6858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Audience</a:t>
            </a:r>
            <a:endParaRPr lang="en-US" sz="1400" dirty="0"/>
          </a:p>
          <a:p>
            <a:pPr marL="0" indent="0">
              <a:buNone/>
            </a:pPr>
            <a:r>
              <a:rPr lang="en-US" sz="1250" dirty="0">
                <a:solidFill>
                  <a:srgbClr val="3D2925"/>
                </a:solidFill>
                <a:latin typeface="Calibri" pitchFamily="34" charset="0"/>
                <a:ea typeface="Calibri" pitchFamily="34" charset="-122"/>
                <a:cs typeface="Calibri" pitchFamily="34" charset="-120"/>
              </a:rPr>
              <a:t>Bakery and café customers browsing on mobile, tablet or desktop.</a:t>
            </a:r>
            <a:endParaRPr lang="en-US" sz="1400" dirty="0"/>
          </a:p>
        </p:txBody>
      </p:sp>
      <p:sp>
        <p:nvSpPr>
          <p:cNvPr id="11" name="A4f_c2"/>
          <p:cNvSpPr/>
          <p:nvPr/>
        </p:nvSpPr>
        <p:spPr>
          <a:xfrm>
            <a:off x="457200" y="3529584"/>
            <a:ext cx="329184" cy="329184"/>
          </a:xfrm>
          <a:prstGeom prst="ellipse">
            <a:avLst/>
          </a:prstGeom>
          <a:solidFill>
            <a:srgbClr val="F2C4B5"/>
          </a:solidFill>
          <a:ln w="12700">
            <a:solidFill>
              <a:srgbClr val="F2C4B5"/>
            </a:solidFill>
            <a:prstDash val="solid"/>
          </a:ln>
        </p:spPr>
        <p:txBody>
          <a:bodyPr/>
          <a:lstStyle/>
          <a:p>
            <a:endParaRPr lang="en-US"/>
          </a:p>
        </p:txBody>
      </p:sp>
      <p:sp>
        <p:nvSpPr>
          <p:cNvPr id="12" name="A4f_n2"/>
          <p:cNvSpPr txBox="1"/>
          <p:nvPr/>
        </p:nvSpPr>
        <p:spPr>
          <a:xfrm>
            <a:off x="457200" y="3529584"/>
            <a:ext cx="329184" cy="329184"/>
          </a:xfrm>
          <a:prstGeom prst="rect">
            <a:avLst/>
          </a:prstGeom>
          <a:noFill/>
          <a:ln/>
        </p:spPr>
        <p:txBody>
          <a:bodyPr wrap="square" lIns="0" tIns="0" rIns="0" bIns="0" rtlCol="0" anchor="ctr"/>
          <a:lstStyle/>
          <a:p>
            <a:pPr marL="0" indent="0" algn="ctr">
              <a:buNone/>
            </a:pPr>
            <a:r>
              <a:rPr lang="en-US" sz="1300" b="1" dirty="0">
                <a:solidFill>
                  <a:srgbClr val="3D2925"/>
                </a:solidFill>
                <a:latin typeface="Calibri" pitchFamily="34" charset="0"/>
                <a:ea typeface="Calibri" pitchFamily="34" charset="-122"/>
                <a:cs typeface="Calibri" pitchFamily="34" charset="-120"/>
              </a:rPr>
              <a:t>3</a:t>
            </a:r>
            <a:endParaRPr lang="en-US" sz="1300" dirty="0"/>
          </a:p>
        </p:txBody>
      </p:sp>
      <p:sp>
        <p:nvSpPr>
          <p:cNvPr id="13" name="A4f_t2"/>
          <p:cNvSpPr txBox="1"/>
          <p:nvPr/>
        </p:nvSpPr>
        <p:spPr>
          <a:xfrm>
            <a:off x="960120" y="3511296"/>
            <a:ext cx="3429000" cy="6858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Objective</a:t>
            </a:r>
            <a:endParaRPr lang="en-US" sz="1400" dirty="0"/>
          </a:p>
          <a:p>
            <a:pPr marL="0" indent="0">
              <a:buNone/>
            </a:pPr>
            <a:r>
              <a:rPr lang="en-US" sz="1250" dirty="0">
                <a:solidFill>
                  <a:srgbClr val="3D2925"/>
                </a:solidFill>
                <a:latin typeface="Calibri" pitchFamily="34" charset="0"/>
                <a:ea typeface="Calibri" pitchFamily="34" charset="-122"/>
                <a:cs typeface="Calibri" pitchFamily="34" charset="-120"/>
              </a:rPr>
              <a:t>An attractive, user-friendly digital bakery experience built with core web technologies.</a:t>
            </a:r>
            <a:endParaRPr lang="en-US" sz="1400" dirty="0"/>
          </a:p>
        </p:txBody>
      </p:sp>
      <p:sp>
        <p:nvSpPr>
          <p:cNvPr id="14" name="A2w"/>
          <p:cNvSpPr/>
          <p:nvPr/>
        </p:nvSpPr>
        <p:spPr>
          <a:xfrm>
            <a:off x="4672584" y="1143000"/>
            <a:ext cx="4050792" cy="2806279"/>
          </a:xfrm>
          <a:prstGeom prst="roundRect">
            <a:avLst>
              <a:gd name="adj" fmla="val 2607"/>
            </a:avLst>
          </a:prstGeom>
          <a:solidFill>
            <a:srgbClr val="FFFFFF"/>
          </a:solidFill>
          <a:ln w="12700">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5" name="Shape 13"/>
          <p:cNvSpPr/>
          <p:nvPr/>
        </p:nvSpPr>
        <p:spPr>
          <a:xfrm>
            <a:off x="4782312" y="1234440"/>
            <a:ext cx="82296" cy="82296"/>
          </a:xfrm>
          <a:prstGeom prst="ellipse">
            <a:avLst/>
          </a:prstGeom>
          <a:solidFill>
            <a:srgbClr val="D99587"/>
          </a:solidFill>
          <a:ln w="12700">
            <a:solidFill>
              <a:srgbClr val="FFFFFF"/>
            </a:solidFill>
            <a:prstDash val="solid"/>
          </a:ln>
        </p:spPr>
        <p:txBody>
          <a:bodyPr/>
          <a:lstStyle/>
          <a:p>
            <a:endParaRPr lang="en-US"/>
          </a:p>
        </p:txBody>
      </p:sp>
      <p:sp>
        <p:nvSpPr>
          <p:cNvPr id="16" name="Shape 14"/>
          <p:cNvSpPr/>
          <p:nvPr/>
        </p:nvSpPr>
        <p:spPr>
          <a:xfrm>
            <a:off x="4910328" y="1234440"/>
            <a:ext cx="82296" cy="82296"/>
          </a:xfrm>
          <a:prstGeom prst="ellipse">
            <a:avLst/>
          </a:prstGeom>
          <a:solidFill>
            <a:srgbClr val="D8B779"/>
          </a:solidFill>
          <a:ln w="12700">
            <a:solidFill>
              <a:srgbClr val="FFFFFF"/>
            </a:solidFill>
            <a:prstDash val="solid"/>
          </a:ln>
        </p:spPr>
        <p:txBody>
          <a:bodyPr/>
          <a:lstStyle/>
          <a:p>
            <a:endParaRPr lang="en-US"/>
          </a:p>
        </p:txBody>
      </p:sp>
      <p:sp>
        <p:nvSpPr>
          <p:cNvPr id="17" name="Shape 15"/>
          <p:cNvSpPr/>
          <p:nvPr/>
        </p:nvSpPr>
        <p:spPr>
          <a:xfrm>
            <a:off x="5038344" y="1234440"/>
            <a:ext cx="82296" cy="82296"/>
          </a:xfrm>
          <a:prstGeom prst="ellipse">
            <a:avLst/>
          </a:prstGeom>
          <a:solidFill>
            <a:srgbClr val="F2C4B5"/>
          </a:solidFill>
          <a:ln w="12700">
            <a:solidFill>
              <a:srgbClr val="FFFFFF"/>
            </a:solidFill>
            <a:prstDash val="solid"/>
          </a:ln>
        </p:spPr>
        <p:txBody>
          <a:bodyPr/>
          <a:lstStyle/>
          <a:p>
            <a:endParaRPr lang="en-US"/>
          </a:p>
        </p:txBody>
      </p:sp>
      <p:pic>
        <p:nvPicPr>
          <p:cNvPr id="18" name="A2wimg" descr="/home/claude/img/home.jpg"/>
          <p:cNvPicPr>
            <a:picLocks noChangeAspect="1"/>
          </p:cNvPicPr>
          <p:nvPr/>
        </p:nvPicPr>
        <p:blipFill>
          <a:blip r:embed="rId3"/>
          <a:stretch>
            <a:fillRect/>
          </a:stretch>
        </p:blipFill>
        <p:spPr>
          <a:xfrm>
            <a:off x="4709160" y="1417320"/>
            <a:ext cx="3977640" cy="2495383"/>
          </a:xfrm>
          <a:prstGeom prst="rect">
            <a:avLst/>
          </a:prstGeom>
        </p:spPr>
      </p:pic>
      <p:sp>
        <p:nvSpPr>
          <p:cNvPr id="19" name="A5f_s0"/>
          <p:cNvSpPr txBox="1"/>
          <p:nvPr/>
        </p:nvSpPr>
        <p:spPr>
          <a:xfrm>
            <a:off x="4709160" y="4069080"/>
            <a:ext cx="1280160" cy="640080"/>
          </a:xfrm>
          <a:prstGeom prst="rect">
            <a:avLst/>
          </a:prstGeom>
          <a:noFill/>
          <a:ln/>
        </p:spPr>
        <p:txBody>
          <a:bodyPr wrap="square" lIns="0" tIns="0" rIns="0" bIns="0" rtlCol="0" anchor="t"/>
          <a:lstStyle/>
          <a:p>
            <a:pPr marL="0" indent="0">
              <a:buNone/>
            </a:pPr>
            <a:r>
              <a:rPr lang="en-US" sz="3000" b="1" dirty="0">
                <a:solidFill>
                  <a:srgbClr val="B06A59"/>
                </a:solidFill>
                <a:latin typeface="Cambria" pitchFamily="34" charset="0"/>
                <a:ea typeface="Cambria" pitchFamily="34" charset="-122"/>
                <a:cs typeface="Cambria" pitchFamily="34" charset="-120"/>
              </a:rPr>
              <a:t>56</a:t>
            </a:r>
            <a:endParaRPr lang="en-US" sz="3000" dirty="0"/>
          </a:p>
          <a:p>
            <a:pPr marL="0" indent="0">
              <a:buNone/>
            </a:pPr>
            <a:r>
              <a:rPr lang="en-US" sz="1200" dirty="0">
                <a:solidFill>
                  <a:srgbClr val="765044"/>
                </a:solidFill>
                <a:latin typeface="Calibri" pitchFamily="34" charset="0"/>
                <a:ea typeface="Calibri" pitchFamily="34" charset="-122"/>
                <a:cs typeface="Calibri" pitchFamily="34" charset="-120"/>
              </a:rPr>
              <a:t>products</a:t>
            </a:r>
            <a:endParaRPr lang="en-US" sz="3000" dirty="0"/>
          </a:p>
        </p:txBody>
      </p:sp>
      <p:sp>
        <p:nvSpPr>
          <p:cNvPr id="20" name="A5f_s1"/>
          <p:cNvSpPr txBox="1"/>
          <p:nvPr/>
        </p:nvSpPr>
        <p:spPr>
          <a:xfrm>
            <a:off x="6080760" y="4069080"/>
            <a:ext cx="1280160" cy="640080"/>
          </a:xfrm>
          <a:prstGeom prst="rect">
            <a:avLst/>
          </a:prstGeom>
          <a:noFill/>
          <a:ln/>
        </p:spPr>
        <p:txBody>
          <a:bodyPr wrap="square" lIns="0" tIns="0" rIns="0" bIns="0" rtlCol="0" anchor="t"/>
          <a:lstStyle/>
          <a:p>
            <a:pPr marL="0" indent="0">
              <a:buNone/>
            </a:pPr>
            <a:r>
              <a:rPr lang="en-US" sz="3000" b="1" dirty="0">
                <a:solidFill>
                  <a:srgbClr val="B06A59"/>
                </a:solidFill>
                <a:latin typeface="Cambria" pitchFamily="34" charset="0"/>
                <a:ea typeface="Cambria" pitchFamily="34" charset="-122"/>
                <a:cs typeface="Cambria" pitchFamily="34" charset="-120"/>
              </a:rPr>
              <a:t>14</a:t>
            </a:r>
            <a:endParaRPr lang="en-US" sz="3000" dirty="0"/>
          </a:p>
          <a:p>
            <a:pPr marL="0" indent="0">
              <a:buNone/>
            </a:pPr>
            <a:r>
              <a:rPr lang="en-US" sz="1200" dirty="0">
                <a:solidFill>
                  <a:srgbClr val="765044"/>
                </a:solidFill>
                <a:latin typeface="Calibri" pitchFamily="34" charset="0"/>
                <a:ea typeface="Calibri" pitchFamily="34" charset="-122"/>
                <a:cs typeface="Calibri" pitchFamily="34" charset="-120"/>
              </a:rPr>
              <a:t>categories</a:t>
            </a:r>
            <a:endParaRPr lang="en-US" sz="3000" dirty="0"/>
          </a:p>
        </p:txBody>
      </p:sp>
      <p:sp>
        <p:nvSpPr>
          <p:cNvPr id="21" name="A5f_s2"/>
          <p:cNvSpPr txBox="1"/>
          <p:nvPr/>
        </p:nvSpPr>
        <p:spPr>
          <a:xfrm>
            <a:off x="7452360" y="4069080"/>
            <a:ext cx="1280160" cy="640080"/>
          </a:xfrm>
          <a:prstGeom prst="rect">
            <a:avLst/>
          </a:prstGeom>
          <a:noFill/>
          <a:ln/>
        </p:spPr>
        <p:txBody>
          <a:bodyPr wrap="square" lIns="0" tIns="0" rIns="0" bIns="0" rtlCol="0" anchor="t"/>
          <a:lstStyle/>
          <a:p>
            <a:pPr marL="0" indent="0">
              <a:buNone/>
            </a:pPr>
            <a:r>
              <a:rPr lang="en-US" sz="3000" b="1" dirty="0">
                <a:solidFill>
                  <a:srgbClr val="B06A59"/>
                </a:solidFill>
                <a:latin typeface="Cambria" pitchFamily="34" charset="0"/>
                <a:ea typeface="Cambria" pitchFamily="34" charset="-122"/>
                <a:cs typeface="Cambria" pitchFamily="34" charset="-120"/>
              </a:rPr>
              <a:t>26</a:t>
            </a:r>
            <a:endParaRPr lang="en-US" sz="3000" dirty="0"/>
          </a:p>
          <a:p>
            <a:pPr marL="0" indent="0">
              <a:buNone/>
            </a:pPr>
            <a:r>
              <a:rPr lang="en-US" sz="1200" dirty="0">
                <a:solidFill>
                  <a:srgbClr val="765044"/>
                </a:solidFill>
                <a:latin typeface="Calibri" pitchFamily="34" charset="0"/>
                <a:ea typeface="Calibri" pitchFamily="34" charset="-122"/>
                <a:cs typeface="Calibri" pitchFamily="34" charset="-120"/>
              </a:rPr>
              <a:t>pages</a:t>
            </a:r>
            <a:endParaRPr lang="en-US" sz="300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600"/>
                                        <p:tgtEl>
                                          <p:spTgt spid="5"/>
                                        </p:tgtEl>
                                      </p:cBhvr>
                                    </p:animEffect>
                                  </p:childTnLst>
                                </p:cTn>
                              </p:par>
                              <p:par>
                                <p:cTn id="13" presetID="10"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22" presetClass="entr" presetSubtype="8"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wipe(left)">
                                      <p:cBhvr>
                                        <p:cTn id="21" dur="800"/>
                                        <p:tgtEl>
                                          <p:spTgt spid="14"/>
                                        </p:tgtEl>
                                      </p:cBhvr>
                                    </p:animEffect>
                                  </p:childTnLst>
                                </p:cTn>
                              </p:par>
                              <p:par>
                                <p:cTn id="22" presetID="22" presetClass="entr" presetSubtype="8" fill="hold"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wipe(left)">
                                      <p:cBhvr>
                                        <p:cTn id="24" dur="800"/>
                                        <p:tgtEl>
                                          <p:spTgt spid="18"/>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fade">
                                      <p:cBhvr>
                                        <p:cTn id="29" dur="600"/>
                                        <p:tgtEl>
                                          <p:spTgt spid="8"/>
                                        </p:tgtEl>
                                      </p:cBhvr>
                                    </p:animEffect>
                                  </p:childTnLst>
                                </p:cTn>
                              </p:par>
                              <p:par>
                                <p:cTn id="30" presetID="10" presetClass="entr" presetSubtype="0" fill="hold" nodeType="with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fade">
                                      <p:cBhvr>
                                        <p:cTn id="32" dur="600"/>
                                        <p:tgtEl>
                                          <p:spTgt spid="9"/>
                                        </p:tgtEl>
                                      </p:cBhvr>
                                    </p:animEffect>
                                  </p:childTnLst>
                                </p:cTn>
                              </p:par>
                              <p:par>
                                <p:cTn id="33" presetID="10" presetClass="entr" presetSubtype="0" fill="hold" nodeType="withEffect">
                                  <p:stCondLst>
                                    <p:cond delay="0"/>
                                  </p:stCondLst>
                                  <p:childTnLst>
                                    <p:set>
                                      <p:cBhvr>
                                        <p:cTn id="34" dur="1" fill="hold">
                                          <p:stCondLst>
                                            <p:cond delay="0"/>
                                          </p:stCondLst>
                                        </p:cTn>
                                        <p:tgtEl>
                                          <p:spTgt spid="10"/>
                                        </p:tgtEl>
                                        <p:attrNameLst>
                                          <p:attrName>style.visibility</p:attrName>
                                        </p:attrNameLst>
                                      </p:cBhvr>
                                      <p:to>
                                        <p:strVal val="visible"/>
                                      </p:to>
                                    </p:set>
                                    <p:animEffect transition="in" filter="fade">
                                      <p:cBhvr>
                                        <p:cTn id="35" dur="600"/>
                                        <p:tgtEl>
                                          <p:spTgt spid="10"/>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fade">
                                      <p:cBhvr>
                                        <p:cTn id="40" dur="600"/>
                                        <p:tgtEl>
                                          <p:spTgt spid="11"/>
                                        </p:tgtEl>
                                      </p:cBhvr>
                                    </p:animEffect>
                                  </p:childTnLst>
                                </p:cTn>
                              </p:par>
                              <p:par>
                                <p:cTn id="41" presetID="10" presetClass="entr" presetSubtype="0" fill="hold" nodeType="withEffect">
                                  <p:stCondLst>
                                    <p:cond delay="0"/>
                                  </p:stCondLst>
                                  <p:childTnLst>
                                    <p:set>
                                      <p:cBhvr>
                                        <p:cTn id="42" dur="1" fill="hold">
                                          <p:stCondLst>
                                            <p:cond delay="0"/>
                                          </p:stCondLst>
                                        </p:cTn>
                                        <p:tgtEl>
                                          <p:spTgt spid="12"/>
                                        </p:tgtEl>
                                        <p:attrNameLst>
                                          <p:attrName>style.visibility</p:attrName>
                                        </p:attrNameLst>
                                      </p:cBhvr>
                                      <p:to>
                                        <p:strVal val="visible"/>
                                      </p:to>
                                    </p:set>
                                    <p:animEffect transition="in" filter="fade">
                                      <p:cBhvr>
                                        <p:cTn id="43" dur="600"/>
                                        <p:tgtEl>
                                          <p:spTgt spid="12"/>
                                        </p:tgtEl>
                                      </p:cBhvr>
                                    </p:animEffect>
                                  </p:childTnLst>
                                </p:cTn>
                              </p:par>
                              <p:par>
                                <p:cTn id="44" presetID="10" presetClass="entr" presetSubtype="0" fill="hold" nodeType="withEffect">
                                  <p:stCondLst>
                                    <p:cond delay="0"/>
                                  </p:stCondLst>
                                  <p:childTnLst>
                                    <p:set>
                                      <p:cBhvr>
                                        <p:cTn id="45" dur="1" fill="hold">
                                          <p:stCondLst>
                                            <p:cond delay="0"/>
                                          </p:stCondLst>
                                        </p:cTn>
                                        <p:tgtEl>
                                          <p:spTgt spid="13"/>
                                        </p:tgtEl>
                                        <p:attrNameLst>
                                          <p:attrName>style.visibility</p:attrName>
                                        </p:attrNameLst>
                                      </p:cBhvr>
                                      <p:to>
                                        <p:strVal val="visible"/>
                                      </p:to>
                                    </p:set>
                                    <p:animEffect transition="in" filter="fade">
                                      <p:cBhvr>
                                        <p:cTn id="46" dur="600"/>
                                        <p:tgtEl>
                                          <p:spTgt spid="13"/>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600"/>
                                        <p:tgtEl>
                                          <p:spTgt spid="19"/>
                                        </p:tgtEl>
                                      </p:cBhvr>
                                    </p:animEffect>
                                  </p:childTnLst>
                                </p:cTn>
                              </p:par>
                              <p:par>
                                <p:cTn id="52" presetID="10" presetClass="entr" presetSubtype="0" fill="hold"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600"/>
                                        <p:tgtEl>
                                          <p:spTgt spid="20"/>
                                        </p:tgtEl>
                                      </p:cBhvr>
                                    </p:animEffect>
                                  </p:childTnLst>
                                </p:cTn>
                              </p:par>
                              <p:par>
                                <p:cTn id="55" presetID="10" presetClass="entr" presetSubtype="0" fill="hold" nodeType="withEffect">
                                  <p:stCondLst>
                                    <p:cond delay="0"/>
                                  </p:stCondLst>
                                  <p:childTnLst>
                                    <p:set>
                                      <p:cBhvr>
                                        <p:cTn id="56" dur="1" fill="hold">
                                          <p:stCondLst>
                                            <p:cond delay="0"/>
                                          </p:stCondLst>
                                        </p:cTn>
                                        <p:tgtEl>
                                          <p:spTgt spid="21"/>
                                        </p:tgtEl>
                                        <p:attrNameLst>
                                          <p:attrName>style.visibility</p:attrName>
                                        </p:attrNameLst>
                                      </p:cBhvr>
                                      <p:to>
                                        <p:strVal val="visible"/>
                                      </p:to>
                                    </p:set>
                                    <p:animEffect transition="in" filter="fade">
                                      <p:cBhvr>
                                        <p:cTn id="57" dur="6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457200" y="292608"/>
            <a:ext cx="5486400" cy="228600"/>
          </a:xfrm>
          <a:prstGeom prst="rect">
            <a:avLst/>
          </a:prstGeom>
          <a:noFill/>
          <a:ln/>
        </p:spPr>
        <p:txBody>
          <a:bodyPr wrap="square" lIns="0" tIns="0" rIns="0" bIns="0" rtlCol="0" anchor="t"/>
          <a:lstStyle/>
          <a:p>
            <a:pPr marL="0" indent="0" algn="l">
              <a:buNone/>
            </a:pPr>
            <a:r>
              <a:rPr lang="en-US" sz="1100" b="1" spc="400" dirty="0">
                <a:solidFill>
                  <a:srgbClr val="B06A59"/>
                </a:solidFill>
                <a:latin typeface="Calibri"/>
                <a:ea typeface="Calibri"/>
                <a:cs typeface="Calibri"/>
              </a:rPr>
              <a:t>PROBLEM STATEMENT</a:t>
            </a:r>
          </a:p>
        </p:txBody>
      </p:sp>
      <p:sp>
        <p:nvSpPr>
          <p:cNvPr id="3" name="Title"/>
          <p:cNvSpPr txBox="1"/>
          <p:nvPr/>
        </p:nvSpPr>
        <p:spPr>
          <a:xfrm>
            <a:off x="457200" y="530352"/>
            <a:ext cx="8229600" cy="548640"/>
          </a:xfrm>
          <a:prstGeom prst="rect">
            <a:avLst/>
          </a:prstGeom>
          <a:noFill/>
          <a:ln/>
        </p:spPr>
        <p:txBody>
          <a:bodyPr wrap="square" lIns="0" tIns="0" rIns="0" bIns="0" rtlCol="0" anchor="t"/>
          <a:lstStyle/>
          <a:p>
            <a:pPr marL="0" indent="0" algn="l">
              <a:buNone/>
            </a:pPr>
            <a:r>
              <a:rPr lang="en-US" sz="3200" b="1" dirty="0">
                <a:solidFill>
                  <a:srgbClr val="765044"/>
                </a:solidFill>
                <a:latin typeface="Cambria"/>
                <a:ea typeface="Cambria"/>
                <a:cs typeface="Cambria"/>
              </a:rPr>
              <a:t>The problem we set out to solve</a:t>
            </a:r>
          </a:p>
        </p:txBody>
      </p:sp>
      <p:sp>
        <p:nvSpPr>
          <p:cNvPr id="9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3</a:t>
            </a:fld>
            <a:endParaRPr lang="en-US"/>
          </a:p>
        </p:txBody>
      </p:sp>
      <p:sp>
        <p:nvSpPr>
          <p:cNvPr id="11" name="Statement_card"/>
          <p:cNvSpPr/>
          <p:nvPr/>
        </p:nvSpPr>
        <p:spPr>
          <a:xfrm>
            <a:off x="457200" y="1188720"/>
            <a:ext cx="8229600" cy="822960"/>
          </a:xfrm>
          <a:prstGeom prst="roundRect">
            <a:avLst>
              <a:gd name="adj" fmla="val 11111"/>
            </a:avLst>
          </a:prstGeom>
          <a:solidFill>
            <a:srgbClr val="FCF1E7"/>
          </a:solidFill>
          <a:ln w="9525">
            <a:solidFill>
              <a:srgbClr val="F2C4B5"/>
            </a:solidFill>
            <a:prstDash val="solid"/>
          </a:ln>
        </p:spPr>
        <p:txBody>
          <a:bodyPr wrap="square" lIns="201168" tIns="100584" rIns="201168" bIns="100584" rtlCol="0" anchor="ctr"/>
          <a:lstStyle/>
          <a:p>
            <a:pPr marL="0" indent="0" algn="l">
              <a:buNone/>
            </a:pPr>
            <a:r>
              <a:rPr lang="en-US" sz="1500" i="1" dirty="0">
                <a:solidFill>
                  <a:srgbClr val="765044"/>
                </a:solidFill>
                <a:latin typeface="Cambria"/>
                <a:ea typeface="Cambria"/>
                <a:cs typeface="Cambria"/>
              </a:rPr>
              <a:t>Small bakeries and cafés often lack a clear, modern online presence, so customers struggle to browse products, customise orders and understand prices before they buy.</a:t>
            </a:r>
          </a:p>
        </p:txBody>
      </p:sp>
      <p:sp>
        <p:nvSpPr>
          <p:cNvPr id="12" name="Problem_card_1"/>
          <p:cNvSpPr/>
          <p:nvPr/>
        </p:nvSpPr>
        <p:spPr>
          <a:xfrm>
            <a:off x="457200" y="2240280"/>
            <a:ext cx="1920240" cy="2286000"/>
          </a:xfrm>
          <a:prstGeom prst="roundRect">
            <a:avLst>
              <a:gd name="adj" fmla="val 4761"/>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3" name="Problem_1_circle"/>
          <p:cNvSpPr/>
          <p:nvPr/>
        </p:nvSpPr>
        <p:spPr>
          <a:xfrm>
            <a:off x="640080" y="2404872"/>
            <a:ext cx="457200" cy="457200"/>
          </a:xfrm>
          <a:prstGeom prst="ellipse">
            <a:avLst/>
          </a:prstGeom>
          <a:solidFill>
            <a:srgbClr val="765044"/>
          </a:solidFill>
          <a:ln w="12700">
            <a:solidFill>
              <a:srgbClr val="FFFFFF"/>
            </a:solidFill>
            <a:prstDash val="solid"/>
          </a:ln>
        </p:spPr>
        <p:txBody>
          <a:bodyPr/>
          <a:lstStyle/>
          <a:p>
            <a:endParaRPr lang="en-US"/>
          </a:p>
        </p:txBody>
      </p:sp>
      <p:pic>
        <p:nvPicPr>
          <p:cNvPr id="100" name="Problem_1_icon" descr="FaSearch.png"/>
          <p:cNvPicPr>
            <a:picLocks noChangeAspect="1"/>
          </p:cNvPicPr>
          <p:nvPr/>
        </p:nvPicPr>
        <p:blipFill>
          <a:blip r:embed="rId3"/>
          <a:stretch>
            <a:fillRect/>
          </a:stretch>
        </p:blipFill>
        <p:spPr>
          <a:xfrm>
            <a:off x="740664" y="2505456"/>
            <a:ext cx="256032" cy="256032"/>
          </a:xfrm>
          <a:prstGeom prst="rect">
            <a:avLst/>
          </a:prstGeom>
        </p:spPr>
      </p:pic>
      <p:sp>
        <p:nvSpPr>
          <p:cNvPr id="14" name="Problem_head_1"/>
          <p:cNvSpPr txBox="1"/>
          <p:nvPr/>
        </p:nvSpPr>
        <p:spPr>
          <a:xfrm>
            <a:off x="640080" y="2999232"/>
            <a:ext cx="1554480" cy="274320"/>
          </a:xfrm>
          <a:prstGeom prst="rect">
            <a:avLst/>
          </a:prstGeom>
          <a:noFill/>
          <a:ln/>
        </p:spPr>
        <p:txBody>
          <a:bodyPr wrap="square" lIns="0" tIns="0" rIns="0" bIns="0" rtlCol="0" anchor="t"/>
          <a:lstStyle/>
          <a:p>
            <a:pPr marL="0" indent="0" algn="l">
              <a:buNone/>
            </a:pPr>
            <a:r>
              <a:rPr lang="en-US" sz="1300" b="1" dirty="0">
                <a:solidFill>
                  <a:srgbClr val="765044"/>
                </a:solidFill>
                <a:latin typeface="Cambria"/>
                <a:ea typeface="Cambria"/>
                <a:cs typeface="Cambria"/>
              </a:rPr>
              <a:t>Hard to discover</a:t>
            </a:r>
          </a:p>
        </p:txBody>
      </p:sp>
      <p:sp>
        <p:nvSpPr>
          <p:cNvPr id="15" name="Problem_body_1"/>
          <p:cNvSpPr txBox="1"/>
          <p:nvPr/>
        </p:nvSpPr>
        <p:spPr>
          <a:xfrm>
            <a:off x="640080" y="3337560"/>
            <a:ext cx="1554480" cy="1097280"/>
          </a:xfrm>
          <a:prstGeom prst="rect">
            <a:avLst/>
          </a:prstGeom>
          <a:noFill/>
          <a:ln/>
        </p:spPr>
        <p:txBody>
          <a:bodyPr wrap="square" lIns="0" tIns="0" rIns="0" bIns="0" rtlCol="0" anchor="t"/>
          <a:lstStyle/>
          <a:p>
            <a:pPr marL="0" indent="0" algn="l">
              <a:buNone/>
            </a:pPr>
            <a:r>
              <a:rPr lang="en-US" sz="1100" dirty="0">
                <a:solidFill>
                  <a:srgbClr val="3D2925"/>
                </a:solidFill>
                <a:latin typeface="Calibri"/>
                <a:ea typeface="Calibri"/>
                <a:cs typeface="Calibri"/>
              </a:rPr>
              <a:t>Menus, prices, ingredients and allergens are scattered or missing, so people cannot decide before visiting.</a:t>
            </a:r>
          </a:p>
        </p:txBody>
      </p:sp>
      <p:sp>
        <p:nvSpPr>
          <p:cNvPr id="16" name="Problem_card_2"/>
          <p:cNvSpPr/>
          <p:nvPr/>
        </p:nvSpPr>
        <p:spPr>
          <a:xfrm>
            <a:off x="2560320" y="2240280"/>
            <a:ext cx="1920240" cy="2286000"/>
          </a:xfrm>
          <a:prstGeom prst="roundRect">
            <a:avLst>
              <a:gd name="adj" fmla="val 4761"/>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7" name="Problem_2_circle"/>
          <p:cNvSpPr/>
          <p:nvPr/>
        </p:nvSpPr>
        <p:spPr>
          <a:xfrm>
            <a:off x="2743200" y="2404872"/>
            <a:ext cx="457200" cy="457200"/>
          </a:xfrm>
          <a:prstGeom prst="ellipse">
            <a:avLst/>
          </a:prstGeom>
          <a:solidFill>
            <a:srgbClr val="B06A59"/>
          </a:solidFill>
          <a:ln w="12700">
            <a:solidFill>
              <a:srgbClr val="FFFFFF"/>
            </a:solidFill>
            <a:prstDash val="solid"/>
          </a:ln>
        </p:spPr>
        <p:txBody>
          <a:bodyPr/>
          <a:lstStyle/>
          <a:p>
            <a:endParaRPr lang="en-US"/>
          </a:p>
        </p:txBody>
      </p:sp>
      <p:pic>
        <p:nvPicPr>
          <p:cNvPr id="101" name="Problem_2_icon" descr="FaBirthdayCake.png"/>
          <p:cNvPicPr>
            <a:picLocks noChangeAspect="1"/>
          </p:cNvPicPr>
          <p:nvPr/>
        </p:nvPicPr>
        <p:blipFill>
          <a:blip r:embed="rId4"/>
          <a:stretch>
            <a:fillRect/>
          </a:stretch>
        </p:blipFill>
        <p:spPr>
          <a:xfrm>
            <a:off x="2843784" y="2505456"/>
            <a:ext cx="256032" cy="256032"/>
          </a:xfrm>
          <a:prstGeom prst="rect">
            <a:avLst/>
          </a:prstGeom>
        </p:spPr>
      </p:pic>
      <p:sp>
        <p:nvSpPr>
          <p:cNvPr id="18" name="Problem_head_2"/>
          <p:cNvSpPr txBox="1"/>
          <p:nvPr/>
        </p:nvSpPr>
        <p:spPr>
          <a:xfrm>
            <a:off x="2743200" y="2999232"/>
            <a:ext cx="1554480" cy="274320"/>
          </a:xfrm>
          <a:prstGeom prst="rect">
            <a:avLst/>
          </a:prstGeom>
          <a:noFill/>
          <a:ln/>
        </p:spPr>
        <p:txBody>
          <a:bodyPr wrap="square" lIns="0" tIns="0" rIns="0" bIns="0" rtlCol="0" anchor="t"/>
          <a:lstStyle/>
          <a:p>
            <a:pPr marL="0" indent="0" algn="l">
              <a:buNone/>
            </a:pPr>
            <a:r>
              <a:rPr lang="en-US" sz="1300" b="1" dirty="0">
                <a:solidFill>
                  <a:srgbClr val="765044"/>
                </a:solidFill>
                <a:latin typeface="Cambria"/>
                <a:ea typeface="Cambria"/>
                <a:cs typeface="Cambria"/>
              </a:rPr>
              <a:t>Hard to personalise</a:t>
            </a:r>
          </a:p>
        </p:txBody>
      </p:sp>
      <p:sp>
        <p:nvSpPr>
          <p:cNvPr id="19" name="Problem_body_2"/>
          <p:cNvSpPr txBox="1"/>
          <p:nvPr/>
        </p:nvSpPr>
        <p:spPr>
          <a:xfrm>
            <a:off x="2743200" y="3337560"/>
            <a:ext cx="1554480" cy="1097280"/>
          </a:xfrm>
          <a:prstGeom prst="rect">
            <a:avLst/>
          </a:prstGeom>
          <a:noFill/>
          <a:ln/>
        </p:spPr>
        <p:txBody>
          <a:bodyPr wrap="square" lIns="0" tIns="0" rIns="0" bIns="0" rtlCol="0" anchor="t"/>
          <a:lstStyle/>
          <a:p>
            <a:pPr marL="0" indent="0" algn="l">
              <a:buNone/>
            </a:pPr>
            <a:r>
              <a:rPr lang="en-US" sz="1100" dirty="0">
                <a:solidFill>
                  <a:srgbClr val="3D2925"/>
                </a:solidFill>
                <a:latin typeface="Calibri"/>
                <a:ea typeface="Calibri"/>
                <a:cs typeface="Calibri"/>
              </a:rPr>
              <a:t>Cakes need a size, frosting, flavour and message, which is hard to handle clearly over calls or chat.</a:t>
            </a:r>
          </a:p>
        </p:txBody>
      </p:sp>
      <p:sp>
        <p:nvSpPr>
          <p:cNvPr id="20" name="Problem_card_3"/>
          <p:cNvSpPr/>
          <p:nvPr/>
        </p:nvSpPr>
        <p:spPr>
          <a:xfrm>
            <a:off x="4663440" y="2240280"/>
            <a:ext cx="1920240" cy="2286000"/>
          </a:xfrm>
          <a:prstGeom prst="roundRect">
            <a:avLst>
              <a:gd name="adj" fmla="val 4761"/>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1" name="Problem_3_circle"/>
          <p:cNvSpPr/>
          <p:nvPr/>
        </p:nvSpPr>
        <p:spPr>
          <a:xfrm>
            <a:off x="4846320" y="2404872"/>
            <a:ext cx="457200" cy="457200"/>
          </a:xfrm>
          <a:prstGeom prst="ellipse">
            <a:avLst/>
          </a:prstGeom>
          <a:solidFill>
            <a:srgbClr val="D99587"/>
          </a:solidFill>
          <a:ln w="12700">
            <a:solidFill>
              <a:srgbClr val="FFFFFF"/>
            </a:solidFill>
            <a:prstDash val="solid"/>
          </a:ln>
        </p:spPr>
        <p:txBody>
          <a:bodyPr/>
          <a:lstStyle/>
          <a:p>
            <a:endParaRPr lang="en-US"/>
          </a:p>
        </p:txBody>
      </p:sp>
      <p:pic>
        <p:nvPicPr>
          <p:cNvPr id="102" name="Problem_3_icon" descr="FaReceipt.png"/>
          <p:cNvPicPr>
            <a:picLocks noChangeAspect="1"/>
          </p:cNvPicPr>
          <p:nvPr/>
        </p:nvPicPr>
        <p:blipFill>
          <a:blip r:embed="rId5"/>
          <a:stretch>
            <a:fillRect/>
          </a:stretch>
        </p:blipFill>
        <p:spPr>
          <a:xfrm>
            <a:off x="4946904" y="2505456"/>
            <a:ext cx="256032" cy="256032"/>
          </a:xfrm>
          <a:prstGeom prst="rect">
            <a:avLst/>
          </a:prstGeom>
        </p:spPr>
      </p:pic>
      <p:sp>
        <p:nvSpPr>
          <p:cNvPr id="22" name="Problem_head_3"/>
          <p:cNvSpPr txBox="1"/>
          <p:nvPr/>
        </p:nvSpPr>
        <p:spPr>
          <a:xfrm>
            <a:off x="4846320" y="2999232"/>
            <a:ext cx="1554480" cy="274320"/>
          </a:xfrm>
          <a:prstGeom prst="rect">
            <a:avLst/>
          </a:prstGeom>
          <a:noFill/>
          <a:ln/>
        </p:spPr>
        <p:txBody>
          <a:bodyPr wrap="square" lIns="0" tIns="0" rIns="0" bIns="0" rtlCol="0" anchor="t"/>
          <a:lstStyle/>
          <a:p>
            <a:pPr marL="0" indent="0" algn="l">
              <a:buNone/>
            </a:pPr>
            <a:r>
              <a:rPr lang="en-US" sz="1300" b="1" dirty="0">
                <a:solidFill>
                  <a:srgbClr val="765044"/>
                </a:solidFill>
                <a:latin typeface="Cambria"/>
                <a:ea typeface="Cambria"/>
                <a:cs typeface="Cambria"/>
              </a:rPr>
              <a:t>Unclear total cost</a:t>
            </a:r>
          </a:p>
        </p:txBody>
      </p:sp>
      <p:sp>
        <p:nvSpPr>
          <p:cNvPr id="23" name="Problem_body_3"/>
          <p:cNvSpPr txBox="1"/>
          <p:nvPr/>
        </p:nvSpPr>
        <p:spPr>
          <a:xfrm>
            <a:off x="4846320" y="3337560"/>
            <a:ext cx="1554480" cy="1097280"/>
          </a:xfrm>
          <a:prstGeom prst="rect">
            <a:avLst/>
          </a:prstGeom>
          <a:noFill/>
          <a:ln/>
        </p:spPr>
        <p:txBody>
          <a:bodyPr wrap="square" lIns="0" tIns="0" rIns="0" bIns="0" rtlCol="0" anchor="t"/>
          <a:lstStyle/>
          <a:p>
            <a:pPr marL="0" indent="0" algn="l">
              <a:buNone/>
            </a:pPr>
            <a:r>
              <a:rPr lang="en-US" sz="1100" dirty="0">
                <a:solidFill>
                  <a:srgbClr val="3D2925"/>
                </a:solidFill>
                <a:latin typeface="Calibri"/>
                <a:ea typeface="Calibri"/>
                <a:cs typeface="Calibri"/>
              </a:rPr>
              <a:t>Offers, delivery charges and the final total are not visible until late, which causes confusion.</a:t>
            </a:r>
          </a:p>
        </p:txBody>
      </p:sp>
      <p:sp>
        <p:nvSpPr>
          <p:cNvPr id="24" name="Problem_card_4"/>
          <p:cNvSpPr/>
          <p:nvPr/>
        </p:nvSpPr>
        <p:spPr>
          <a:xfrm>
            <a:off x="6766560" y="2240280"/>
            <a:ext cx="1920240" cy="2286000"/>
          </a:xfrm>
          <a:prstGeom prst="roundRect">
            <a:avLst>
              <a:gd name="adj" fmla="val 4761"/>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5" name="Problem_4_circle"/>
          <p:cNvSpPr/>
          <p:nvPr/>
        </p:nvSpPr>
        <p:spPr>
          <a:xfrm>
            <a:off x="6949440" y="2404872"/>
            <a:ext cx="457200" cy="457200"/>
          </a:xfrm>
          <a:prstGeom prst="ellipse">
            <a:avLst/>
          </a:prstGeom>
          <a:solidFill>
            <a:srgbClr val="765044"/>
          </a:solidFill>
          <a:ln w="12700">
            <a:solidFill>
              <a:srgbClr val="FFFFFF"/>
            </a:solidFill>
            <a:prstDash val="solid"/>
          </a:ln>
        </p:spPr>
        <p:txBody>
          <a:bodyPr/>
          <a:lstStyle/>
          <a:p>
            <a:endParaRPr lang="en-US"/>
          </a:p>
        </p:txBody>
      </p:sp>
      <p:pic>
        <p:nvPicPr>
          <p:cNvPr id="103" name="Problem_4_icon" descr="FaClock.png"/>
          <p:cNvPicPr>
            <a:picLocks noChangeAspect="1"/>
          </p:cNvPicPr>
          <p:nvPr/>
        </p:nvPicPr>
        <p:blipFill>
          <a:blip r:embed="rId6"/>
          <a:stretch>
            <a:fillRect/>
          </a:stretch>
        </p:blipFill>
        <p:spPr>
          <a:xfrm>
            <a:off x="7050024" y="2505456"/>
            <a:ext cx="256032" cy="256032"/>
          </a:xfrm>
          <a:prstGeom prst="rect">
            <a:avLst/>
          </a:prstGeom>
        </p:spPr>
      </p:pic>
      <p:sp>
        <p:nvSpPr>
          <p:cNvPr id="26" name="Problem_head_4"/>
          <p:cNvSpPr txBox="1"/>
          <p:nvPr/>
        </p:nvSpPr>
        <p:spPr>
          <a:xfrm>
            <a:off x="6949440" y="2999232"/>
            <a:ext cx="1554480" cy="274320"/>
          </a:xfrm>
          <a:prstGeom prst="rect">
            <a:avLst/>
          </a:prstGeom>
          <a:noFill/>
          <a:ln/>
        </p:spPr>
        <p:txBody>
          <a:bodyPr wrap="square" lIns="0" tIns="0" rIns="0" bIns="0" rtlCol="0" anchor="t"/>
          <a:lstStyle/>
          <a:p>
            <a:pPr marL="0" indent="0" algn="l">
              <a:buNone/>
            </a:pPr>
            <a:r>
              <a:rPr lang="en-US" sz="1300" b="1" dirty="0">
                <a:solidFill>
                  <a:srgbClr val="765044"/>
                </a:solidFill>
                <a:latin typeface="Cambria"/>
                <a:ea typeface="Cambria"/>
                <a:cs typeface="Cambria"/>
              </a:rPr>
              <a:t>Not always available</a:t>
            </a:r>
          </a:p>
        </p:txBody>
      </p:sp>
      <p:sp>
        <p:nvSpPr>
          <p:cNvPr id="27" name="Problem_body_4"/>
          <p:cNvSpPr txBox="1"/>
          <p:nvPr/>
        </p:nvSpPr>
        <p:spPr>
          <a:xfrm>
            <a:off x="6949440" y="3337560"/>
            <a:ext cx="1554480" cy="1097280"/>
          </a:xfrm>
          <a:prstGeom prst="rect">
            <a:avLst/>
          </a:prstGeom>
          <a:noFill/>
          <a:ln/>
        </p:spPr>
        <p:txBody>
          <a:bodyPr wrap="square" lIns="0" tIns="0" rIns="0" bIns="0" rtlCol="0" anchor="t"/>
          <a:lstStyle/>
          <a:p>
            <a:pPr marL="0" indent="0" algn="l">
              <a:buNone/>
            </a:pPr>
            <a:r>
              <a:rPr lang="en-US" sz="1100" dirty="0">
                <a:solidFill>
                  <a:srgbClr val="3D2925"/>
                </a:solidFill>
                <a:latin typeface="Calibri"/>
                <a:ea typeface="Calibri"/>
                <a:cs typeface="Calibri"/>
              </a:rPr>
              <a:t>Opening hours, location and ordering should work on any device, at any time of day.</a:t>
            </a:r>
          </a:p>
        </p:txBody>
      </p:sp>
    </p:spTree>
  </p:cSld>
  <p:clrMapOvr>
    <a:masterClrMapping/>
  </p:clrMapOvr>
  <p:transition spd="med">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457200" y="292608"/>
            <a:ext cx="5486400" cy="228600"/>
          </a:xfrm>
          <a:prstGeom prst="rect">
            <a:avLst/>
          </a:prstGeom>
          <a:noFill/>
          <a:ln/>
        </p:spPr>
        <p:txBody>
          <a:bodyPr wrap="square" lIns="0" tIns="0" rIns="0" bIns="0" rtlCol="0" anchor="t"/>
          <a:lstStyle/>
          <a:p>
            <a:pPr marL="0" indent="0" algn="l">
              <a:buNone/>
            </a:pPr>
            <a:r>
              <a:rPr lang="en-US" sz="1100" b="1" spc="400" dirty="0">
                <a:solidFill>
                  <a:srgbClr val="B06A59"/>
                </a:solidFill>
                <a:latin typeface="Calibri"/>
                <a:ea typeface="Calibri"/>
                <a:cs typeface="Calibri"/>
              </a:rPr>
              <a:t>SOLUTION / CORE IDEA</a:t>
            </a:r>
          </a:p>
        </p:txBody>
      </p:sp>
      <p:sp>
        <p:nvSpPr>
          <p:cNvPr id="3" name="Title"/>
          <p:cNvSpPr txBox="1"/>
          <p:nvPr/>
        </p:nvSpPr>
        <p:spPr>
          <a:xfrm>
            <a:off x="457200" y="530352"/>
            <a:ext cx="8229600" cy="548640"/>
          </a:xfrm>
          <a:prstGeom prst="rect">
            <a:avLst/>
          </a:prstGeom>
          <a:noFill/>
          <a:ln/>
        </p:spPr>
        <p:txBody>
          <a:bodyPr wrap="square" lIns="0" tIns="0" rIns="0" bIns="0" rtlCol="0" anchor="t"/>
          <a:lstStyle/>
          <a:p>
            <a:pPr marL="0" indent="0" algn="l">
              <a:buNone/>
            </a:pPr>
            <a:r>
              <a:rPr lang="en-US" sz="3200" b="1" dirty="0">
                <a:solidFill>
                  <a:srgbClr val="765044"/>
                </a:solidFill>
                <a:latin typeface="Cambria"/>
                <a:ea typeface="Cambria"/>
                <a:cs typeface="Cambria"/>
              </a:rPr>
              <a:t>One shared, data-driven website</a:t>
            </a:r>
          </a:p>
        </p:txBody>
      </p:sp>
      <p:sp>
        <p:nvSpPr>
          <p:cNvPr id="9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4</a:t>
            </a:fld>
            <a:endParaRPr lang="en-US"/>
          </a:p>
        </p:txBody>
      </p:sp>
      <p:sp>
        <p:nvSpPr>
          <p:cNvPr id="11" name="Intro"/>
          <p:cNvSpPr txBox="1"/>
          <p:nvPr/>
        </p:nvSpPr>
        <p:spPr>
          <a:xfrm>
            <a:off x="457200" y="1188720"/>
            <a:ext cx="3931920" cy="822960"/>
          </a:xfrm>
          <a:prstGeom prst="rect">
            <a:avLst/>
          </a:prstGeom>
          <a:noFill/>
          <a:ln/>
        </p:spPr>
        <p:txBody>
          <a:bodyPr wrap="square" lIns="0" tIns="0" rIns="0" bIns="0" rtlCol="0" anchor="t"/>
          <a:lstStyle/>
          <a:p>
            <a:pPr marL="0" indent="0" algn="l">
              <a:buNone/>
            </a:pPr>
            <a:r>
              <a:rPr lang="en-US" sz="1400" dirty="0">
                <a:solidFill>
                  <a:srgbClr val="3D2925"/>
                </a:solidFill>
                <a:latin typeface="Calibri"/>
                <a:ea typeface="Calibri"/>
                <a:cs typeface="Calibri"/>
              </a:rPr>
              <a:t>Bakerz Bite turns a bakery’s whole catalogue into a fast, responsive website that runs entirely in the browser, with no back-end server or database.</a:t>
            </a:r>
          </a:p>
        </p:txBody>
      </p:sp>
      <p:sp>
        <p:nvSpPr>
          <p:cNvPr id="12" name="Sol_num_1"/>
          <p:cNvSpPr/>
          <p:nvPr/>
        </p:nvSpPr>
        <p:spPr>
          <a:xfrm>
            <a:off x="457200" y="2212848"/>
            <a:ext cx="329184" cy="329184"/>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1</a:t>
            </a:r>
          </a:p>
        </p:txBody>
      </p:sp>
      <p:sp>
        <p:nvSpPr>
          <p:cNvPr id="13" name="Sol_text_1"/>
          <p:cNvSpPr txBox="1"/>
          <p:nvPr/>
        </p:nvSpPr>
        <p:spPr>
          <a:xfrm>
            <a:off x="960120" y="2194560"/>
            <a:ext cx="3429000" cy="731520"/>
          </a:xfrm>
          <a:prstGeom prst="rect">
            <a:avLst/>
          </a:prstGeom>
          <a:noFill/>
          <a:ln/>
        </p:spPr>
        <p:txBody>
          <a:bodyPr wrap="square" lIns="0" tIns="0" rIns="0" bIns="0" rtlCol="0" anchor="t"/>
          <a:lstStyle/>
          <a:p>
            <a:pPr marL="0" indent="0" algn="l">
              <a:buNone/>
            </a:pPr>
            <a:r>
              <a:rPr lang="en-US" sz="1400" b="1" dirty="0">
                <a:solidFill>
                  <a:srgbClr val="765044"/>
                </a:solidFill>
                <a:latin typeface="Cambria"/>
                <a:ea typeface="Cambria"/>
                <a:cs typeface="Cambria"/>
              </a:rPr>
              <a:t>Discover</a:t>
            </a:r>
          </a:p>
          <a:p>
            <a:pPr marL="0" indent="0" algn="l">
              <a:spcBef>
                <a:spcPts val="100"/>
              </a:spcBef>
              <a:buNone/>
            </a:pPr>
            <a:r>
              <a:rPr lang="en-US" sz="1150" dirty="0">
                <a:solidFill>
                  <a:srgbClr val="3D2925"/>
                </a:solidFill>
                <a:latin typeface="Calibri"/>
                <a:ea typeface="Calibri"/>
                <a:cs typeface="Calibri"/>
              </a:rPr>
              <a:t>56 products in 14 categories, with search, filters, diet options and a wishlist.</a:t>
            </a:r>
          </a:p>
        </p:txBody>
      </p:sp>
      <p:sp>
        <p:nvSpPr>
          <p:cNvPr id="14" name="Sol_num_2"/>
          <p:cNvSpPr/>
          <p:nvPr/>
        </p:nvSpPr>
        <p:spPr>
          <a:xfrm>
            <a:off x="457200" y="2990088"/>
            <a:ext cx="329184" cy="329184"/>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2</a:t>
            </a:r>
          </a:p>
        </p:txBody>
      </p:sp>
      <p:sp>
        <p:nvSpPr>
          <p:cNvPr id="15" name="Sol_text_2"/>
          <p:cNvSpPr txBox="1"/>
          <p:nvPr/>
        </p:nvSpPr>
        <p:spPr>
          <a:xfrm>
            <a:off x="960120" y="2971800"/>
            <a:ext cx="3429000" cy="731520"/>
          </a:xfrm>
          <a:prstGeom prst="rect">
            <a:avLst/>
          </a:prstGeom>
          <a:noFill/>
          <a:ln/>
        </p:spPr>
        <p:txBody>
          <a:bodyPr wrap="square" lIns="0" tIns="0" rIns="0" bIns="0" rtlCol="0" anchor="t"/>
          <a:lstStyle/>
          <a:p>
            <a:pPr marL="0" indent="0" algn="l">
              <a:buNone/>
            </a:pPr>
            <a:r>
              <a:rPr lang="en-US" sz="1400" b="1" dirty="0">
                <a:solidFill>
                  <a:srgbClr val="765044"/>
                </a:solidFill>
                <a:latin typeface="Cambria"/>
                <a:ea typeface="Cambria"/>
                <a:cs typeface="Cambria"/>
              </a:rPr>
              <a:t>Personalise and order</a:t>
            </a:r>
          </a:p>
          <a:p>
            <a:pPr marL="0" indent="0" algn="l">
              <a:spcBef>
                <a:spcPts val="100"/>
              </a:spcBef>
              <a:buNone/>
            </a:pPr>
            <a:r>
              <a:rPr lang="en-US" sz="1150" dirty="0">
                <a:solidFill>
                  <a:srgbClr val="3D2925"/>
                </a:solidFill>
                <a:latin typeface="Calibri"/>
                <a:ea typeface="Calibri"/>
                <a:cs typeface="Calibri"/>
              </a:rPr>
              <a:t>Customise size, frosting and flavour with a live price, then use the cart and validated checkout.</a:t>
            </a:r>
          </a:p>
        </p:txBody>
      </p:sp>
      <p:sp>
        <p:nvSpPr>
          <p:cNvPr id="16" name="Sol_num_3"/>
          <p:cNvSpPr/>
          <p:nvPr/>
        </p:nvSpPr>
        <p:spPr>
          <a:xfrm>
            <a:off x="457200" y="3767328"/>
            <a:ext cx="329184" cy="329184"/>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3</a:t>
            </a:r>
          </a:p>
        </p:txBody>
      </p:sp>
      <p:sp>
        <p:nvSpPr>
          <p:cNvPr id="17" name="Sol_text_3"/>
          <p:cNvSpPr txBox="1"/>
          <p:nvPr/>
        </p:nvSpPr>
        <p:spPr>
          <a:xfrm>
            <a:off x="960120" y="3749040"/>
            <a:ext cx="3429000" cy="731520"/>
          </a:xfrm>
          <a:prstGeom prst="rect">
            <a:avLst/>
          </a:prstGeom>
          <a:noFill/>
          <a:ln/>
        </p:spPr>
        <p:txBody>
          <a:bodyPr wrap="square" lIns="0" tIns="0" rIns="0" bIns="0" rtlCol="0" anchor="t"/>
          <a:lstStyle/>
          <a:p>
            <a:pPr marL="0" indent="0" algn="l">
              <a:buNone/>
            </a:pPr>
            <a:r>
              <a:rPr lang="en-US" sz="1400" b="1" dirty="0">
                <a:solidFill>
                  <a:srgbClr val="765044"/>
                </a:solidFill>
                <a:latin typeface="Cambria"/>
                <a:ea typeface="Cambria"/>
                <a:cs typeface="Cambria"/>
              </a:rPr>
              <a:t>Always consistent</a:t>
            </a:r>
          </a:p>
          <a:p>
            <a:pPr marL="0" indent="0" algn="l">
              <a:spcBef>
                <a:spcPts val="100"/>
              </a:spcBef>
              <a:buNone/>
            </a:pPr>
            <a:r>
              <a:rPr lang="en-US" sz="1150" dirty="0">
                <a:solidFill>
                  <a:srgbClr val="3D2925"/>
                </a:solidFill>
                <a:latin typeface="Calibri"/>
                <a:ea typeface="Calibri"/>
                <a:cs typeface="Calibri"/>
              </a:rPr>
              <a:t>One shared script and data files render all 26 pages, with dark mode and accessibility built in.</a:t>
            </a:r>
          </a:p>
        </p:txBody>
      </p:sp>
      <p:sp>
        <p:nvSpPr>
          <p:cNvPr id="18" name="Flow_box_1"/>
          <p:cNvSpPr/>
          <p:nvPr/>
        </p:nvSpPr>
        <p:spPr>
          <a:xfrm>
            <a:off x="4754880" y="1234440"/>
            <a:ext cx="3931920" cy="585216"/>
          </a:xfrm>
          <a:prstGeom prst="roundRect">
            <a:avLst>
              <a:gd name="adj" fmla="val 12500"/>
            </a:avLst>
          </a:prstGeom>
          <a:solidFill>
            <a:srgbClr val="765044"/>
          </a:solidFill>
          <a:ln>
            <a:noFill/>
          </a:ln>
        </p:spPr>
        <p:txBody>
          <a:bodyPr wrap="square" lIns="73152" tIns="36576" rIns="73152" bIns="36576" rtlCol="0" anchor="ctr"/>
          <a:lstStyle/>
          <a:p>
            <a:pPr marL="0" indent="0" algn="ctr">
              <a:buNone/>
            </a:pPr>
            <a:r>
              <a:rPr lang="en-US" sz="1250" b="1" dirty="0">
                <a:solidFill>
                  <a:srgbClr val="FFFFFF"/>
                </a:solidFill>
                <a:latin typeface="Cambria"/>
                <a:ea typeface="Cambria"/>
                <a:cs typeface="Cambria"/>
              </a:rPr>
              <a:t>Data files</a:t>
            </a:r>
          </a:p>
          <a:p>
            <a:pPr marL="0" indent="0" algn="ctr">
              <a:buNone/>
            </a:pPr>
            <a:r>
              <a:rPr lang="en-US" sz="1050" dirty="0">
                <a:solidFill>
                  <a:srgbClr val="FFFFFF"/>
                </a:solidFill>
                <a:latin typeface="Calibri"/>
                <a:ea typeface="Calibri"/>
                <a:cs typeface="Calibri"/>
              </a:rPr>
              <a:t>data.js · JSON · XML</a:t>
            </a:r>
          </a:p>
        </p:txBody>
      </p:sp>
      <p:sp>
        <p:nvSpPr>
          <p:cNvPr id="19" name="Flow_arrow_1"/>
          <p:cNvSpPr/>
          <p:nvPr/>
        </p:nvSpPr>
        <p:spPr>
          <a:xfrm>
            <a:off x="6583680" y="1856232"/>
            <a:ext cx="274320" cy="182880"/>
          </a:xfrm>
          <a:prstGeom prst="downArrow">
            <a:avLst/>
          </a:prstGeom>
          <a:solidFill>
            <a:srgbClr val="D99587"/>
          </a:solidFill>
          <a:ln>
            <a:noFill/>
          </a:ln>
        </p:spPr>
        <p:txBody>
          <a:bodyPr/>
          <a:lstStyle/>
          <a:p>
            <a:endParaRPr lang="en-US"/>
          </a:p>
        </p:txBody>
      </p:sp>
      <p:sp>
        <p:nvSpPr>
          <p:cNvPr id="20" name="Flow_box_2"/>
          <p:cNvSpPr/>
          <p:nvPr/>
        </p:nvSpPr>
        <p:spPr>
          <a:xfrm>
            <a:off x="4754880" y="2039112"/>
            <a:ext cx="3931920" cy="585216"/>
          </a:xfrm>
          <a:prstGeom prst="roundRect">
            <a:avLst>
              <a:gd name="adj" fmla="val 12500"/>
            </a:avLst>
          </a:prstGeom>
          <a:solidFill>
            <a:srgbClr val="F2C4B5"/>
          </a:solidFill>
          <a:ln>
            <a:noFill/>
          </a:ln>
        </p:spPr>
        <p:txBody>
          <a:bodyPr wrap="square" lIns="73152" tIns="36576" rIns="73152" bIns="36576" rtlCol="0" anchor="ctr"/>
          <a:lstStyle/>
          <a:p>
            <a:pPr marL="0" indent="0" algn="ctr">
              <a:buNone/>
            </a:pPr>
            <a:r>
              <a:rPr lang="en-US" sz="1250" b="1" dirty="0">
                <a:solidFill>
                  <a:srgbClr val="3D2925"/>
                </a:solidFill>
                <a:latin typeface="Cambria"/>
                <a:ea typeface="Cambria"/>
                <a:cs typeface="Cambria"/>
              </a:rPr>
              <a:t>script.js builds each page</a:t>
            </a:r>
          </a:p>
          <a:p>
            <a:pPr marL="0" indent="0" algn="ctr">
              <a:buNone/>
            </a:pPr>
            <a:r>
              <a:rPr lang="en-US" sz="1050" dirty="0">
                <a:solidFill>
                  <a:srgbClr val="3D2925"/>
                </a:solidFill>
                <a:latin typeface="Calibri"/>
                <a:ea typeface="Calibri"/>
                <a:cs typeface="Calibri"/>
              </a:rPr>
              <a:t>reads data-page, renders header, products and cart</a:t>
            </a:r>
          </a:p>
        </p:txBody>
      </p:sp>
      <p:sp>
        <p:nvSpPr>
          <p:cNvPr id="21" name="Flow_arrow_2"/>
          <p:cNvSpPr/>
          <p:nvPr/>
        </p:nvSpPr>
        <p:spPr>
          <a:xfrm>
            <a:off x="6583680" y="2660904"/>
            <a:ext cx="274320" cy="182880"/>
          </a:xfrm>
          <a:prstGeom prst="downArrow">
            <a:avLst/>
          </a:prstGeom>
          <a:solidFill>
            <a:srgbClr val="D99587"/>
          </a:solidFill>
          <a:ln>
            <a:noFill/>
          </a:ln>
        </p:spPr>
        <p:txBody>
          <a:bodyPr/>
          <a:lstStyle/>
          <a:p>
            <a:endParaRPr lang="en-US"/>
          </a:p>
        </p:txBody>
      </p:sp>
      <p:sp>
        <p:nvSpPr>
          <p:cNvPr id="22" name="Flow_box_3"/>
          <p:cNvSpPr/>
          <p:nvPr/>
        </p:nvSpPr>
        <p:spPr>
          <a:xfrm>
            <a:off x="4754880" y="2843784"/>
            <a:ext cx="3931920" cy="585216"/>
          </a:xfrm>
          <a:prstGeom prst="roundRect">
            <a:avLst>
              <a:gd name="adj" fmla="val 12500"/>
            </a:avLst>
          </a:prstGeom>
          <a:solidFill>
            <a:srgbClr val="F2C4B5"/>
          </a:solidFill>
          <a:ln>
            <a:noFill/>
          </a:ln>
        </p:spPr>
        <p:txBody>
          <a:bodyPr wrap="square" lIns="73152" tIns="36576" rIns="73152" bIns="36576" rtlCol="0" anchor="ctr"/>
          <a:lstStyle/>
          <a:p>
            <a:pPr marL="0" indent="0" algn="ctr">
              <a:buNone/>
            </a:pPr>
            <a:r>
              <a:rPr lang="en-US" sz="1250" b="1" dirty="0">
                <a:solidFill>
                  <a:srgbClr val="3D2925"/>
                </a:solidFill>
                <a:latin typeface="Cambria"/>
                <a:ea typeface="Cambria"/>
                <a:cs typeface="Cambria"/>
              </a:rPr>
              <a:t>26 responsive HTML pages</a:t>
            </a:r>
          </a:p>
          <a:p>
            <a:pPr marL="0" indent="0" algn="ctr">
              <a:buNone/>
            </a:pPr>
            <a:r>
              <a:rPr lang="en-US" sz="1050" dirty="0">
                <a:solidFill>
                  <a:srgbClr val="3D2925"/>
                </a:solidFill>
                <a:latin typeface="Calibri"/>
                <a:ea typeface="Calibri"/>
                <a:cs typeface="Calibri"/>
              </a:rPr>
              <a:t>index.html + 25 pages in /html</a:t>
            </a:r>
          </a:p>
        </p:txBody>
      </p:sp>
      <p:sp>
        <p:nvSpPr>
          <p:cNvPr id="23" name="Flow_arrow_3"/>
          <p:cNvSpPr/>
          <p:nvPr/>
        </p:nvSpPr>
        <p:spPr>
          <a:xfrm>
            <a:off x="6583680" y="3465576"/>
            <a:ext cx="274320" cy="182880"/>
          </a:xfrm>
          <a:prstGeom prst="downArrow">
            <a:avLst/>
          </a:prstGeom>
          <a:solidFill>
            <a:srgbClr val="D99587"/>
          </a:solidFill>
          <a:ln>
            <a:noFill/>
          </a:ln>
        </p:spPr>
        <p:txBody>
          <a:bodyPr/>
          <a:lstStyle/>
          <a:p>
            <a:endParaRPr lang="en-US"/>
          </a:p>
        </p:txBody>
      </p:sp>
      <p:sp>
        <p:nvSpPr>
          <p:cNvPr id="24" name="Flow_box_4"/>
          <p:cNvSpPr/>
          <p:nvPr/>
        </p:nvSpPr>
        <p:spPr>
          <a:xfrm>
            <a:off x="4754880" y="3648456"/>
            <a:ext cx="3931920" cy="585216"/>
          </a:xfrm>
          <a:prstGeom prst="roundRect">
            <a:avLst>
              <a:gd name="adj" fmla="val 12500"/>
            </a:avLst>
          </a:prstGeom>
          <a:solidFill>
            <a:srgbClr val="FCF1E7"/>
          </a:solidFill>
          <a:ln w="9525">
            <a:solidFill>
              <a:srgbClr val="F2C4B5"/>
            </a:solidFill>
            <a:prstDash val="solid"/>
          </a:ln>
        </p:spPr>
        <p:txBody>
          <a:bodyPr wrap="square" lIns="73152" tIns="36576" rIns="73152" bIns="36576" rtlCol="0" anchor="ctr"/>
          <a:lstStyle/>
          <a:p>
            <a:pPr marL="0" indent="0" algn="ctr">
              <a:buNone/>
            </a:pPr>
            <a:r>
              <a:rPr lang="en-US" sz="1250" b="1" dirty="0">
                <a:solidFill>
                  <a:srgbClr val="3D2925"/>
                </a:solidFill>
                <a:latin typeface="Cambria"/>
                <a:ea typeface="Cambria"/>
                <a:cs typeface="Cambria"/>
              </a:rPr>
              <a:t>Browser storage</a:t>
            </a:r>
          </a:p>
          <a:p>
            <a:pPr marL="0" indent="0" algn="ctr">
              <a:buNone/>
            </a:pPr>
            <a:r>
              <a:rPr lang="en-US" sz="1050" dirty="0">
                <a:solidFill>
                  <a:srgbClr val="3D2925"/>
                </a:solidFill>
                <a:latin typeface="Calibri"/>
                <a:ea typeface="Calibri"/>
                <a:cs typeface="Calibri"/>
              </a:rPr>
              <a:t>localStorage: cart, theme, wishlist, reviews</a:t>
            </a:r>
          </a:p>
        </p:txBody>
      </p:sp>
    </p:spTree>
  </p:cSld>
  <p:clrMapOvr>
    <a:masterClrMapping/>
  </p:clrMapOvr>
  <p:transition spd="med">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457200" y="292608"/>
            <a:ext cx="5486400" cy="228600"/>
          </a:xfrm>
          <a:prstGeom prst="rect">
            <a:avLst/>
          </a:prstGeom>
          <a:noFill/>
          <a:ln/>
        </p:spPr>
        <p:txBody>
          <a:bodyPr wrap="square" lIns="0" tIns="0" rIns="0" bIns="0" rtlCol="0" anchor="t"/>
          <a:lstStyle/>
          <a:p>
            <a:pPr marL="0" indent="0" algn="l">
              <a:buNone/>
            </a:pPr>
            <a:r>
              <a:rPr lang="en-US" sz="1100" b="1" spc="400" dirty="0">
                <a:solidFill>
                  <a:srgbClr val="B06A59"/>
                </a:solidFill>
                <a:latin typeface="Calibri"/>
                <a:ea typeface="Calibri"/>
                <a:cs typeface="Calibri"/>
              </a:rPr>
              <a:t>PROJECT OBJECTIVES</a:t>
            </a:r>
          </a:p>
        </p:txBody>
      </p:sp>
      <p:sp>
        <p:nvSpPr>
          <p:cNvPr id="3" name="Title"/>
          <p:cNvSpPr txBox="1"/>
          <p:nvPr/>
        </p:nvSpPr>
        <p:spPr>
          <a:xfrm>
            <a:off x="457200" y="530352"/>
            <a:ext cx="8229600" cy="548640"/>
          </a:xfrm>
          <a:prstGeom prst="rect">
            <a:avLst/>
          </a:prstGeom>
          <a:noFill/>
          <a:ln/>
        </p:spPr>
        <p:txBody>
          <a:bodyPr wrap="square" lIns="0" tIns="0" rIns="0" bIns="0" rtlCol="0" anchor="t"/>
          <a:lstStyle/>
          <a:p>
            <a:pPr marL="0" indent="0" algn="l">
              <a:buNone/>
            </a:pPr>
            <a:r>
              <a:rPr lang="en-US" sz="3200" b="1" dirty="0">
                <a:solidFill>
                  <a:srgbClr val="765044"/>
                </a:solidFill>
                <a:latin typeface="Cambria"/>
                <a:ea typeface="Cambria"/>
                <a:cs typeface="Cambria"/>
              </a:rPr>
              <a:t>What we set out to achieve</a:t>
            </a:r>
          </a:p>
        </p:txBody>
      </p:sp>
      <p:sp>
        <p:nvSpPr>
          <p:cNvPr id="9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5</a:t>
            </a:fld>
            <a:endParaRPr lang="en-US"/>
          </a:p>
        </p:txBody>
      </p:sp>
      <p:sp>
        <p:nvSpPr>
          <p:cNvPr id="11" name="Objective_card_1"/>
          <p:cNvSpPr/>
          <p:nvPr/>
        </p:nvSpPr>
        <p:spPr>
          <a:xfrm>
            <a:off x="457200" y="1280160"/>
            <a:ext cx="2651760" cy="1463040"/>
          </a:xfrm>
          <a:prstGeom prst="roundRect">
            <a:avLst>
              <a:gd name="adj" fmla="val 6250"/>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2" name="Objective_num_1"/>
          <p:cNvSpPr/>
          <p:nvPr/>
        </p:nvSpPr>
        <p:spPr>
          <a:xfrm>
            <a:off x="640080" y="1444752"/>
            <a:ext cx="365760" cy="365760"/>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1</a:t>
            </a:r>
          </a:p>
        </p:txBody>
      </p:sp>
      <p:sp>
        <p:nvSpPr>
          <p:cNvPr id="13" name="Objective_head_1"/>
          <p:cNvSpPr txBox="1"/>
          <p:nvPr/>
        </p:nvSpPr>
        <p:spPr>
          <a:xfrm>
            <a:off x="1115568" y="1444752"/>
            <a:ext cx="1874520" cy="365760"/>
          </a:xfrm>
          <a:prstGeom prst="rect">
            <a:avLst/>
          </a:prstGeom>
          <a:noFill/>
          <a:ln/>
        </p:spPr>
        <p:txBody>
          <a:bodyPr wrap="square" lIns="0" tIns="0" rIns="0" bIns="0" rtlCol="0" anchor="ctr"/>
          <a:lstStyle/>
          <a:p>
            <a:pPr marL="0" indent="0" algn="l">
              <a:buNone/>
            </a:pPr>
            <a:r>
              <a:rPr lang="en-US" sz="1250" b="1" dirty="0">
                <a:solidFill>
                  <a:srgbClr val="765044"/>
                </a:solidFill>
                <a:latin typeface="Cambria"/>
                <a:ea typeface="Cambria"/>
                <a:cs typeface="Cambria"/>
              </a:rPr>
              <a:t>Responsive multi-page site</a:t>
            </a:r>
          </a:p>
        </p:txBody>
      </p:sp>
      <p:sp>
        <p:nvSpPr>
          <p:cNvPr id="14" name="Objective_body_1"/>
          <p:cNvSpPr txBox="1"/>
          <p:nvPr/>
        </p:nvSpPr>
        <p:spPr>
          <a:xfrm>
            <a:off x="640080" y="1938528"/>
            <a:ext cx="2286000" cy="731520"/>
          </a:xfrm>
          <a:prstGeom prst="rect">
            <a:avLst/>
          </a:prstGeom>
          <a:noFill/>
          <a:ln/>
        </p:spPr>
        <p:txBody>
          <a:bodyPr wrap="square" lIns="0" tIns="0" rIns="0" bIns="0" rtlCol="0" anchor="t"/>
          <a:lstStyle/>
          <a:p>
            <a:pPr marL="0" indent="0" algn="l">
              <a:buNone/>
            </a:pPr>
            <a:r>
              <a:rPr lang="en-US" sz="1150" dirty="0">
                <a:solidFill>
                  <a:srgbClr val="3D2925"/>
                </a:solidFill>
                <a:latin typeface="Calibri"/>
                <a:ea typeface="Calibri"/>
                <a:cs typeface="Calibri"/>
              </a:rPr>
              <a:t>Built with HTML5, CSS3 and JavaScript for mobile, tablet and desktop.</a:t>
            </a:r>
          </a:p>
        </p:txBody>
      </p:sp>
      <p:sp>
        <p:nvSpPr>
          <p:cNvPr id="15" name="Objective_card_2"/>
          <p:cNvSpPr/>
          <p:nvPr/>
        </p:nvSpPr>
        <p:spPr>
          <a:xfrm>
            <a:off x="3246120" y="1280160"/>
            <a:ext cx="2651760" cy="1463040"/>
          </a:xfrm>
          <a:prstGeom prst="roundRect">
            <a:avLst>
              <a:gd name="adj" fmla="val 6250"/>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6" name="Objective_num_2"/>
          <p:cNvSpPr/>
          <p:nvPr/>
        </p:nvSpPr>
        <p:spPr>
          <a:xfrm>
            <a:off x="3429000" y="1444752"/>
            <a:ext cx="365760" cy="365760"/>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2</a:t>
            </a:r>
          </a:p>
        </p:txBody>
      </p:sp>
      <p:sp>
        <p:nvSpPr>
          <p:cNvPr id="17" name="Objective_head_2"/>
          <p:cNvSpPr txBox="1"/>
          <p:nvPr/>
        </p:nvSpPr>
        <p:spPr>
          <a:xfrm>
            <a:off x="3904488" y="1444752"/>
            <a:ext cx="1874520" cy="365760"/>
          </a:xfrm>
          <a:prstGeom prst="rect">
            <a:avLst/>
          </a:prstGeom>
          <a:noFill/>
          <a:ln/>
        </p:spPr>
        <p:txBody>
          <a:bodyPr wrap="square" lIns="0" tIns="0" rIns="0" bIns="0" rtlCol="0" anchor="ctr"/>
          <a:lstStyle/>
          <a:p>
            <a:pPr marL="0" indent="0" algn="l">
              <a:buNone/>
            </a:pPr>
            <a:r>
              <a:rPr lang="en-US" sz="1250" b="1" dirty="0">
                <a:solidFill>
                  <a:srgbClr val="765044"/>
                </a:solidFill>
                <a:latin typeface="Cambria"/>
                <a:ea typeface="Cambria"/>
                <a:cs typeface="Cambria"/>
              </a:rPr>
              <a:t>Clean separation</a:t>
            </a:r>
          </a:p>
        </p:txBody>
      </p:sp>
      <p:sp>
        <p:nvSpPr>
          <p:cNvPr id="18" name="Objective_body_2"/>
          <p:cNvSpPr txBox="1"/>
          <p:nvPr/>
        </p:nvSpPr>
        <p:spPr>
          <a:xfrm>
            <a:off x="3429000" y="1938528"/>
            <a:ext cx="2286000" cy="731520"/>
          </a:xfrm>
          <a:prstGeom prst="rect">
            <a:avLst/>
          </a:prstGeom>
          <a:noFill/>
          <a:ln/>
        </p:spPr>
        <p:txBody>
          <a:bodyPr wrap="square" lIns="0" tIns="0" rIns="0" bIns="0" rtlCol="0" anchor="t"/>
          <a:lstStyle/>
          <a:p>
            <a:pPr marL="0" indent="0" algn="l">
              <a:buNone/>
            </a:pPr>
            <a:r>
              <a:rPr lang="en-US" sz="1150" dirty="0">
                <a:solidFill>
                  <a:srgbClr val="3D2925"/>
                </a:solidFill>
                <a:latin typeface="Calibri"/>
                <a:ea typeface="Calibri"/>
                <a:cs typeface="Calibri"/>
              </a:rPr>
              <a:t>Content, presentation and behaviour are kept apart; data lives in JSON/JS files.</a:t>
            </a:r>
          </a:p>
        </p:txBody>
      </p:sp>
      <p:sp>
        <p:nvSpPr>
          <p:cNvPr id="19" name="Objective_card_3"/>
          <p:cNvSpPr/>
          <p:nvPr/>
        </p:nvSpPr>
        <p:spPr>
          <a:xfrm>
            <a:off x="6035040" y="1280160"/>
            <a:ext cx="2651760" cy="1463040"/>
          </a:xfrm>
          <a:prstGeom prst="roundRect">
            <a:avLst>
              <a:gd name="adj" fmla="val 6250"/>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0" name="Objective_num_3"/>
          <p:cNvSpPr/>
          <p:nvPr/>
        </p:nvSpPr>
        <p:spPr>
          <a:xfrm>
            <a:off x="6217920" y="1444752"/>
            <a:ext cx="365760" cy="365760"/>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3</a:t>
            </a:r>
          </a:p>
        </p:txBody>
      </p:sp>
      <p:sp>
        <p:nvSpPr>
          <p:cNvPr id="21" name="Objective_head_3"/>
          <p:cNvSpPr txBox="1"/>
          <p:nvPr/>
        </p:nvSpPr>
        <p:spPr>
          <a:xfrm>
            <a:off x="6693408" y="1444752"/>
            <a:ext cx="1874520" cy="365760"/>
          </a:xfrm>
          <a:prstGeom prst="rect">
            <a:avLst/>
          </a:prstGeom>
          <a:noFill/>
          <a:ln/>
        </p:spPr>
        <p:txBody>
          <a:bodyPr wrap="square" lIns="0" tIns="0" rIns="0" bIns="0" rtlCol="0" anchor="ctr"/>
          <a:lstStyle/>
          <a:p>
            <a:pPr marL="0" indent="0" algn="l">
              <a:buNone/>
            </a:pPr>
            <a:r>
              <a:rPr lang="en-US" sz="1250" b="1" dirty="0">
                <a:solidFill>
                  <a:srgbClr val="765044"/>
                </a:solidFill>
                <a:latin typeface="Cambria"/>
                <a:ea typeface="Cambria"/>
                <a:cs typeface="Cambria"/>
              </a:rPr>
              <a:t>Working shop logic</a:t>
            </a:r>
          </a:p>
        </p:txBody>
      </p:sp>
      <p:sp>
        <p:nvSpPr>
          <p:cNvPr id="22" name="Objective_body_3"/>
          <p:cNvSpPr txBox="1"/>
          <p:nvPr/>
        </p:nvSpPr>
        <p:spPr>
          <a:xfrm>
            <a:off x="6217920" y="1938528"/>
            <a:ext cx="2286000" cy="731520"/>
          </a:xfrm>
          <a:prstGeom prst="rect">
            <a:avLst/>
          </a:prstGeom>
          <a:noFill/>
          <a:ln/>
        </p:spPr>
        <p:txBody>
          <a:bodyPr wrap="square" lIns="0" tIns="0" rIns="0" bIns="0" rtlCol="0" anchor="t"/>
          <a:lstStyle/>
          <a:p>
            <a:pPr marL="0" indent="0" algn="l">
              <a:buNone/>
            </a:pPr>
            <a:r>
              <a:rPr lang="en-US" sz="1150" dirty="0">
                <a:solidFill>
                  <a:srgbClr val="3D2925"/>
                </a:solidFill>
                <a:latin typeface="Calibri"/>
                <a:ea typeface="Calibri"/>
                <a:cs typeface="Calibri"/>
              </a:rPr>
              <a:t>Cart, automatic offers and a validated checkout using localStorage.</a:t>
            </a:r>
          </a:p>
        </p:txBody>
      </p:sp>
      <p:sp>
        <p:nvSpPr>
          <p:cNvPr id="23" name="Objective_card_4"/>
          <p:cNvSpPr/>
          <p:nvPr/>
        </p:nvSpPr>
        <p:spPr>
          <a:xfrm>
            <a:off x="457200" y="2926080"/>
            <a:ext cx="2651760" cy="1463040"/>
          </a:xfrm>
          <a:prstGeom prst="roundRect">
            <a:avLst>
              <a:gd name="adj" fmla="val 6250"/>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4" name="Objective_num_4"/>
          <p:cNvSpPr/>
          <p:nvPr/>
        </p:nvSpPr>
        <p:spPr>
          <a:xfrm>
            <a:off x="640080" y="3090672"/>
            <a:ext cx="365760" cy="365760"/>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4</a:t>
            </a:r>
          </a:p>
        </p:txBody>
      </p:sp>
      <p:sp>
        <p:nvSpPr>
          <p:cNvPr id="25" name="Objective_head_4"/>
          <p:cNvSpPr txBox="1"/>
          <p:nvPr/>
        </p:nvSpPr>
        <p:spPr>
          <a:xfrm>
            <a:off x="1115568" y="3090672"/>
            <a:ext cx="1874520" cy="365760"/>
          </a:xfrm>
          <a:prstGeom prst="rect">
            <a:avLst/>
          </a:prstGeom>
          <a:noFill/>
          <a:ln/>
        </p:spPr>
        <p:txBody>
          <a:bodyPr wrap="square" lIns="0" tIns="0" rIns="0" bIns="0" rtlCol="0" anchor="ctr"/>
          <a:lstStyle/>
          <a:p>
            <a:pPr marL="0" indent="0" algn="l">
              <a:buNone/>
            </a:pPr>
            <a:r>
              <a:rPr lang="en-US" sz="1250" b="1" dirty="0">
                <a:solidFill>
                  <a:srgbClr val="765044"/>
                </a:solidFill>
                <a:latin typeface="Cambria"/>
                <a:ea typeface="Cambria"/>
                <a:cs typeface="Cambria"/>
              </a:rPr>
              <a:t>Modern UI practices</a:t>
            </a:r>
          </a:p>
        </p:txBody>
      </p:sp>
      <p:sp>
        <p:nvSpPr>
          <p:cNvPr id="26" name="Objective_body_4"/>
          <p:cNvSpPr txBox="1"/>
          <p:nvPr/>
        </p:nvSpPr>
        <p:spPr>
          <a:xfrm>
            <a:off x="640080" y="3584448"/>
            <a:ext cx="2286000" cy="731520"/>
          </a:xfrm>
          <a:prstGeom prst="rect">
            <a:avLst/>
          </a:prstGeom>
          <a:noFill/>
          <a:ln/>
        </p:spPr>
        <p:txBody>
          <a:bodyPr wrap="square" lIns="0" tIns="0" rIns="0" bIns="0" rtlCol="0" anchor="t"/>
          <a:lstStyle/>
          <a:p>
            <a:pPr marL="0" indent="0" algn="l">
              <a:buNone/>
            </a:pPr>
            <a:r>
              <a:rPr lang="en-US" sz="1150" dirty="0">
                <a:solidFill>
                  <a:srgbClr val="3D2925"/>
                </a:solidFill>
                <a:latin typeface="Calibri"/>
                <a:ea typeface="Calibri"/>
                <a:cs typeface="Calibri"/>
              </a:rPr>
              <a:t>CSS variables, dark mode, animations, glass-style cards and accessibility.</a:t>
            </a:r>
          </a:p>
        </p:txBody>
      </p:sp>
      <p:sp>
        <p:nvSpPr>
          <p:cNvPr id="27" name="Objective_card_5"/>
          <p:cNvSpPr/>
          <p:nvPr/>
        </p:nvSpPr>
        <p:spPr>
          <a:xfrm>
            <a:off x="3246120" y="2926080"/>
            <a:ext cx="2651760" cy="1463040"/>
          </a:xfrm>
          <a:prstGeom prst="roundRect">
            <a:avLst>
              <a:gd name="adj" fmla="val 6250"/>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8" name="Objective_num_5"/>
          <p:cNvSpPr/>
          <p:nvPr/>
        </p:nvSpPr>
        <p:spPr>
          <a:xfrm>
            <a:off x="3429000" y="3090672"/>
            <a:ext cx="365760" cy="365760"/>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5</a:t>
            </a:r>
          </a:p>
        </p:txBody>
      </p:sp>
      <p:sp>
        <p:nvSpPr>
          <p:cNvPr id="29" name="Objective_head_5"/>
          <p:cNvSpPr txBox="1"/>
          <p:nvPr/>
        </p:nvSpPr>
        <p:spPr>
          <a:xfrm>
            <a:off x="3904488" y="3090672"/>
            <a:ext cx="1874520" cy="365760"/>
          </a:xfrm>
          <a:prstGeom prst="rect">
            <a:avLst/>
          </a:prstGeom>
          <a:noFill/>
          <a:ln/>
        </p:spPr>
        <p:txBody>
          <a:bodyPr wrap="square" lIns="0" tIns="0" rIns="0" bIns="0" rtlCol="0" anchor="ctr"/>
          <a:lstStyle/>
          <a:p>
            <a:pPr marL="0" indent="0" algn="l">
              <a:buNone/>
            </a:pPr>
            <a:r>
              <a:rPr lang="en-US" sz="1250" b="1" dirty="0">
                <a:solidFill>
                  <a:srgbClr val="765044"/>
                </a:solidFill>
                <a:latin typeface="Cambria"/>
                <a:ea typeface="Cambria"/>
                <a:cs typeface="Cambria"/>
              </a:rPr>
              <a:t>Supporting technologies</a:t>
            </a:r>
          </a:p>
        </p:txBody>
      </p:sp>
      <p:sp>
        <p:nvSpPr>
          <p:cNvPr id="30" name="Objective_body_5"/>
          <p:cNvSpPr txBox="1"/>
          <p:nvPr/>
        </p:nvSpPr>
        <p:spPr>
          <a:xfrm>
            <a:off x="3429000" y="3584448"/>
            <a:ext cx="2286000" cy="731520"/>
          </a:xfrm>
          <a:prstGeom prst="rect">
            <a:avLst/>
          </a:prstGeom>
          <a:noFill/>
          <a:ln/>
        </p:spPr>
        <p:txBody>
          <a:bodyPr wrap="square" lIns="0" tIns="0" rIns="0" bIns="0" rtlCol="0" anchor="t"/>
          <a:lstStyle/>
          <a:p>
            <a:pPr marL="0" indent="0" algn="l">
              <a:buNone/>
            </a:pPr>
            <a:r>
              <a:rPr lang="en-US" sz="1150" dirty="0">
                <a:solidFill>
                  <a:srgbClr val="3D2925"/>
                </a:solidFill>
                <a:latin typeface="Calibri"/>
                <a:ea typeface="Calibri"/>
                <a:cs typeface="Calibri"/>
              </a:rPr>
              <a:t>Bootstrap, jQuery and XML/JSON integrated to show their use cases.</a:t>
            </a:r>
          </a:p>
        </p:txBody>
      </p:sp>
      <p:sp>
        <p:nvSpPr>
          <p:cNvPr id="31" name="Objective_card_6"/>
          <p:cNvSpPr/>
          <p:nvPr/>
        </p:nvSpPr>
        <p:spPr>
          <a:xfrm>
            <a:off x="6035040" y="2926080"/>
            <a:ext cx="2651760" cy="1463040"/>
          </a:xfrm>
          <a:prstGeom prst="roundRect">
            <a:avLst>
              <a:gd name="adj" fmla="val 6250"/>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32" name="Objective_num_6"/>
          <p:cNvSpPr/>
          <p:nvPr/>
        </p:nvSpPr>
        <p:spPr>
          <a:xfrm>
            <a:off x="6217920" y="3090672"/>
            <a:ext cx="365760" cy="365760"/>
          </a:xfrm>
          <a:prstGeom prst="ellipse">
            <a:avLst/>
          </a:prstGeom>
          <a:solidFill>
            <a:srgbClr val="F2C4B5"/>
          </a:solidFill>
          <a:ln>
            <a:noFill/>
          </a:ln>
        </p:spPr>
        <p:txBody>
          <a:bodyPr wrap="square" lIns="0" tIns="0" rIns="0" bIns="0" rtlCol="0" anchor="ctr"/>
          <a:lstStyle/>
          <a:p>
            <a:pPr marL="0" indent="0" algn="ctr">
              <a:buNone/>
            </a:pPr>
            <a:r>
              <a:rPr lang="en-US" sz="1300" b="1" dirty="0">
                <a:solidFill>
                  <a:srgbClr val="765044"/>
                </a:solidFill>
                <a:latin typeface="Calibri"/>
                <a:ea typeface="Calibri"/>
                <a:cs typeface="Calibri"/>
              </a:rPr>
              <a:t>6</a:t>
            </a:r>
          </a:p>
        </p:txBody>
      </p:sp>
      <p:sp>
        <p:nvSpPr>
          <p:cNvPr id="33" name="Objective_head_6"/>
          <p:cNvSpPr txBox="1"/>
          <p:nvPr/>
        </p:nvSpPr>
        <p:spPr>
          <a:xfrm>
            <a:off x="6693408" y="3090672"/>
            <a:ext cx="1874520" cy="365760"/>
          </a:xfrm>
          <a:prstGeom prst="rect">
            <a:avLst/>
          </a:prstGeom>
          <a:noFill/>
          <a:ln/>
        </p:spPr>
        <p:txBody>
          <a:bodyPr wrap="square" lIns="0" tIns="0" rIns="0" bIns="0" rtlCol="0" anchor="ctr"/>
          <a:lstStyle/>
          <a:p>
            <a:pPr marL="0" indent="0" algn="l">
              <a:buNone/>
            </a:pPr>
            <a:r>
              <a:rPr lang="en-US" sz="1250" b="1" dirty="0">
                <a:solidFill>
                  <a:srgbClr val="765044"/>
                </a:solidFill>
                <a:latin typeface="Cambria"/>
                <a:ea typeface="Cambria"/>
                <a:cs typeface="Cambria"/>
              </a:rPr>
              <a:t>Maintainable code</a:t>
            </a:r>
          </a:p>
        </p:txBody>
      </p:sp>
      <p:sp>
        <p:nvSpPr>
          <p:cNvPr id="34" name="Objective_body_6"/>
          <p:cNvSpPr txBox="1"/>
          <p:nvPr/>
        </p:nvSpPr>
        <p:spPr>
          <a:xfrm>
            <a:off x="6217920" y="3584448"/>
            <a:ext cx="2286000" cy="731520"/>
          </a:xfrm>
          <a:prstGeom prst="rect">
            <a:avLst/>
          </a:prstGeom>
          <a:noFill/>
          <a:ln/>
        </p:spPr>
        <p:txBody>
          <a:bodyPr wrap="square" lIns="0" tIns="0" rIns="0" bIns="0" rtlCol="0" anchor="t"/>
          <a:lstStyle/>
          <a:p>
            <a:pPr marL="0" indent="0" algn="l">
              <a:buNone/>
            </a:pPr>
            <a:r>
              <a:rPr lang="en-US" sz="1150" dirty="0">
                <a:solidFill>
                  <a:srgbClr val="3D2925"/>
                </a:solidFill>
                <a:latin typeface="Calibri"/>
                <a:ea typeface="Calibri"/>
                <a:cs typeface="Calibri"/>
              </a:rPr>
              <a:t>Clean, reusable code with one shared script for every page.</a:t>
            </a:r>
          </a:p>
        </p:txBody>
      </p:sp>
    </p:spTree>
  </p:cSld>
  <p:clrMapOvr>
    <a:masterClrMapping/>
  </p:clrMapOvr>
  <p:transition spd="med">
    <p:fade/>
  </p:transition>
</p:sld>
</file>

<file path=ppt/slides/slide6.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STYLE BOARD</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Brand identity &amp; UI/UX design</a:t>
            </a:r>
            <a:endParaRPr lang="en-US" sz="3200" dirty="0"/>
          </a:p>
        </p:txBody>
      </p:sp>
      <p:sp>
        <p:nvSpPr>
          <p:cNvPr id="4" name="A1f_logo"/>
          <p:cNvSpPr/>
          <p:nvPr/>
        </p:nvSpPr>
        <p:spPr>
          <a:xfrm>
            <a:off x="457200" y="1280160"/>
            <a:ext cx="2377440" cy="1828800"/>
          </a:xfrm>
          <a:prstGeom prst="roundRect">
            <a:avLst>
              <a:gd name="adj" fmla="val 5000"/>
            </a:avLst>
          </a:prstGeom>
          <a:solidFill>
            <a:srgbClr val="FCF1E7"/>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pic>
        <p:nvPicPr>
          <p:cNvPr id="5" name="A1f_li" descr="/home/claude/img/logo.png"/>
          <p:cNvPicPr>
            <a:picLocks noChangeAspect="1"/>
          </p:cNvPicPr>
          <p:nvPr/>
        </p:nvPicPr>
        <p:blipFill>
          <a:blip r:embed="rId3"/>
          <a:stretch>
            <a:fillRect/>
          </a:stretch>
        </p:blipFill>
        <p:spPr>
          <a:xfrm>
            <a:off x="685800" y="1371600"/>
            <a:ext cx="1920240" cy="1362456"/>
          </a:xfrm>
          <a:prstGeom prst="rect">
            <a:avLst/>
          </a:prstGeom>
        </p:spPr>
      </p:pic>
      <p:sp>
        <p:nvSpPr>
          <p:cNvPr id="6" name="A1f_lt"/>
          <p:cNvSpPr txBox="1"/>
          <p:nvPr/>
        </p:nvSpPr>
        <p:spPr>
          <a:xfrm>
            <a:off x="594360" y="2788920"/>
            <a:ext cx="2103120" cy="274320"/>
          </a:xfrm>
          <a:prstGeom prst="rect">
            <a:avLst/>
          </a:prstGeom>
          <a:noFill/>
          <a:ln/>
        </p:spPr>
        <p:txBody>
          <a:bodyPr wrap="square" lIns="0" tIns="0" rIns="0" bIns="0" rtlCol="0" anchor="t"/>
          <a:lstStyle/>
          <a:p>
            <a:pPr marL="0" indent="0" algn="ctr">
              <a:buNone/>
            </a:pPr>
            <a:r>
              <a:rPr lang="en-US" sz="1100" dirty="0">
                <a:solidFill>
                  <a:srgbClr val="765044"/>
                </a:solidFill>
                <a:latin typeface="Calibri" pitchFamily="34" charset="0"/>
                <a:ea typeface="Calibri" pitchFamily="34" charset="-122"/>
                <a:cs typeface="Calibri" pitchFamily="34" charset="-120"/>
              </a:rPr>
              <a:t>Logo · consistent nav on every page</a:t>
            </a:r>
            <a:endParaRPr lang="en-US" sz="1100" dirty="0"/>
          </a:p>
        </p:txBody>
      </p:sp>
      <p:sp>
        <p:nvSpPr>
          <p:cNvPr id="7" name="A2f_w0"/>
          <p:cNvSpPr/>
          <p:nvPr/>
        </p:nvSpPr>
        <p:spPr>
          <a:xfrm>
            <a:off x="502920" y="3337560"/>
            <a:ext cx="457200" cy="457200"/>
          </a:xfrm>
          <a:prstGeom prst="ellipse">
            <a:avLst/>
          </a:prstGeom>
          <a:solidFill>
            <a:srgbClr val="FFFAF6"/>
          </a:solidFill>
          <a:ln w="9525">
            <a:solidFill>
              <a:srgbClr val="F2C4B5"/>
            </a:solidFill>
            <a:prstDash val="solid"/>
          </a:ln>
        </p:spPr>
        <p:txBody>
          <a:bodyPr/>
          <a:lstStyle/>
          <a:p>
            <a:endParaRPr lang="en-US"/>
          </a:p>
        </p:txBody>
      </p:sp>
      <p:sp>
        <p:nvSpPr>
          <p:cNvPr id="8" name="A2f_x0"/>
          <p:cNvSpPr txBox="1"/>
          <p:nvPr/>
        </p:nvSpPr>
        <p:spPr>
          <a:xfrm>
            <a:off x="365760" y="3813048"/>
            <a:ext cx="822960" cy="182880"/>
          </a:xfrm>
          <a:prstGeom prst="rect">
            <a:avLst/>
          </a:prstGeom>
          <a:noFill/>
          <a:ln/>
        </p:spPr>
        <p:txBody>
          <a:bodyPr wrap="square" lIns="0" tIns="0" rIns="0" bIns="0" rtlCol="0" anchor="t"/>
          <a:lstStyle/>
          <a:p>
            <a:pPr marL="0" indent="0" algn="ctr">
              <a:buNone/>
            </a:pPr>
            <a:r>
              <a:rPr lang="en-US" sz="1000" dirty="0">
                <a:solidFill>
                  <a:srgbClr val="765044"/>
                </a:solidFill>
                <a:latin typeface="Calibri" pitchFamily="34" charset="0"/>
                <a:ea typeface="Calibri" pitchFamily="34" charset="-122"/>
                <a:cs typeface="Calibri" pitchFamily="34" charset="-120"/>
              </a:rPr>
              <a:t>Cream</a:t>
            </a:r>
            <a:endParaRPr lang="en-US" sz="1000" dirty="0"/>
          </a:p>
        </p:txBody>
      </p:sp>
      <p:sp>
        <p:nvSpPr>
          <p:cNvPr id="9" name="A2f_w1"/>
          <p:cNvSpPr/>
          <p:nvPr/>
        </p:nvSpPr>
        <p:spPr>
          <a:xfrm>
            <a:off x="1325880" y="3337560"/>
            <a:ext cx="457200" cy="457200"/>
          </a:xfrm>
          <a:prstGeom prst="ellipse">
            <a:avLst/>
          </a:prstGeom>
          <a:solidFill>
            <a:srgbClr val="F2C4B5"/>
          </a:solidFill>
          <a:ln w="9525">
            <a:solidFill>
              <a:srgbClr val="F2C4B5"/>
            </a:solidFill>
            <a:prstDash val="solid"/>
          </a:ln>
        </p:spPr>
        <p:txBody>
          <a:bodyPr/>
          <a:lstStyle/>
          <a:p>
            <a:endParaRPr lang="en-US"/>
          </a:p>
        </p:txBody>
      </p:sp>
      <p:sp>
        <p:nvSpPr>
          <p:cNvPr id="10" name="A2f_x1"/>
          <p:cNvSpPr txBox="1"/>
          <p:nvPr/>
        </p:nvSpPr>
        <p:spPr>
          <a:xfrm>
            <a:off x="1188720" y="3813048"/>
            <a:ext cx="822960" cy="182880"/>
          </a:xfrm>
          <a:prstGeom prst="rect">
            <a:avLst/>
          </a:prstGeom>
          <a:noFill/>
          <a:ln/>
        </p:spPr>
        <p:txBody>
          <a:bodyPr wrap="square" lIns="0" tIns="0" rIns="0" bIns="0" rtlCol="0" anchor="t"/>
          <a:lstStyle/>
          <a:p>
            <a:pPr marL="0" indent="0" algn="ctr">
              <a:buNone/>
            </a:pPr>
            <a:r>
              <a:rPr lang="en-US" sz="1000" dirty="0">
                <a:solidFill>
                  <a:srgbClr val="765044"/>
                </a:solidFill>
                <a:latin typeface="Calibri" pitchFamily="34" charset="0"/>
                <a:ea typeface="Calibri" pitchFamily="34" charset="-122"/>
                <a:cs typeface="Calibri" pitchFamily="34" charset="-120"/>
              </a:rPr>
              <a:t>Peach</a:t>
            </a:r>
            <a:endParaRPr lang="en-US" sz="1000" dirty="0"/>
          </a:p>
        </p:txBody>
      </p:sp>
      <p:sp>
        <p:nvSpPr>
          <p:cNvPr id="11" name="A2f_w2"/>
          <p:cNvSpPr/>
          <p:nvPr/>
        </p:nvSpPr>
        <p:spPr>
          <a:xfrm>
            <a:off x="2148840" y="3337560"/>
            <a:ext cx="457200" cy="457200"/>
          </a:xfrm>
          <a:prstGeom prst="ellipse">
            <a:avLst/>
          </a:prstGeom>
          <a:solidFill>
            <a:srgbClr val="D99587"/>
          </a:solidFill>
          <a:ln w="9525">
            <a:solidFill>
              <a:srgbClr val="F2C4B5"/>
            </a:solidFill>
            <a:prstDash val="solid"/>
          </a:ln>
        </p:spPr>
        <p:txBody>
          <a:bodyPr/>
          <a:lstStyle/>
          <a:p>
            <a:endParaRPr lang="en-US"/>
          </a:p>
        </p:txBody>
      </p:sp>
      <p:sp>
        <p:nvSpPr>
          <p:cNvPr id="12" name="A2f_x2"/>
          <p:cNvSpPr txBox="1"/>
          <p:nvPr/>
        </p:nvSpPr>
        <p:spPr>
          <a:xfrm>
            <a:off x="2011680" y="3813048"/>
            <a:ext cx="822960" cy="182880"/>
          </a:xfrm>
          <a:prstGeom prst="rect">
            <a:avLst/>
          </a:prstGeom>
          <a:noFill/>
          <a:ln/>
        </p:spPr>
        <p:txBody>
          <a:bodyPr wrap="square" lIns="0" tIns="0" rIns="0" bIns="0" rtlCol="0" anchor="t"/>
          <a:lstStyle/>
          <a:p>
            <a:pPr marL="0" indent="0" algn="ctr">
              <a:buNone/>
            </a:pPr>
            <a:r>
              <a:rPr lang="en-US" sz="1000" dirty="0">
                <a:solidFill>
                  <a:srgbClr val="765044"/>
                </a:solidFill>
                <a:latin typeface="Calibri" pitchFamily="34" charset="0"/>
                <a:ea typeface="Calibri" pitchFamily="34" charset="-122"/>
                <a:cs typeface="Calibri" pitchFamily="34" charset="-120"/>
              </a:rPr>
              <a:t>Dusty Peach</a:t>
            </a:r>
            <a:endParaRPr lang="en-US" sz="1000" dirty="0"/>
          </a:p>
        </p:txBody>
      </p:sp>
      <p:sp>
        <p:nvSpPr>
          <p:cNvPr id="13" name="A2f_w3"/>
          <p:cNvSpPr/>
          <p:nvPr/>
        </p:nvSpPr>
        <p:spPr>
          <a:xfrm>
            <a:off x="502920" y="4050792"/>
            <a:ext cx="457200" cy="457200"/>
          </a:xfrm>
          <a:prstGeom prst="ellipse">
            <a:avLst/>
          </a:prstGeom>
          <a:solidFill>
            <a:srgbClr val="765044"/>
          </a:solidFill>
          <a:ln w="9525">
            <a:solidFill>
              <a:srgbClr val="F2C4B5"/>
            </a:solidFill>
            <a:prstDash val="solid"/>
          </a:ln>
        </p:spPr>
        <p:txBody>
          <a:bodyPr/>
          <a:lstStyle/>
          <a:p>
            <a:endParaRPr lang="en-US"/>
          </a:p>
        </p:txBody>
      </p:sp>
      <p:sp>
        <p:nvSpPr>
          <p:cNvPr id="14" name="A2f_x3"/>
          <p:cNvSpPr txBox="1"/>
          <p:nvPr/>
        </p:nvSpPr>
        <p:spPr>
          <a:xfrm>
            <a:off x="365760" y="4526280"/>
            <a:ext cx="822960" cy="182880"/>
          </a:xfrm>
          <a:prstGeom prst="rect">
            <a:avLst/>
          </a:prstGeom>
          <a:noFill/>
          <a:ln/>
        </p:spPr>
        <p:txBody>
          <a:bodyPr wrap="square" lIns="0" tIns="0" rIns="0" bIns="0" rtlCol="0" anchor="t"/>
          <a:lstStyle/>
          <a:p>
            <a:pPr marL="0" indent="0" algn="ctr">
              <a:buNone/>
            </a:pPr>
            <a:r>
              <a:rPr lang="en-US" sz="1000" dirty="0">
                <a:solidFill>
                  <a:srgbClr val="765044"/>
                </a:solidFill>
                <a:latin typeface="Calibri" pitchFamily="34" charset="0"/>
                <a:ea typeface="Calibri" pitchFamily="34" charset="-122"/>
                <a:cs typeface="Calibri" pitchFamily="34" charset="-120"/>
              </a:rPr>
              <a:t>Mocha</a:t>
            </a:r>
            <a:endParaRPr lang="en-US" sz="1000" dirty="0"/>
          </a:p>
        </p:txBody>
      </p:sp>
      <p:sp>
        <p:nvSpPr>
          <p:cNvPr id="15" name="A2f_w4"/>
          <p:cNvSpPr/>
          <p:nvPr/>
        </p:nvSpPr>
        <p:spPr>
          <a:xfrm>
            <a:off x="1325880" y="4050792"/>
            <a:ext cx="457200" cy="457200"/>
          </a:xfrm>
          <a:prstGeom prst="ellipse">
            <a:avLst/>
          </a:prstGeom>
          <a:solidFill>
            <a:srgbClr val="3D2925"/>
          </a:solidFill>
          <a:ln w="9525">
            <a:solidFill>
              <a:srgbClr val="F2C4B5"/>
            </a:solidFill>
            <a:prstDash val="solid"/>
          </a:ln>
        </p:spPr>
        <p:txBody>
          <a:bodyPr/>
          <a:lstStyle/>
          <a:p>
            <a:endParaRPr lang="en-US"/>
          </a:p>
        </p:txBody>
      </p:sp>
      <p:sp>
        <p:nvSpPr>
          <p:cNvPr id="16" name="A2f_x4"/>
          <p:cNvSpPr txBox="1"/>
          <p:nvPr/>
        </p:nvSpPr>
        <p:spPr>
          <a:xfrm>
            <a:off x="1188720" y="4526280"/>
            <a:ext cx="822960" cy="182880"/>
          </a:xfrm>
          <a:prstGeom prst="rect">
            <a:avLst/>
          </a:prstGeom>
          <a:noFill/>
          <a:ln/>
        </p:spPr>
        <p:txBody>
          <a:bodyPr wrap="square" lIns="0" tIns="0" rIns="0" bIns="0" rtlCol="0" anchor="t"/>
          <a:lstStyle/>
          <a:p>
            <a:pPr marL="0" indent="0" algn="ctr">
              <a:buNone/>
            </a:pPr>
            <a:r>
              <a:rPr lang="en-US" sz="1000" dirty="0">
                <a:solidFill>
                  <a:srgbClr val="765044"/>
                </a:solidFill>
                <a:latin typeface="Calibri" pitchFamily="34" charset="0"/>
                <a:ea typeface="Calibri" pitchFamily="34" charset="-122"/>
                <a:cs typeface="Calibri" pitchFamily="34" charset="-120"/>
              </a:rPr>
              <a:t>Espresso</a:t>
            </a:r>
            <a:endParaRPr lang="en-US" sz="1000" dirty="0"/>
          </a:p>
        </p:txBody>
      </p:sp>
      <p:sp>
        <p:nvSpPr>
          <p:cNvPr id="17" name="A2f_w5"/>
          <p:cNvSpPr/>
          <p:nvPr/>
        </p:nvSpPr>
        <p:spPr>
          <a:xfrm>
            <a:off x="2148840" y="4050792"/>
            <a:ext cx="457200" cy="457200"/>
          </a:xfrm>
          <a:prstGeom prst="ellipse">
            <a:avLst/>
          </a:prstGeom>
          <a:solidFill>
            <a:srgbClr val="D8B779"/>
          </a:solidFill>
          <a:ln w="9525">
            <a:solidFill>
              <a:srgbClr val="F2C4B5"/>
            </a:solidFill>
            <a:prstDash val="solid"/>
          </a:ln>
        </p:spPr>
        <p:txBody>
          <a:bodyPr/>
          <a:lstStyle/>
          <a:p>
            <a:endParaRPr lang="en-US"/>
          </a:p>
        </p:txBody>
      </p:sp>
      <p:sp>
        <p:nvSpPr>
          <p:cNvPr id="18" name="A2f_x5"/>
          <p:cNvSpPr txBox="1"/>
          <p:nvPr/>
        </p:nvSpPr>
        <p:spPr>
          <a:xfrm>
            <a:off x="2011680" y="4526280"/>
            <a:ext cx="822960" cy="182880"/>
          </a:xfrm>
          <a:prstGeom prst="rect">
            <a:avLst/>
          </a:prstGeom>
          <a:noFill/>
          <a:ln/>
        </p:spPr>
        <p:txBody>
          <a:bodyPr wrap="square" lIns="0" tIns="0" rIns="0" bIns="0" rtlCol="0" anchor="t"/>
          <a:lstStyle/>
          <a:p>
            <a:pPr marL="0" indent="0" algn="ctr">
              <a:buNone/>
            </a:pPr>
            <a:r>
              <a:rPr lang="en-US" sz="1000" dirty="0">
                <a:solidFill>
                  <a:srgbClr val="765044"/>
                </a:solidFill>
                <a:latin typeface="Calibri" pitchFamily="34" charset="0"/>
                <a:ea typeface="Calibri" pitchFamily="34" charset="-122"/>
                <a:cs typeface="Calibri" pitchFamily="34" charset="-120"/>
              </a:rPr>
              <a:t>Champagne</a:t>
            </a:r>
            <a:endParaRPr lang="en-US" sz="1000" dirty="0"/>
          </a:p>
        </p:txBody>
      </p:sp>
      <p:sp>
        <p:nvSpPr>
          <p:cNvPr id="19" name="A3f_ty"/>
          <p:cNvSpPr/>
          <p:nvPr/>
        </p:nvSpPr>
        <p:spPr>
          <a:xfrm>
            <a:off x="3063240" y="1280160"/>
            <a:ext cx="2331720" cy="3017520"/>
          </a:xfrm>
          <a:prstGeom prst="roundRect">
            <a:avLst>
              <a:gd name="adj" fmla="val 392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0" name="A3f_a"/>
          <p:cNvSpPr txBox="1"/>
          <p:nvPr/>
        </p:nvSpPr>
        <p:spPr>
          <a:xfrm>
            <a:off x="3246120" y="1371600"/>
            <a:ext cx="2011680" cy="822960"/>
          </a:xfrm>
          <a:prstGeom prst="rect">
            <a:avLst/>
          </a:prstGeom>
          <a:noFill/>
          <a:ln/>
        </p:spPr>
        <p:txBody>
          <a:bodyPr wrap="square" lIns="0" tIns="0" rIns="0" bIns="0" rtlCol="0" anchor="t"/>
          <a:lstStyle/>
          <a:p>
            <a:pPr marL="0" indent="0">
              <a:buNone/>
            </a:pPr>
            <a:r>
              <a:rPr lang="en-US" sz="5400" b="1" dirty="0">
                <a:solidFill>
                  <a:srgbClr val="765044"/>
                </a:solidFill>
                <a:latin typeface="Cambria" pitchFamily="34" charset="0"/>
                <a:ea typeface="Cambria" pitchFamily="34" charset="-122"/>
                <a:cs typeface="Cambria" pitchFamily="34" charset="-120"/>
              </a:rPr>
              <a:t>Aa</a:t>
            </a:r>
            <a:endParaRPr lang="en-US" sz="5400" dirty="0"/>
          </a:p>
        </p:txBody>
      </p:sp>
      <p:sp>
        <p:nvSpPr>
          <p:cNvPr id="21" name="A3f_b"/>
          <p:cNvSpPr txBox="1"/>
          <p:nvPr/>
        </p:nvSpPr>
        <p:spPr>
          <a:xfrm>
            <a:off x="3246120" y="2286000"/>
            <a:ext cx="2011680" cy="1371600"/>
          </a:xfrm>
          <a:prstGeom prst="rect">
            <a:avLst/>
          </a:prstGeom>
          <a:noFill/>
          <a:ln/>
        </p:spPr>
        <p:txBody>
          <a:bodyPr wrap="square" lIns="0" tIns="0" rIns="0" bIns="0" rtlCol="0" anchor="t"/>
          <a:lstStyle/>
          <a:p>
            <a:pPr marL="0" indent="0">
              <a:buNone/>
            </a:pPr>
            <a:r>
              <a:rPr lang="en-US" sz="1300" b="1" dirty="0">
                <a:solidFill>
                  <a:srgbClr val="B06A59"/>
                </a:solidFill>
                <a:latin typeface="Calibri" pitchFamily="34" charset="0"/>
                <a:ea typeface="Calibri" pitchFamily="34" charset="-122"/>
                <a:cs typeface="Calibri" pitchFamily="34" charset="-120"/>
              </a:rPr>
              <a:t>Headings — Fraunces</a:t>
            </a:r>
            <a:endParaRPr lang="en-US" sz="1300" dirty="0"/>
          </a:p>
          <a:p>
            <a:pPr marL="0" indent="0">
              <a:buNone/>
            </a:pPr>
            <a:r>
              <a:rPr lang="en-US" sz="1200" dirty="0">
                <a:solidFill>
                  <a:srgbClr val="3D2925"/>
                </a:solidFill>
                <a:latin typeface="Calibri" pitchFamily="34" charset="0"/>
                <a:ea typeface="Calibri" pitchFamily="34" charset="-122"/>
                <a:cs typeface="Calibri" pitchFamily="34" charset="-120"/>
              </a:rPr>
              <a:t>Warm, elegant serif for titles.</a:t>
            </a:r>
            <a:endParaRPr lang="en-US" sz="1300" dirty="0"/>
          </a:p>
          <a:p>
            <a:pPr marL="0" indent="0">
              <a:buNone/>
            </a:pPr>
            <a:r>
              <a:rPr lang="en-US" sz="600" dirty="0">
                <a:solidFill>
                  <a:srgbClr val="3D2925"/>
                </a:solidFill>
                <a:latin typeface="Calibri" pitchFamily="34" charset="0"/>
                <a:ea typeface="Calibri" pitchFamily="34" charset="-122"/>
                <a:cs typeface="Calibri" pitchFamily="34" charset="-120"/>
              </a:rPr>
              <a:t> </a:t>
            </a:r>
            <a:endParaRPr lang="en-US" sz="1300" dirty="0"/>
          </a:p>
          <a:p>
            <a:pPr marL="0" indent="0">
              <a:buNone/>
            </a:pPr>
            <a:r>
              <a:rPr lang="en-US" sz="1300" b="1" dirty="0">
                <a:solidFill>
                  <a:srgbClr val="B06A59"/>
                </a:solidFill>
                <a:latin typeface="Calibri" pitchFamily="34" charset="0"/>
                <a:ea typeface="Calibri" pitchFamily="34" charset="-122"/>
                <a:cs typeface="Calibri" pitchFamily="34" charset="-120"/>
              </a:rPr>
              <a:t>Body — Nunito</a:t>
            </a:r>
            <a:endParaRPr lang="en-US" sz="1300" dirty="0"/>
          </a:p>
          <a:p>
            <a:pPr marL="0" indent="0">
              <a:buNone/>
            </a:pPr>
            <a:r>
              <a:rPr lang="en-US" sz="1200" dirty="0">
                <a:solidFill>
                  <a:srgbClr val="3D2925"/>
                </a:solidFill>
                <a:latin typeface="Calibri" pitchFamily="34" charset="0"/>
                <a:ea typeface="Calibri" pitchFamily="34" charset="-122"/>
                <a:cs typeface="Calibri" pitchFamily="34" charset="-120"/>
              </a:rPr>
              <a:t>Friendly, highly readable sans-serif.</a:t>
            </a:r>
            <a:endParaRPr lang="en-US" sz="1300" dirty="0"/>
          </a:p>
        </p:txBody>
      </p:sp>
      <p:sp>
        <p:nvSpPr>
          <p:cNvPr id="22" name="A3f_c"/>
          <p:cNvSpPr txBox="1"/>
          <p:nvPr/>
        </p:nvSpPr>
        <p:spPr>
          <a:xfrm>
            <a:off x="3246120" y="3931920"/>
            <a:ext cx="2011680" cy="274320"/>
          </a:xfrm>
          <a:prstGeom prst="rect">
            <a:avLst/>
          </a:prstGeom>
          <a:noFill/>
          <a:ln/>
        </p:spPr>
        <p:txBody>
          <a:bodyPr wrap="square" lIns="0" tIns="0" rIns="0" bIns="0" rtlCol="0" anchor="t"/>
          <a:lstStyle/>
          <a:p>
            <a:pPr marL="0" indent="0">
              <a:buNone/>
            </a:pPr>
            <a:r>
              <a:rPr lang="en-US" sz="1000" dirty="0">
                <a:solidFill>
                  <a:srgbClr val="765044"/>
                </a:solidFill>
                <a:latin typeface="Calibri" pitchFamily="34" charset="0"/>
                <a:ea typeface="Calibri" pitchFamily="34" charset="-122"/>
                <a:cs typeface="Calibri" pitchFamily="34" charset="-120"/>
              </a:rPr>
              <a:t>Google Fonts · loaded by the site</a:t>
            </a:r>
            <a:endParaRPr lang="en-US" sz="1000" dirty="0"/>
          </a:p>
        </p:txBody>
      </p:sp>
      <p:sp>
        <p:nvSpPr>
          <p:cNvPr id="23" name="A4w"/>
          <p:cNvSpPr/>
          <p:nvPr/>
        </p:nvSpPr>
        <p:spPr>
          <a:xfrm>
            <a:off x="5632704" y="1280160"/>
            <a:ext cx="3090672" cy="2203945"/>
          </a:xfrm>
          <a:prstGeom prst="roundRect">
            <a:avLst>
              <a:gd name="adj" fmla="val 3319"/>
            </a:avLst>
          </a:prstGeom>
          <a:solidFill>
            <a:srgbClr val="FFFFFF"/>
          </a:solidFill>
          <a:ln w="12700">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4" name="Shape 21"/>
          <p:cNvSpPr/>
          <p:nvPr/>
        </p:nvSpPr>
        <p:spPr>
          <a:xfrm>
            <a:off x="5742432" y="1371600"/>
            <a:ext cx="82296" cy="82296"/>
          </a:xfrm>
          <a:prstGeom prst="ellipse">
            <a:avLst/>
          </a:prstGeom>
          <a:solidFill>
            <a:srgbClr val="D99587"/>
          </a:solidFill>
          <a:ln w="12700">
            <a:solidFill>
              <a:srgbClr val="FFFFFF"/>
            </a:solidFill>
            <a:prstDash val="solid"/>
          </a:ln>
        </p:spPr>
        <p:txBody>
          <a:bodyPr/>
          <a:lstStyle/>
          <a:p>
            <a:endParaRPr lang="en-US"/>
          </a:p>
        </p:txBody>
      </p:sp>
      <p:sp>
        <p:nvSpPr>
          <p:cNvPr id="25" name="Shape 22"/>
          <p:cNvSpPr/>
          <p:nvPr/>
        </p:nvSpPr>
        <p:spPr>
          <a:xfrm>
            <a:off x="5870448" y="1371600"/>
            <a:ext cx="82296" cy="82296"/>
          </a:xfrm>
          <a:prstGeom prst="ellipse">
            <a:avLst/>
          </a:prstGeom>
          <a:solidFill>
            <a:srgbClr val="D8B779"/>
          </a:solidFill>
          <a:ln w="12700">
            <a:solidFill>
              <a:srgbClr val="FFFFFF"/>
            </a:solidFill>
            <a:prstDash val="solid"/>
          </a:ln>
        </p:spPr>
        <p:txBody>
          <a:bodyPr/>
          <a:lstStyle/>
          <a:p>
            <a:endParaRPr lang="en-US"/>
          </a:p>
        </p:txBody>
      </p:sp>
      <p:sp>
        <p:nvSpPr>
          <p:cNvPr id="26" name="Shape 23"/>
          <p:cNvSpPr/>
          <p:nvPr/>
        </p:nvSpPr>
        <p:spPr>
          <a:xfrm>
            <a:off x="5998464" y="1371600"/>
            <a:ext cx="82296" cy="82296"/>
          </a:xfrm>
          <a:prstGeom prst="ellipse">
            <a:avLst/>
          </a:prstGeom>
          <a:solidFill>
            <a:srgbClr val="F2C4B5"/>
          </a:solidFill>
          <a:ln w="12700">
            <a:solidFill>
              <a:srgbClr val="FFFFFF"/>
            </a:solidFill>
            <a:prstDash val="solid"/>
          </a:ln>
        </p:spPr>
        <p:txBody>
          <a:bodyPr/>
          <a:lstStyle/>
          <a:p>
            <a:endParaRPr lang="en-US"/>
          </a:p>
        </p:txBody>
      </p:sp>
      <p:pic>
        <p:nvPicPr>
          <p:cNvPr id="27" name="A4wimg" descr="/home/claude/img/dark.jpg"/>
          <p:cNvPicPr>
            <a:picLocks noChangeAspect="1"/>
          </p:cNvPicPr>
          <p:nvPr/>
        </p:nvPicPr>
        <p:blipFill>
          <a:blip r:embed="rId4"/>
          <a:stretch>
            <a:fillRect/>
          </a:stretch>
        </p:blipFill>
        <p:spPr>
          <a:xfrm>
            <a:off x="5669280" y="1554480"/>
            <a:ext cx="3017520" cy="1893049"/>
          </a:xfrm>
          <a:prstGeom prst="rect">
            <a:avLst/>
          </a:prstGeom>
        </p:spPr>
      </p:pic>
      <p:sp>
        <p:nvSpPr>
          <p:cNvPr id="28" name="A5f_p0"/>
          <p:cNvSpPr/>
          <p:nvPr/>
        </p:nvSpPr>
        <p:spPr>
          <a:xfrm>
            <a:off x="5669280" y="3611880"/>
            <a:ext cx="146304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29" name="A5f_q0"/>
          <p:cNvSpPr txBox="1"/>
          <p:nvPr/>
        </p:nvSpPr>
        <p:spPr>
          <a:xfrm>
            <a:off x="5669280" y="3611880"/>
            <a:ext cx="1463040" cy="310896"/>
          </a:xfrm>
          <a:prstGeom prst="rect">
            <a:avLst/>
          </a:prstGeom>
          <a:noFill/>
          <a:ln/>
        </p:spPr>
        <p:txBody>
          <a:bodyPr wrap="square" lIns="0" tIns="0" rIns="0" bIns="0" rtlCol="0" anchor="ctr"/>
          <a:lstStyle/>
          <a:p>
            <a:pPr marL="0" indent="0" algn="ctr">
              <a:buNone/>
            </a:pPr>
            <a:r>
              <a:rPr lang="en-US" sz="1000" b="1" dirty="0">
                <a:solidFill>
                  <a:srgbClr val="3D2925"/>
                </a:solidFill>
                <a:latin typeface="Calibri" pitchFamily="34" charset="0"/>
                <a:ea typeface="Calibri" pitchFamily="34" charset="-122"/>
                <a:cs typeface="Calibri" pitchFamily="34" charset="-120"/>
              </a:rPr>
              <a:t>Responsive layout</a:t>
            </a:r>
            <a:endParaRPr lang="en-US" sz="1000" dirty="0"/>
          </a:p>
        </p:txBody>
      </p:sp>
      <p:sp>
        <p:nvSpPr>
          <p:cNvPr id="30" name="A5f_p1"/>
          <p:cNvSpPr/>
          <p:nvPr/>
        </p:nvSpPr>
        <p:spPr>
          <a:xfrm>
            <a:off x="7196328" y="3611880"/>
            <a:ext cx="146304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1" name="A5f_q1"/>
          <p:cNvSpPr txBox="1"/>
          <p:nvPr/>
        </p:nvSpPr>
        <p:spPr>
          <a:xfrm>
            <a:off x="7196328" y="3611880"/>
            <a:ext cx="1463040" cy="310896"/>
          </a:xfrm>
          <a:prstGeom prst="rect">
            <a:avLst/>
          </a:prstGeom>
          <a:noFill/>
          <a:ln/>
        </p:spPr>
        <p:txBody>
          <a:bodyPr wrap="square" lIns="0" tIns="0" rIns="0" bIns="0" rtlCol="0" anchor="ctr"/>
          <a:lstStyle/>
          <a:p>
            <a:pPr marL="0" indent="0" algn="ctr">
              <a:buNone/>
            </a:pPr>
            <a:r>
              <a:rPr lang="en-US" sz="1000" b="1" dirty="0">
                <a:solidFill>
                  <a:srgbClr val="3D2925"/>
                </a:solidFill>
                <a:latin typeface="Calibri" pitchFamily="34" charset="0"/>
                <a:ea typeface="Calibri" pitchFamily="34" charset="-122"/>
                <a:cs typeface="Calibri" pitchFamily="34" charset="-120"/>
              </a:rPr>
              <a:t>Light / dark theme</a:t>
            </a:r>
            <a:endParaRPr lang="en-US" sz="1000" dirty="0"/>
          </a:p>
        </p:txBody>
      </p:sp>
      <p:sp>
        <p:nvSpPr>
          <p:cNvPr id="32" name="A5f_p2"/>
          <p:cNvSpPr/>
          <p:nvPr/>
        </p:nvSpPr>
        <p:spPr>
          <a:xfrm>
            <a:off x="5669280" y="3995928"/>
            <a:ext cx="146304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3" name="A5f_q2"/>
          <p:cNvSpPr txBox="1"/>
          <p:nvPr/>
        </p:nvSpPr>
        <p:spPr>
          <a:xfrm>
            <a:off x="5669280" y="3995928"/>
            <a:ext cx="1463040" cy="310896"/>
          </a:xfrm>
          <a:prstGeom prst="rect">
            <a:avLst/>
          </a:prstGeom>
          <a:noFill/>
          <a:ln/>
        </p:spPr>
        <p:txBody>
          <a:bodyPr wrap="square" lIns="0" tIns="0" rIns="0" bIns="0" rtlCol="0" anchor="ctr"/>
          <a:lstStyle/>
          <a:p>
            <a:pPr marL="0" indent="0" algn="ctr">
              <a:buNone/>
            </a:pPr>
            <a:r>
              <a:rPr lang="en-US" sz="1000" b="1" dirty="0">
                <a:solidFill>
                  <a:srgbClr val="3D2925"/>
                </a:solidFill>
                <a:latin typeface="Calibri" pitchFamily="34" charset="0"/>
                <a:ea typeface="Calibri" pitchFamily="34" charset="-122"/>
                <a:cs typeface="Calibri" pitchFamily="34" charset="-120"/>
              </a:rPr>
              <a:t>Accessible (ARIA, skip link)</a:t>
            </a:r>
            <a:endParaRPr lang="en-US" sz="1000" dirty="0"/>
          </a:p>
        </p:txBody>
      </p:sp>
      <p:sp>
        <p:nvSpPr>
          <p:cNvPr id="34" name="A5f_p3"/>
          <p:cNvSpPr/>
          <p:nvPr/>
        </p:nvSpPr>
        <p:spPr>
          <a:xfrm>
            <a:off x="7196328" y="3995928"/>
            <a:ext cx="146304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5" name="A5f_q3"/>
          <p:cNvSpPr txBox="1"/>
          <p:nvPr/>
        </p:nvSpPr>
        <p:spPr>
          <a:xfrm>
            <a:off x="7196328" y="3995928"/>
            <a:ext cx="1463040" cy="310896"/>
          </a:xfrm>
          <a:prstGeom prst="rect">
            <a:avLst/>
          </a:prstGeom>
          <a:noFill/>
          <a:ln/>
        </p:spPr>
        <p:txBody>
          <a:bodyPr wrap="square" lIns="0" tIns="0" rIns="0" bIns="0" rtlCol="0" anchor="ctr"/>
          <a:lstStyle/>
          <a:p>
            <a:pPr marL="0" indent="0" algn="ctr">
              <a:buNone/>
            </a:pPr>
            <a:r>
              <a:rPr lang="en-US" sz="1000" b="1" dirty="0">
                <a:solidFill>
                  <a:srgbClr val="3D2925"/>
                </a:solidFill>
                <a:latin typeface="Calibri" pitchFamily="34" charset="0"/>
                <a:ea typeface="Calibri" pitchFamily="34" charset="-122"/>
                <a:cs typeface="Calibri" pitchFamily="34" charset="-120"/>
              </a:rPr>
              <a:t>Consistent navigation</a:t>
            </a:r>
            <a:endParaRPr lang="en-US" sz="1000" dirty="0"/>
          </a:p>
        </p:txBody>
      </p:sp>
      <p:sp>
        <p:nvSpPr>
          <p:cNvPr id="36"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nodeType="click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6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2"/>
                                        </p:tgtEl>
                                        <p:attrNameLst>
                                          <p:attrName>style.visibility</p:attrName>
                                        </p:attrNameLst>
                                      </p:cBhvr>
                                      <p:to>
                                        <p:strVal val="visible"/>
                                      </p:to>
                                    </p:set>
                                    <p:animEffect transition="in" filter="fade">
                                      <p:cBhvr>
                                        <p:cTn id="65" dur="600"/>
                                        <p:tgtEl>
                                          <p:spTgt spid="22"/>
                                        </p:tgtEl>
                                      </p:cBhvr>
                                    </p:animEffect>
                                  </p:childTnLst>
                                </p:cTn>
                              </p:par>
                            </p:childTnLst>
                          </p:cTn>
                        </p:par>
                      </p:childTnLst>
                    </p:cTn>
                  </p:par>
                  <p:par>
                    <p:cTn id="66" fill="hold">
                      <p:stCondLst>
                        <p:cond delay="indefinite"/>
                      </p:stCondLst>
                      <p:childTnLst>
                        <p:par>
                          <p:cTn id="67" fill="hold">
                            <p:stCondLst>
                              <p:cond delay="0"/>
                            </p:stCondLst>
                            <p:childTnLst>
                              <p:par>
                                <p:cTn id="68" presetID="22" presetClass="entr" presetSubtype="8" fill="hold" nodeType="click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wipe(left)">
                                      <p:cBhvr>
                                        <p:cTn id="70" dur="800"/>
                                        <p:tgtEl>
                                          <p:spTgt spid="23"/>
                                        </p:tgtEl>
                                      </p:cBhvr>
                                    </p:animEffect>
                                  </p:childTnLst>
                                </p:cTn>
                              </p:par>
                              <p:par>
                                <p:cTn id="71" presetID="22" presetClass="entr" presetSubtype="8" fill="hold" nodeType="withEffect">
                                  <p:stCondLst>
                                    <p:cond delay="0"/>
                                  </p:stCondLst>
                                  <p:childTnLst>
                                    <p:set>
                                      <p:cBhvr>
                                        <p:cTn id="72" dur="1" fill="hold">
                                          <p:stCondLst>
                                            <p:cond delay="0"/>
                                          </p:stCondLst>
                                        </p:cTn>
                                        <p:tgtEl>
                                          <p:spTgt spid="27"/>
                                        </p:tgtEl>
                                        <p:attrNameLst>
                                          <p:attrName>style.visibility</p:attrName>
                                        </p:attrNameLst>
                                      </p:cBhvr>
                                      <p:to>
                                        <p:strVal val="visible"/>
                                      </p:to>
                                    </p:set>
                                    <p:animEffect transition="in" filter="wipe(left)">
                                      <p:cBhvr>
                                        <p:cTn id="73" dur="800"/>
                                        <p:tgtEl>
                                          <p:spTgt spid="27"/>
                                        </p:tgtEl>
                                      </p:cBhvr>
                                    </p:animEffect>
                                  </p:childTnLst>
                                </p:cTn>
                              </p:par>
                            </p:childTnLst>
                          </p:cTn>
                        </p:par>
                      </p:childTnLst>
                    </p:cTn>
                  </p:par>
                  <p:par>
                    <p:cTn id="74" fill="hold">
                      <p:stCondLst>
                        <p:cond delay="indefinite"/>
                      </p:stCondLst>
                      <p:childTnLst>
                        <p:par>
                          <p:cTn id="75" fill="hold">
                            <p:stCondLst>
                              <p:cond delay="0"/>
                            </p:stCondLst>
                            <p:childTnLst>
                              <p:par>
                                <p:cTn id="76" presetID="10" presetClass="entr" presetSubtype="0" fill="hold" nodeType="click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600"/>
                                        <p:tgtEl>
                                          <p:spTgt spid="28"/>
                                        </p:tgtEl>
                                      </p:cBhvr>
                                    </p:animEffect>
                                  </p:childTnLst>
                                </p:cTn>
                              </p:par>
                              <p:par>
                                <p:cTn id="79" presetID="10" presetClass="entr" presetSubtype="0" fill="hold"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600"/>
                                        <p:tgtEl>
                                          <p:spTgt spid="29"/>
                                        </p:tgtEl>
                                      </p:cBhvr>
                                    </p:animEffect>
                                  </p:childTnLst>
                                </p:cTn>
                              </p:par>
                              <p:par>
                                <p:cTn id="82" presetID="10" presetClass="entr" presetSubtype="0" fill="hold"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600"/>
                                        <p:tgtEl>
                                          <p:spTgt spid="30"/>
                                        </p:tgtEl>
                                      </p:cBhvr>
                                    </p:animEffect>
                                  </p:childTnLst>
                                </p:cTn>
                              </p:par>
                              <p:par>
                                <p:cTn id="85" presetID="10" presetClass="entr" presetSubtype="0" fill="hold"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600"/>
                                        <p:tgtEl>
                                          <p:spTgt spid="31"/>
                                        </p:tgtEl>
                                      </p:cBhvr>
                                    </p:animEffect>
                                  </p:childTnLst>
                                </p:cTn>
                              </p:par>
                              <p:par>
                                <p:cTn id="88" presetID="10" presetClass="entr" presetSubtype="0" fill="hold"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600"/>
                                        <p:tgtEl>
                                          <p:spTgt spid="32"/>
                                        </p:tgtEl>
                                      </p:cBhvr>
                                    </p:animEffect>
                                  </p:childTnLst>
                                </p:cTn>
                              </p:par>
                              <p:par>
                                <p:cTn id="91" presetID="10" presetClass="entr" presetSubtype="0" fill="hold"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600"/>
                                        <p:tgtEl>
                                          <p:spTgt spid="33"/>
                                        </p:tgtEl>
                                      </p:cBhvr>
                                    </p:animEffect>
                                  </p:childTnLst>
                                </p:cTn>
                              </p:par>
                              <p:par>
                                <p:cTn id="94" presetID="10" presetClass="entr" presetSubtype="0" fill="hold"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600"/>
                                        <p:tgtEl>
                                          <p:spTgt spid="34"/>
                                        </p:tgtEl>
                                      </p:cBhvr>
                                    </p:animEffect>
                                  </p:childTnLst>
                                </p:cTn>
                              </p:par>
                              <p:par>
                                <p:cTn id="97" presetID="10" presetClass="entr" presetSubtype="0" fill="hold"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6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HOMEPAGE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The homepage experience</a:t>
            </a:r>
            <a:endParaRPr lang="en-US" sz="3200" dirty="0"/>
          </a:p>
        </p:txBody>
      </p:sp>
      <p:sp>
        <p:nvSpPr>
          <p:cNvPr id="4" name="A1w"/>
          <p:cNvSpPr/>
          <p:nvPr/>
        </p:nvSpPr>
        <p:spPr>
          <a:xfrm>
            <a:off x="420624" y="1097280"/>
            <a:ext cx="4919472" cy="3351247"/>
          </a:xfrm>
          <a:prstGeom prst="roundRect">
            <a:avLst>
              <a:gd name="adj" fmla="val 2183"/>
            </a:avLst>
          </a:prstGeom>
          <a:solidFill>
            <a:srgbClr val="FFFFFF"/>
          </a:solidFill>
          <a:ln w="12700">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5" name="Shape 3"/>
          <p:cNvSpPr/>
          <p:nvPr/>
        </p:nvSpPr>
        <p:spPr>
          <a:xfrm>
            <a:off x="530352" y="1188720"/>
            <a:ext cx="82296" cy="82296"/>
          </a:xfrm>
          <a:prstGeom prst="ellipse">
            <a:avLst/>
          </a:prstGeom>
          <a:solidFill>
            <a:srgbClr val="D99587"/>
          </a:solidFill>
          <a:ln w="12700">
            <a:solidFill>
              <a:srgbClr val="FFFFFF"/>
            </a:solidFill>
            <a:prstDash val="solid"/>
          </a:ln>
        </p:spPr>
        <p:txBody>
          <a:bodyPr/>
          <a:lstStyle/>
          <a:p>
            <a:endParaRPr lang="en-US"/>
          </a:p>
        </p:txBody>
      </p:sp>
      <p:sp>
        <p:nvSpPr>
          <p:cNvPr id="6" name="Shape 4"/>
          <p:cNvSpPr/>
          <p:nvPr/>
        </p:nvSpPr>
        <p:spPr>
          <a:xfrm>
            <a:off x="658368" y="1188720"/>
            <a:ext cx="82296" cy="82296"/>
          </a:xfrm>
          <a:prstGeom prst="ellipse">
            <a:avLst/>
          </a:prstGeom>
          <a:solidFill>
            <a:srgbClr val="D8B779"/>
          </a:solidFill>
          <a:ln w="12700">
            <a:solidFill>
              <a:srgbClr val="FFFFFF"/>
            </a:solidFill>
            <a:prstDash val="solid"/>
          </a:ln>
        </p:spPr>
        <p:txBody>
          <a:bodyPr/>
          <a:lstStyle/>
          <a:p>
            <a:endParaRPr lang="en-US"/>
          </a:p>
        </p:txBody>
      </p:sp>
      <p:sp>
        <p:nvSpPr>
          <p:cNvPr id="7" name="Shape 5"/>
          <p:cNvSpPr/>
          <p:nvPr/>
        </p:nvSpPr>
        <p:spPr>
          <a:xfrm>
            <a:off x="786384" y="1188720"/>
            <a:ext cx="82296" cy="82296"/>
          </a:xfrm>
          <a:prstGeom prst="ellipse">
            <a:avLst/>
          </a:prstGeom>
          <a:solidFill>
            <a:srgbClr val="F2C4B5"/>
          </a:solidFill>
          <a:ln w="12700">
            <a:solidFill>
              <a:srgbClr val="FFFFFF"/>
            </a:solidFill>
            <a:prstDash val="solid"/>
          </a:ln>
        </p:spPr>
        <p:txBody>
          <a:bodyPr/>
          <a:lstStyle/>
          <a:p>
            <a:endParaRPr lang="en-US"/>
          </a:p>
        </p:txBody>
      </p:sp>
      <p:pic>
        <p:nvPicPr>
          <p:cNvPr id="8" name="A1wimg" descr="/home/claude/img/home.jpg"/>
          <p:cNvPicPr>
            <a:picLocks noChangeAspect="1"/>
          </p:cNvPicPr>
          <p:nvPr/>
        </p:nvPicPr>
        <p:blipFill>
          <a:blip r:embed="rId3"/>
          <a:stretch>
            <a:fillRect/>
          </a:stretch>
        </p:blipFill>
        <p:spPr>
          <a:xfrm>
            <a:off x="457200" y="1371600"/>
            <a:ext cx="4846320" cy="3040351"/>
          </a:xfrm>
          <a:prstGeom prst="rect">
            <a:avLst/>
          </a:prstGeom>
        </p:spPr>
      </p:pic>
      <p:sp>
        <p:nvSpPr>
          <p:cNvPr id="9" name="A2f_p0"/>
          <p:cNvSpPr/>
          <p:nvPr/>
        </p:nvSpPr>
        <p:spPr>
          <a:xfrm>
            <a:off x="602590" y="1541561"/>
            <a:ext cx="237744" cy="237744"/>
          </a:xfrm>
          <a:prstGeom prst="ellipse">
            <a:avLst/>
          </a:prstGeom>
          <a:solidFill>
            <a:srgbClr val="B06A59"/>
          </a:solidFill>
          <a:ln w="12700">
            <a:solidFill>
              <a:srgbClr val="FFFFFF"/>
            </a:solidFill>
            <a:prstDash val="solid"/>
          </a:ln>
        </p:spPr>
        <p:txBody>
          <a:bodyPr/>
          <a:lstStyle/>
          <a:p>
            <a:endParaRPr lang="en-US"/>
          </a:p>
        </p:txBody>
      </p:sp>
      <p:sp>
        <p:nvSpPr>
          <p:cNvPr id="10" name="A2f_pn0"/>
          <p:cNvSpPr txBox="1"/>
          <p:nvPr/>
        </p:nvSpPr>
        <p:spPr>
          <a:xfrm>
            <a:off x="602590" y="1541561"/>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1" name="A3f_p1"/>
          <p:cNvSpPr/>
          <p:nvPr/>
        </p:nvSpPr>
        <p:spPr>
          <a:xfrm>
            <a:off x="4237330" y="1328737"/>
            <a:ext cx="237744" cy="237744"/>
          </a:xfrm>
          <a:prstGeom prst="ellipse">
            <a:avLst/>
          </a:prstGeom>
          <a:solidFill>
            <a:srgbClr val="B06A59"/>
          </a:solidFill>
          <a:ln w="12700">
            <a:solidFill>
              <a:srgbClr val="FFFFFF"/>
            </a:solidFill>
            <a:prstDash val="solid"/>
          </a:ln>
        </p:spPr>
        <p:txBody>
          <a:bodyPr/>
          <a:lstStyle/>
          <a:p>
            <a:endParaRPr lang="en-US"/>
          </a:p>
        </p:txBody>
      </p:sp>
      <p:sp>
        <p:nvSpPr>
          <p:cNvPr id="12" name="A3f_pn1"/>
          <p:cNvSpPr txBox="1"/>
          <p:nvPr/>
        </p:nvSpPr>
        <p:spPr>
          <a:xfrm>
            <a:off x="4237330" y="1328737"/>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13" name="A4f_p2"/>
          <p:cNvSpPr/>
          <p:nvPr/>
        </p:nvSpPr>
        <p:spPr>
          <a:xfrm>
            <a:off x="602590" y="2529676"/>
            <a:ext cx="237744" cy="237744"/>
          </a:xfrm>
          <a:prstGeom prst="ellipse">
            <a:avLst/>
          </a:prstGeom>
          <a:solidFill>
            <a:srgbClr val="B06A59"/>
          </a:solidFill>
          <a:ln w="12700">
            <a:solidFill>
              <a:srgbClr val="FFFFFF"/>
            </a:solidFill>
            <a:prstDash val="solid"/>
          </a:ln>
        </p:spPr>
        <p:txBody>
          <a:bodyPr/>
          <a:lstStyle/>
          <a:p>
            <a:endParaRPr lang="en-US"/>
          </a:p>
        </p:txBody>
      </p:sp>
      <p:sp>
        <p:nvSpPr>
          <p:cNvPr id="14" name="A4f_pn2"/>
          <p:cNvSpPr txBox="1"/>
          <p:nvPr/>
        </p:nvSpPr>
        <p:spPr>
          <a:xfrm>
            <a:off x="602590" y="2529676"/>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15" name="A5f_p3"/>
          <p:cNvSpPr/>
          <p:nvPr/>
        </p:nvSpPr>
        <p:spPr>
          <a:xfrm>
            <a:off x="4334256" y="2620886"/>
            <a:ext cx="237744" cy="237744"/>
          </a:xfrm>
          <a:prstGeom prst="ellipse">
            <a:avLst/>
          </a:prstGeom>
          <a:solidFill>
            <a:srgbClr val="B06A59"/>
          </a:solidFill>
          <a:ln w="12700">
            <a:solidFill>
              <a:srgbClr val="FFFFFF"/>
            </a:solidFill>
            <a:prstDash val="solid"/>
          </a:ln>
        </p:spPr>
        <p:txBody>
          <a:bodyPr/>
          <a:lstStyle/>
          <a:p>
            <a:endParaRPr lang="en-US"/>
          </a:p>
        </p:txBody>
      </p:sp>
      <p:sp>
        <p:nvSpPr>
          <p:cNvPr id="16" name="A5f_pn3"/>
          <p:cNvSpPr txBox="1"/>
          <p:nvPr/>
        </p:nvSpPr>
        <p:spPr>
          <a:xfrm>
            <a:off x="4334256" y="2620886"/>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17" name="A6f_p4"/>
          <p:cNvSpPr/>
          <p:nvPr/>
        </p:nvSpPr>
        <p:spPr>
          <a:xfrm>
            <a:off x="602590" y="4125860"/>
            <a:ext cx="237744" cy="237744"/>
          </a:xfrm>
          <a:prstGeom prst="ellipse">
            <a:avLst/>
          </a:prstGeom>
          <a:solidFill>
            <a:srgbClr val="B06A59"/>
          </a:solidFill>
          <a:ln w="12700">
            <a:solidFill>
              <a:srgbClr val="FFFFFF"/>
            </a:solidFill>
            <a:prstDash val="solid"/>
          </a:ln>
        </p:spPr>
        <p:txBody>
          <a:bodyPr/>
          <a:lstStyle/>
          <a:p>
            <a:endParaRPr lang="en-US"/>
          </a:p>
        </p:txBody>
      </p:sp>
      <p:sp>
        <p:nvSpPr>
          <p:cNvPr id="18" name="A6f_pn4"/>
          <p:cNvSpPr txBox="1"/>
          <p:nvPr/>
        </p:nvSpPr>
        <p:spPr>
          <a:xfrm>
            <a:off x="602590" y="4125860"/>
            <a:ext cx="237744" cy="237744"/>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19" name="A2f_l0"/>
          <p:cNvSpPr/>
          <p:nvPr/>
        </p:nvSpPr>
        <p:spPr>
          <a:xfrm>
            <a:off x="5623560" y="1353312"/>
            <a:ext cx="256032" cy="256032"/>
          </a:xfrm>
          <a:prstGeom prst="ellipse">
            <a:avLst/>
          </a:prstGeom>
          <a:solidFill>
            <a:srgbClr val="B06A59"/>
          </a:solidFill>
          <a:ln w="12700">
            <a:solidFill>
              <a:srgbClr val="B06A59"/>
            </a:solidFill>
            <a:prstDash val="solid"/>
          </a:ln>
        </p:spPr>
        <p:txBody>
          <a:bodyPr/>
          <a:lstStyle/>
          <a:p>
            <a:endParaRPr lang="en-US"/>
          </a:p>
        </p:txBody>
      </p:sp>
      <p:sp>
        <p:nvSpPr>
          <p:cNvPr id="20" name="A2f_ln0"/>
          <p:cNvSpPr txBox="1"/>
          <p:nvPr/>
        </p:nvSpPr>
        <p:spPr>
          <a:xfrm>
            <a:off x="5623560" y="135331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21" name="A2f_lt0"/>
          <p:cNvSpPr txBox="1"/>
          <p:nvPr/>
        </p:nvSpPr>
        <p:spPr>
          <a:xfrm>
            <a:off x="6016752" y="1325880"/>
            <a:ext cx="2697480" cy="594360"/>
          </a:xfrm>
          <a:prstGeom prst="rect">
            <a:avLst/>
          </a:prstGeom>
          <a:noFill/>
          <a:ln/>
        </p:spPr>
        <p:txBody>
          <a:bodyPr wrap="square" lIns="0" tIns="0" rIns="0" bIns="0" rtlCol="0" anchor="t"/>
          <a:lstStyle/>
          <a:p>
            <a:pPr marL="0" indent="0">
              <a:buNone/>
            </a:pPr>
            <a:r>
              <a:rPr lang="en-US" sz="1300" b="1" dirty="0">
                <a:solidFill>
                  <a:srgbClr val="765044"/>
                </a:solidFill>
                <a:latin typeface="Calibri" pitchFamily="34" charset="0"/>
                <a:ea typeface="Calibri" pitchFamily="34" charset="-122"/>
                <a:cs typeface="Calibri" pitchFamily="34" charset="-120"/>
              </a:rPr>
              <a:t>Announcement bar</a:t>
            </a:r>
            <a:endParaRPr lang="en-US" sz="1300" dirty="0"/>
          </a:p>
          <a:p>
            <a:pPr marL="0" indent="0">
              <a:buNone/>
            </a:pPr>
            <a:r>
              <a:rPr lang="en-US" sz="1100" dirty="0">
                <a:solidFill>
                  <a:srgbClr val="3D2925"/>
                </a:solidFill>
                <a:latin typeface="Calibri" pitchFamily="34" charset="0"/>
                <a:ea typeface="Calibri" pitchFamily="34" charset="-122"/>
                <a:cs typeface="Calibri" pitchFamily="34" charset="-120"/>
              </a:rPr>
              <a:t>Free delivery from Rs. 5,000</a:t>
            </a:r>
            <a:endParaRPr lang="en-US" sz="1300" dirty="0"/>
          </a:p>
        </p:txBody>
      </p:sp>
      <p:sp>
        <p:nvSpPr>
          <p:cNvPr id="22" name="A3f_l1"/>
          <p:cNvSpPr/>
          <p:nvPr/>
        </p:nvSpPr>
        <p:spPr>
          <a:xfrm>
            <a:off x="5623560" y="1993392"/>
            <a:ext cx="256032" cy="256032"/>
          </a:xfrm>
          <a:prstGeom prst="ellipse">
            <a:avLst/>
          </a:prstGeom>
          <a:solidFill>
            <a:srgbClr val="B06A59"/>
          </a:solidFill>
          <a:ln w="12700">
            <a:solidFill>
              <a:srgbClr val="B06A59"/>
            </a:solidFill>
            <a:prstDash val="solid"/>
          </a:ln>
        </p:spPr>
        <p:txBody>
          <a:bodyPr/>
          <a:lstStyle/>
          <a:p>
            <a:endParaRPr lang="en-US"/>
          </a:p>
        </p:txBody>
      </p:sp>
      <p:sp>
        <p:nvSpPr>
          <p:cNvPr id="23" name="A3f_ln1"/>
          <p:cNvSpPr txBox="1"/>
          <p:nvPr/>
        </p:nvSpPr>
        <p:spPr>
          <a:xfrm>
            <a:off x="5623560" y="199339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2</a:t>
            </a:r>
            <a:endParaRPr lang="en-US" sz="1000" dirty="0"/>
          </a:p>
        </p:txBody>
      </p:sp>
      <p:sp>
        <p:nvSpPr>
          <p:cNvPr id="24" name="A3f_lt1"/>
          <p:cNvSpPr txBox="1"/>
          <p:nvPr/>
        </p:nvSpPr>
        <p:spPr>
          <a:xfrm>
            <a:off x="6016752" y="1965960"/>
            <a:ext cx="2697480" cy="594360"/>
          </a:xfrm>
          <a:prstGeom prst="rect">
            <a:avLst/>
          </a:prstGeom>
          <a:noFill/>
          <a:ln/>
        </p:spPr>
        <p:txBody>
          <a:bodyPr wrap="square" lIns="0" tIns="0" rIns="0" bIns="0" rtlCol="0" anchor="t"/>
          <a:lstStyle/>
          <a:p>
            <a:pPr marL="0" indent="0">
              <a:buNone/>
            </a:pPr>
            <a:r>
              <a:rPr lang="en-US" sz="1300" b="1" dirty="0">
                <a:solidFill>
                  <a:srgbClr val="765044"/>
                </a:solidFill>
                <a:latin typeface="Calibri" pitchFamily="34" charset="0"/>
                <a:ea typeface="Calibri" pitchFamily="34" charset="-122"/>
                <a:cs typeface="Calibri" pitchFamily="34" charset="-120"/>
              </a:rPr>
              <a:t>Navigation</a:t>
            </a:r>
            <a:endParaRPr lang="en-US" sz="1300" dirty="0"/>
          </a:p>
          <a:p>
            <a:pPr marL="0" indent="0">
              <a:buNone/>
            </a:pPr>
            <a:r>
              <a:rPr lang="en-US" sz="1100" dirty="0">
                <a:solidFill>
                  <a:srgbClr val="3D2925"/>
                </a:solidFill>
                <a:latin typeface="Calibri" pitchFamily="34" charset="0"/>
                <a:ea typeface="Calibri" pitchFamily="34" charset="-122"/>
                <a:cs typeface="Calibri" pitchFamily="34" charset="-120"/>
              </a:rPr>
              <a:t>Home · Menu · Offers · About Us · Gallery · Reviews · Contact</a:t>
            </a:r>
            <a:endParaRPr lang="en-US" sz="1300" dirty="0"/>
          </a:p>
        </p:txBody>
      </p:sp>
      <p:sp>
        <p:nvSpPr>
          <p:cNvPr id="25" name="A4f_l2"/>
          <p:cNvSpPr/>
          <p:nvPr/>
        </p:nvSpPr>
        <p:spPr>
          <a:xfrm>
            <a:off x="5623560" y="2633472"/>
            <a:ext cx="256032" cy="256032"/>
          </a:xfrm>
          <a:prstGeom prst="ellipse">
            <a:avLst/>
          </a:prstGeom>
          <a:solidFill>
            <a:srgbClr val="B06A59"/>
          </a:solidFill>
          <a:ln w="12700">
            <a:solidFill>
              <a:srgbClr val="B06A59"/>
            </a:solidFill>
            <a:prstDash val="solid"/>
          </a:ln>
        </p:spPr>
        <p:txBody>
          <a:bodyPr/>
          <a:lstStyle/>
          <a:p>
            <a:endParaRPr lang="en-US"/>
          </a:p>
        </p:txBody>
      </p:sp>
      <p:sp>
        <p:nvSpPr>
          <p:cNvPr id="26" name="A4f_ln2"/>
          <p:cNvSpPr txBox="1"/>
          <p:nvPr/>
        </p:nvSpPr>
        <p:spPr>
          <a:xfrm>
            <a:off x="5623560" y="263347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3</a:t>
            </a:r>
            <a:endParaRPr lang="en-US" sz="1000" dirty="0"/>
          </a:p>
        </p:txBody>
      </p:sp>
      <p:sp>
        <p:nvSpPr>
          <p:cNvPr id="27" name="A4f_lt2"/>
          <p:cNvSpPr txBox="1"/>
          <p:nvPr/>
        </p:nvSpPr>
        <p:spPr>
          <a:xfrm>
            <a:off x="6016752" y="2606040"/>
            <a:ext cx="2697480" cy="594360"/>
          </a:xfrm>
          <a:prstGeom prst="rect">
            <a:avLst/>
          </a:prstGeom>
          <a:noFill/>
          <a:ln/>
        </p:spPr>
        <p:txBody>
          <a:bodyPr wrap="square" lIns="0" tIns="0" rIns="0" bIns="0" rtlCol="0" anchor="t"/>
          <a:lstStyle/>
          <a:p>
            <a:pPr marL="0" indent="0">
              <a:buNone/>
            </a:pPr>
            <a:r>
              <a:rPr lang="en-US" sz="1300" b="1" dirty="0">
                <a:solidFill>
                  <a:srgbClr val="765044"/>
                </a:solidFill>
                <a:latin typeface="Calibri" pitchFamily="34" charset="0"/>
                <a:ea typeface="Calibri" pitchFamily="34" charset="-122"/>
                <a:cs typeface="Calibri" pitchFamily="34" charset="-120"/>
              </a:rPr>
              <a:t>Hero &amp; CTA</a:t>
            </a:r>
            <a:endParaRPr lang="en-US" sz="1300" dirty="0"/>
          </a:p>
          <a:p>
            <a:pPr marL="0" indent="0">
              <a:buNone/>
            </a:pPr>
            <a:r>
              <a:rPr lang="en-US" sz="1100" dirty="0">
                <a:solidFill>
                  <a:srgbClr val="3D2925"/>
                </a:solidFill>
                <a:latin typeface="Calibri" pitchFamily="34" charset="0"/>
                <a:ea typeface="Calibri" pitchFamily="34" charset="-122"/>
                <a:cs typeface="Calibri" pitchFamily="34" charset="-120"/>
              </a:rPr>
              <a:t>“Explore Our Menu” / “Discover Our Story”</a:t>
            </a:r>
            <a:endParaRPr lang="en-US" sz="1300" dirty="0"/>
          </a:p>
        </p:txBody>
      </p:sp>
      <p:sp>
        <p:nvSpPr>
          <p:cNvPr id="28" name="A5f_l3"/>
          <p:cNvSpPr/>
          <p:nvPr/>
        </p:nvSpPr>
        <p:spPr>
          <a:xfrm>
            <a:off x="5623560" y="3273552"/>
            <a:ext cx="256032" cy="256032"/>
          </a:xfrm>
          <a:prstGeom prst="ellipse">
            <a:avLst/>
          </a:prstGeom>
          <a:solidFill>
            <a:srgbClr val="B06A59"/>
          </a:solidFill>
          <a:ln w="12700">
            <a:solidFill>
              <a:srgbClr val="B06A59"/>
            </a:solidFill>
            <a:prstDash val="solid"/>
          </a:ln>
        </p:spPr>
        <p:txBody>
          <a:bodyPr/>
          <a:lstStyle/>
          <a:p>
            <a:endParaRPr lang="en-US"/>
          </a:p>
        </p:txBody>
      </p:sp>
      <p:sp>
        <p:nvSpPr>
          <p:cNvPr id="29" name="A5f_ln3"/>
          <p:cNvSpPr txBox="1"/>
          <p:nvPr/>
        </p:nvSpPr>
        <p:spPr>
          <a:xfrm>
            <a:off x="5623560" y="327355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4</a:t>
            </a:r>
            <a:endParaRPr lang="en-US" sz="1000" dirty="0"/>
          </a:p>
        </p:txBody>
      </p:sp>
      <p:sp>
        <p:nvSpPr>
          <p:cNvPr id="30" name="A5f_lt3"/>
          <p:cNvSpPr txBox="1"/>
          <p:nvPr/>
        </p:nvSpPr>
        <p:spPr>
          <a:xfrm>
            <a:off x="6016752" y="3246120"/>
            <a:ext cx="2697480" cy="594360"/>
          </a:xfrm>
          <a:prstGeom prst="rect">
            <a:avLst/>
          </a:prstGeom>
          <a:noFill/>
          <a:ln/>
        </p:spPr>
        <p:txBody>
          <a:bodyPr wrap="square" lIns="0" tIns="0" rIns="0" bIns="0" rtlCol="0" anchor="t"/>
          <a:lstStyle/>
          <a:p>
            <a:pPr marL="0" indent="0">
              <a:buNone/>
            </a:pPr>
            <a:r>
              <a:rPr lang="en-US" sz="1300" b="1" dirty="0">
                <a:solidFill>
                  <a:srgbClr val="765044"/>
                </a:solidFill>
                <a:latin typeface="Calibri" pitchFamily="34" charset="0"/>
                <a:ea typeface="Calibri" pitchFamily="34" charset="-122"/>
                <a:cs typeface="Calibri" pitchFamily="34" charset="-120"/>
              </a:rPr>
              <a:t>Hero imagery</a:t>
            </a:r>
            <a:endParaRPr lang="en-US" sz="1300" dirty="0"/>
          </a:p>
          <a:p>
            <a:pPr marL="0" indent="0">
              <a:buNone/>
            </a:pPr>
            <a:r>
              <a:rPr lang="en-US" sz="1100" dirty="0">
                <a:solidFill>
                  <a:srgbClr val="3D2925"/>
                </a:solidFill>
                <a:latin typeface="Calibri" pitchFamily="34" charset="0"/>
                <a:ea typeface="Calibri" pitchFamily="34" charset="-122"/>
                <a:cs typeface="Calibri" pitchFamily="34" charset="-120"/>
              </a:rPr>
              <a:t>Café scene with stats strip</a:t>
            </a:r>
            <a:endParaRPr lang="en-US" sz="1300" dirty="0"/>
          </a:p>
        </p:txBody>
      </p:sp>
      <p:sp>
        <p:nvSpPr>
          <p:cNvPr id="31" name="A6f_l4"/>
          <p:cNvSpPr/>
          <p:nvPr/>
        </p:nvSpPr>
        <p:spPr>
          <a:xfrm>
            <a:off x="5623560" y="3913632"/>
            <a:ext cx="256032" cy="256032"/>
          </a:xfrm>
          <a:prstGeom prst="ellipse">
            <a:avLst/>
          </a:prstGeom>
          <a:solidFill>
            <a:srgbClr val="B06A59"/>
          </a:solidFill>
          <a:ln w="12700">
            <a:solidFill>
              <a:srgbClr val="B06A59"/>
            </a:solidFill>
            <a:prstDash val="solid"/>
          </a:ln>
        </p:spPr>
        <p:txBody>
          <a:bodyPr/>
          <a:lstStyle/>
          <a:p>
            <a:endParaRPr lang="en-US"/>
          </a:p>
        </p:txBody>
      </p:sp>
      <p:sp>
        <p:nvSpPr>
          <p:cNvPr id="32" name="A6f_ln4"/>
          <p:cNvSpPr txBox="1"/>
          <p:nvPr/>
        </p:nvSpPr>
        <p:spPr>
          <a:xfrm>
            <a:off x="5623560" y="3913632"/>
            <a:ext cx="256032" cy="256032"/>
          </a:xfrm>
          <a:prstGeom prst="rect">
            <a:avLst/>
          </a:prstGeom>
          <a:noFill/>
          <a:ln/>
        </p:spPr>
        <p:txBody>
          <a:bodyPr wrap="square" lIns="0" tIns="0" rIns="0" bIns="0" rtlCol="0" anchor="ctr"/>
          <a:lstStyle/>
          <a:p>
            <a:pPr marL="0" indent="0" algn="ctr">
              <a:buNone/>
            </a:pPr>
            <a:r>
              <a:rPr lang="en-US" sz="1000" b="1" dirty="0">
                <a:solidFill>
                  <a:srgbClr val="FFFFFF"/>
                </a:solidFill>
                <a:latin typeface="Calibri" pitchFamily="34" charset="0"/>
                <a:ea typeface="Calibri" pitchFamily="34" charset="-122"/>
                <a:cs typeface="Calibri" pitchFamily="34" charset="-120"/>
              </a:rPr>
              <a:t>5</a:t>
            </a:r>
            <a:endParaRPr lang="en-US" sz="1000" dirty="0"/>
          </a:p>
        </p:txBody>
      </p:sp>
      <p:sp>
        <p:nvSpPr>
          <p:cNvPr id="33" name="A6f_lt4"/>
          <p:cNvSpPr txBox="1"/>
          <p:nvPr/>
        </p:nvSpPr>
        <p:spPr>
          <a:xfrm>
            <a:off x="6016752" y="3886200"/>
            <a:ext cx="2697480" cy="594360"/>
          </a:xfrm>
          <a:prstGeom prst="rect">
            <a:avLst/>
          </a:prstGeom>
          <a:noFill/>
          <a:ln/>
        </p:spPr>
        <p:txBody>
          <a:bodyPr wrap="square" lIns="0" tIns="0" rIns="0" bIns="0" rtlCol="0" anchor="t"/>
          <a:lstStyle/>
          <a:p>
            <a:pPr marL="0" indent="0">
              <a:buNone/>
            </a:pPr>
            <a:r>
              <a:rPr lang="en-US" sz="1300" b="1" dirty="0">
                <a:solidFill>
                  <a:srgbClr val="765044"/>
                </a:solidFill>
                <a:latin typeface="Calibri" pitchFamily="34" charset="0"/>
                <a:ea typeface="Calibri" pitchFamily="34" charset="-122"/>
                <a:cs typeface="Calibri" pitchFamily="34" charset="-120"/>
              </a:rPr>
              <a:t>Live ticker</a:t>
            </a:r>
            <a:endParaRPr lang="en-US" sz="1300" dirty="0"/>
          </a:p>
          <a:p>
            <a:pPr marL="0" indent="0">
              <a:buNone/>
            </a:pPr>
            <a:r>
              <a:rPr lang="en-US" sz="1100" dirty="0">
                <a:solidFill>
                  <a:srgbClr val="3D2925"/>
                </a:solidFill>
                <a:latin typeface="Calibri" pitchFamily="34" charset="0"/>
                <a:ea typeface="Calibri" pitchFamily="34" charset="-122"/>
                <a:cs typeface="Calibri" pitchFamily="34" charset="-120"/>
              </a:rPr>
              <a:t>Open/closed status, date &amp; time, location</a:t>
            </a:r>
            <a:endParaRPr lang="en-US" sz="1300" dirty="0"/>
          </a:p>
        </p:txBody>
      </p:sp>
      <p:sp>
        <p:nvSpPr>
          <p:cNvPr id="34" name="A7f"/>
          <p:cNvSpPr txBox="1"/>
          <p:nvPr/>
        </p:nvSpPr>
        <p:spPr>
          <a:xfrm>
            <a:off x="457200" y="4526280"/>
            <a:ext cx="8229600" cy="201168"/>
          </a:xfrm>
          <a:prstGeom prst="rect">
            <a:avLst/>
          </a:prstGeom>
          <a:noFill/>
          <a:ln/>
        </p:spPr>
        <p:txBody>
          <a:bodyPr wrap="square" lIns="0" tIns="0" rIns="0" bIns="0" rtlCol="0" anchor="t"/>
          <a:lstStyle/>
          <a:p>
            <a:pPr marL="0" indent="0">
              <a:buNone/>
            </a:pPr>
            <a:r>
              <a:rPr lang="en-US" sz="1100" i="1" dirty="0">
                <a:solidFill>
                  <a:srgbClr val="765044"/>
                </a:solidFill>
                <a:latin typeface="Calibri" pitchFamily="34" charset="0"/>
                <a:ea typeface="Calibri" pitchFamily="34" charset="-122"/>
                <a:cs typeface="Calibri" pitchFamily="34" charset="-120"/>
              </a:rPr>
              <a:t>Also: welcome intro with city chooser, featured products and customer reviews.</a:t>
            </a:r>
            <a:endParaRPr lang="en-US" sz="1100" dirty="0"/>
          </a:p>
        </p:txBody>
      </p:sp>
      <p:sp>
        <p:nvSpPr>
          <p:cNvPr id="3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800"/>
                                        <p:tgtEl>
                                          <p:spTgt spid="4"/>
                                        </p:tgtEl>
                                      </p:cBhvr>
                                    </p:animEffect>
                                  </p:childTnLst>
                                </p:cTn>
                              </p:par>
                              <p:par>
                                <p:cTn id="8" presetID="22" presetClass="entr" presetSubtype="8"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800"/>
                                        <p:tgtEl>
                                          <p:spTgt spid="8"/>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fade">
                                      <p:cBhvr>
                                        <p:cTn id="15" dur="600"/>
                                        <p:tgtEl>
                                          <p:spTgt spid="9"/>
                                        </p:tgtEl>
                                      </p:cBhvr>
                                    </p:animEffect>
                                  </p:childTnLst>
                                </p:cTn>
                              </p:par>
                              <p:par>
                                <p:cTn id="16" presetID="10" presetClass="entr" presetSubtype="0" fill="hold" nodeType="withEffect">
                                  <p:stCondLst>
                                    <p:cond delay="0"/>
                                  </p:stCondLst>
                                  <p:childTnLst>
                                    <p:set>
                                      <p:cBhvr>
                                        <p:cTn id="17" dur="1" fill="hold">
                                          <p:stCondLst>
                                            <p:cond delay="0"/>
                                          </p:stCondLst>
                                        </p:cTn>
                                        <p:tgtEl>
                                          <p:spTgt spid="10"/>
                                        </p:tgtEl>
                                        <p:attrNameLst>
                                          <p:attrName>style.visibility</p:attrName>
                                        </p:attrNameLst>
                                      </p:cBhvr>
                                      <p:to>
                                        <p:strVal val="visible"/>
                                      </p:to>
                                    </p:set>
                                    <p:animEffect transition="in" filter="fade">
                                      <p:cBhvr>
                                        <p:cTn id="18" dur="600"/>
                                        <p:tgtEl>
                                          <p:spTgt spid="10"/>
                                        </p:tgtEl>
                                      </p:cBhvr>
                                    </p:animEffect>
                                  </p:childTnLst>
                                </p:cTn>
                              </p:par>
                              <p:par>
                                <p:cTn id="19" presetID="10" presetClass="entr" presetSubtype="0" fill="hold" nodeType="withEffect">
                                  <p:stCondLst>
                                    <p:cond delay="0"/>
                                  </p:stCondLst>
                                  <p:childTnLst>
                                    <p:set>
                                      <p:cBhvr>
                                        <p:cTn id="20" dur="1" fill="hold">
                                          <p:stCondLst>
                                            <p:cond delay="0"/>
                                          </p:stCondLst>
                                        </p:cTn>
                                        <p:tgtEl>
                                          <p:spTgt spid="19"/>
                                        </p:tgtEl>
                                        <p:attrNameLst>
                                          <p:attrName>style.visibility</p:attrName>
                                        </p:attrNameLst>
                                      </p:cBhvr>
                                      <p:to>
                                        <p:strVal val="visible"/>
                                      </p:to>
                                    </p:set>
                                    <p:animEffect transition="in" filter="fade">
                                      <p:cBhvr>
                                        <p:cTn id="21" dur="600"/>
                                        <p:tgtEl>
                                          <p:spTgt spid="19"/>
                                        </p:tgtEl>
                                      </p:cBhvr>
                                    </p:animEffect>
                                  </p:childTnLst>
                                </p:cTn>
                              </p:par>
                              <p:par>
                                <p:cTn id="22" presetID="10" presetClass="entr" presetSubtype="0" fill="hold" nodeType="withEffect">
                                  <p:stCondLst>
                                    <p:cond delay="0"/>
                                  </p:stCondLst>
                                  <p:childTnLst>
                                    <p:set>
                                      <p:cBhvr>
                                        <p:cTn id="23" dur="1" fill="hold">
                                          <p:stCondLst>
                                            <p:cond delay="0"/>
                                          </p:stCondLst>
                                        </p:cTn>
                                        <p:tgtEl>
                                          <p:spTgt spid="20"/>
                                        </p:tgtEl>
                                        <p:attrNameLst>
                                          <p:attrName>style.visibility</p:attrName>
                                        </p:attrNameLst>
                                      </p:cBhvr>
                                      <p:to>
                                        <p:strVal val="visible"/>
                                      </p:to>
                                    </p:set>
                                    <p:animEffect transition="in" filter="fade">
                                      <p:cBhvr>
                                        <p:cTn id="24" dur="600"/>
                                        <p:tgtEl>
                                          <p:spTgt spid="20"/>
                                        </p:tgtEl>
                                      </p:cBhvr>
                                    </p:animEffect>
                                  </p:childTnLst>
                                </p:cTn>
                              </p:par>
                              <p:par>
                                <p:cTn id="25" presetID="10" presetClass="entr" presetSubtype="0" fill="hold" nodeType="withEffect">
                                  <p:stCondLst>
                                    <p:cond delay="0"/>
                                  </p:stCondLst>
                                  <p:childTnLst>
                                    <p:set>
                                      <p:cBhvr>
                                        <p:cTn id="26" dur="1" fill="hold">
                                          <p:stCondLst>
                                            <p:cond delay="0"/>
                                          </p:stCondLst>
                                        </p:cTn>
                                        <p:tgtEl>
                                          <p:spTgt spid="21"/>
                                        </p:tgtEl>
                                        <p:attrNameLst>
                                          <p:attrName>style.visibility</p:attrName>
                                        </p:attrNameLst>
                                      </p:cBhvr>
                                      <p:to>
                                        <p:strVal val="visible"/>
                                      </p:to>
                                    </p:set>
                                    <p:animEffect transition="in" filter="fade">
                                      <p:cBhvr>
                                        <p:cTn id="27" dur="600"/>
                                        <p:tgtEl>
                                          <p:spTgt spid="21"/>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par>
                                <p:cTn id="36" presetID="10" presetClass="entr" presetSubtype="0" fill="hold"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600"/>
                                        <p:tgtEl>
                                          <p:spTgt spid="22"/>
                                        </p:tgtEl>
                                      </p:cBhvr>
                                    </p:animEffect>
                                  </p:childTnLst>
                                </p:cTn>
                              </p:par>
                              <p:par>
                                <p:cTn id="39" presetID="10" presetClass="entr" presetSubtype="0" fill="hold"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600"/>
                                        <p:tgtEl>
                                          <p:spTgt spid="23"/>
                                        </p:tgtEl>
                                      </p:cBhvr>
                                    </p:animEffect>
                                  </p:childTnLst>
                                </p:cTn>
                              </p:par>
                              <p:par>
                                <p:cTn id="42" presetID="10" presetClass="entr" presetSubtype="0" fill="hold"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6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nodeType="clickEffect">
                                  <p:stCondLst>
                                    <p:cond delay="0"/>
                                  </p:stCondLst>
                                  <p:childTnLst>
                                    <p:set>
                                      <p:cBhvr>
                                        <p:cTn id="48" dur="1" fill="hold">
                                          <p:stCondLst>
                                            <p:cond delay="0"/>
                                          </p:stCondLst>
                                        </p:cTn>
                                        <p:tgtEl>
                                          <p:spTgt spid="13"/>
                                        </p:tgtEl>
                                        <p:attrNameLst>
                                          <p:attrName>style.visibility</p:attrName>
                                        </p:attrNameLst>
                                      </p:cBhvr>
                                      <p:to>
                                        <p:strVal val="visible"/>
                                      </p:to>
                                    </p:set>
                                    <p:animEffect transition="in" filter="fade">
                                      <p:cBhvr>
                                        <p:cTn id="49" dur="600"/>
                                        <p:tgtEl>
                                          <p:spTgt spid="13"/>
                                        </p:tgtEl>
                                      </p:cBhvr>
                                    </p:animEffect>
                                  </p:childTnLst>
                                </p:cTn>
                              </p:par>
                              <p:par>
                                <p:cTn id="50" presetID="10" presetClass="entr" presetSubtype="0" fill="hold" nodeType="withEffect">
                                  <p:stCondLst>
                                    <p:cond delay="0"/>
                                  </p:stCondLst>
                                  <p:childTnLst>
                                    <p:set>
                                      <p:cBhvr>
                                        <p:cTn id="51" dur="1" fill="hold">
                                          <p:stCondLst>
                                            <p:cond delay="0"/>
                                          </p:stCondLst>
                                        </p:cTn>
                                        <p:tgtEl>
                                          <p:spTgt spid="14"/>
                                        </p:tgtEl>
                                        <p:attrNameLst>
                                          <p:attrName>style.visibility</p:attrName>
                                        </p:attrNameLst>
                                      </p:cBhvr>
                                      <p:to>
                                        <p:strVal val="visible"/>
                                      </p:to>
                                    </p:set>
                                    <p:animEffect transition="in" filter="fade">
                                      <p:cBhvr>
                                        <p:cTn id="52" dur="600"/>
                                        <p:tgtEl>
                                          <p:spTgt spid="14"/>
                                        </p:tgtEl>
                                      </p:cBhvr>
                                    </p:animEffect>
                                  </p:childTnLst>
                                </p:cTn>
                              </p:par>
                              <p:par>
                                <p:cTn id="53" presetID="10" presetClass="entr" presetSubtype="0" fill="hold"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600"/>
                                        <p:tgtEl>
                                          <p:spTgt spid="25"/>
                                        </p:tgtEl>
                                      </p:cBhvr>
                                    </p:animEffect>
                                  </p:childTnLst>
                                </p:cTn>
                              </p:par>
                              <p:par>
                                <p:cTn id="56" presetID="10" presetClass="entr" presetSubtype="0" fill="hold"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600"/>
                                        <p:tgtEl>
                                          <p:spTgt spid="26"/>
                                        </p:tgtEl>
                                      </p:cBhvr>
                                    </p:animEffect>
                                  </p:childTnLst>
                                </p:cTn>
                              </p:par>
                              <p:par>
                                <p:cTn id="59" presetID="10" presetClass="entr" presetSubtype="0" fill="hold" nodeType="withEffect">
                                  <p:stCondLst>
                                    <p:cond delay="0"/>
                                  </p:stCondLst>
                                  <p:childTnLst>
                                    <p:set>
                                      <p:cBhvr>
                                        <p:cTn id="60" dur="1" fill="hold">
                                          <p:stCondLst>
                                            <p:cond delay="0"/>
                                          </p:stCondLst>
                                        </p:cTn>
                                        <p:tgtEl>
                                          <p:spTgt spid="27"/>
                                        </p:tgtEl>
                                        <p:attrNameLst>
                                          <p:attrName>style.visibility</p:attrName>
                                        </p:attrNameLst>
                                      </p:cBhvr>
                                      <p:to>
                                        <p:strVal val="visible"/>
                                      </p:to>
                                    </p:set>
                                    <p:animEffect transition="in" filter="fade">
                                      <p:cBhvr>
                                        <p:cTn id="61" dur="600"/>
                                        <p:tgtEl>
                                          <p:spTgt spid="2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15"/>
                                        </p:tgtEl>
                                        <p:attrNameLst>
                                          <p:attrName>style.visibility</p:attrName>
                                        </p:attrNameLst>
                                      </p:cBhvr>
                                      <p:to>
                                        <p:strVal val="visible"/>
                                      </p:to>
                                    </p:set>
                                    <p:animEffect transition="in" filter="fade">
                                      <p:cBhvr>
                                        <p:cTn id="66" dur="600"/>
                                        <p:tgtEl>
                                          <p:spTgt spid="15"/>
                                        </p:tgtEl>
                                      </p:cBhvr>
                                    </p:animEffect>
                                  </p:childTnLst>
                                </p:cTn>
                              </p:par>
                              <p:par>
                                <p:cTn id="67" presetID="10" presetClass="entr" presetSubtype="0" fill="hold" nodeType="withEffect">
                                  <p:stCondLst>
                                    <p:cond delay="0"/>
                                  </p:stCondLst>
                                  <p:childTnLst>
                                    <p:set>
                                      <p:cBhvr>
                                        <p:cTn id="68" dur="1" fill="hold">
                                          <p:stCondLst>
                                            <p:cond delay="0"/>
                                          </p:stCondLst>
                                        </p:cTn>
                                        <p:tgtEl>
                                          <p:spTgt spid="16"/>
                                        </p:tgtEl>
                                        <p:attrNameLst>
                                          <p:attrName>style.visibility</p:attrName>
                                        </p:attrNameLst>
                                      </p:cBhvr>
                                      <p:to>
                                        <p:strVal val="visible"/>
                                      </p:to>
                                    </p:set>
                                    <p:animEffect transition="in" filter="fade">
                                      <p:cBhvr>
                                        <p:cTn id="69" dur="600"/>
                                        <p:tgtEl>
                                          <p:spTgt spid="16"/>
                                        </p:tgtEl>
                                      </p:cBhvr>
                                    </p:animEffect>
                                  </p:childTnLst>
                                </p:cTn>
                              </p:par>
                              <p:par>
                                <p:cTn id="70" presetID="10" presetClass="entr" presetSubtype="0" fill="hold" nodeType="withEffect">
                                  <p:stCondLst>
                                    <p:cond delay="0"/>
                                  </p:stCondLst>
                                  <p:childTnLst>
                                    <p:set>
                                      <p:cBhvr>
                                        <p:cTn id="71" dur="1" fill="hold">
                                          <p:stCondLst>
                                            <p:cond delay="0"/>
                                          </p:stCondLst>
                                        </p:cTn>
                                        <p:tgtEl>
                                          <p:spTgt spid="28"/>
                                        </p:tgtEl>
                                        <p:attrNameLst>
                                          <p:attrName>style.visibility</p:attrName>
                                        </p:attrNameLst>
                                      </p:cBhvr>
                                      <p:to>
                                        <p:strVal val="visible"/>
                                      </p:to>
                                    </p:set>
                                    <p:animEffect transition="in" filter="fade">
                                      <p:cBhvr>
                                        <p:cTn id="72" dur="600"/>
                                        <p:tgtEl>
                                          <p:spTgt spid="28"/>
                                        </p:tgtEl>
                                      </p:cBhvr>
                                    </p:animEffect>
                                  </p:childTnLst>
                                </p:cTn>
                              </p:par>
                              <p:par>
                                <p:cTn id="73" presetID="10" presetClass="entr" presetSubtype="0" fill="hold" nodeType="withEffect">
                                  <p:stCondLst>
                                    <p:cond delay="0"/>
                                  </p:stCondLst>
                                  <p:childTnLst>
                                    <p:set>
                                      <p:cBhvr>
                                        <p:cTn id="74" dur="1" fill="hold">
                                          <p:stCondLst>
                                            <p:cond delay="0"/>
                                          </p:stCondLst>
                                        </p:cTn>
                                        <p:tgtEl>
                                          <p:spTgt spid="29"/>
                                        </p:tgtEl>
                                        <p:attrNameLst>
                                          <p:attrName>style.visibility</p:attrName>
                                        </p:attrNameLst>
                                      </p:cBhvr>
                                      <p:to>
                                        <p:strVal val="visible"/>
                                      </p:to>
                                    </p:set>
                                    <p:animEffect transition="in" filter="fade">
                                      <p:cBhvr>
                                        <p:cTn id="75" dur="600"/>
                                        <p:tgtEl>
                                          <p:spTgt spid="29"/>
                                        </p:tgtEl>
                                      </p:cBhvr>
                                    </p:animEffect>
                                  </p:childTnLst>
                                </p:cTn>
                              </p:par>
                              <p:par>
                                <p:cTn id="76" presetID="10" presetClass="entr" presetSubtype="0" fill="hold" nodeType="withEffect">
                                  <p:stCondLst>
                                    <p:cond delay="0"/>
                                  </p:stCondLst>
                                  <p:childTnLst>
                                    <p:set>
                                      <p:cBhvr>
                                        <p:cTn id="77" dur="1" fill="hold">
                                          <p:stCondLst>
                                            <p:cond delay="0"/>
                                          </p:stCondLst>
                                        </p:cTn>
                                        <p:tgtEl>
                                          <p:spTgt spid="30"/>
                                        </p:tgtEl>
                                        <p:attrNameLst>
                                          <p:attrName>style.visibility</p:attrName>
                                        </p:attrNameLst>
                                      </p:cBhvr>
                                      <p:to>
                                        <p:strVal val="visible"/>
                                      </p:to>
                                    </p:set>
                                    <p:animEffect transition="in" filter="fade">
                                      <p:cBhvr>
                                        <p:cTn id="78" dur="600"/>
                                        <p:tgtEl>
                                          <p:spTgt spid="30"/>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nodeType="clickEffect">
                                  <p:stCondLst>
                                    <p:cond delay="0"/>
                                  </p:stCondLst>
                                  <p:childTnLst>
                                    <p:set>
                                      <p:cBhvr>
                                        <p:cTn id="82" dur="1" fill="hold">
                                          <p:stCondLst>
                                            <p:cond delay="0"/>
                                          </p:stCondLst>
                                        </p:cTn>
                                        <p:tgtEl>
                                          <p:spTgt spid="17"/>
                                        </p:tgtEl>
                                        <p:attrNameLst>
                                          <p:attrName>style.visibility</p:attrName>
                                        </p:attrNameLst>
                                      </p:cBhvr>
                                      <p:to>
                                        <p:strVal val="visible"/>
                                      </p:to>
                                    </p:set>
                                    <p:animEffect transition="in" filter="fade">
                                      <p:cBhvr>
                                        <p:cTn id="83" dur="600"/>
                                        <p:tgtEl>
                                          <p:spTgt spid="17"/>
                                        </p:tgtEl>
                                      </p:cBhvr>
                                    </p:animEffect>
                                  </p:childTnLst>
                                </p:cTn>
                              </p:par>
                              <p:par>
                                <p:cTn id="84" presetID="10" presetClass="entr" presetSubtype="0" fill="hold" nodeType="withEffect">
                                  <p:stCondLst>
                                    <p:cond delay="0"/>
                                  </p:stCondLst>
                                  <p:childTnLst>
                                    <p:set>
                                      <p:cBhvr>
                                        <p:cTn id="85" dur="1" fill="hold">
                                          <p:stCondLst>
                                            <p:cond delay="0"/>
                                          </p:stCondLst>
                                        </p:cTn>
                                        <p:tgtEl>
                                          <p:spTgt spid="18"/>
                                        </p:tgtEl>
                                        <p:attrNameLst>
                                          <p:attrName>style.visibility</p:attrName>
                                        </p:attrNameLst>
                                      </p:cBhvr>
                                      <p:to>
                                        <p:strVal val="visible"/>
                                      </p:to>
                                    </p:set>
                                    <p:animEffect transition="in" filter="fade">
                                      <p:cBhvr>
                                        <p:cTn id="86" dur="600"/>
                                        <p:tgtEl>
                                          <p:spTgt spid="18"/>
                                        </p:tgtEl>
                                      </p:cBhvr>
                                    </p:animEffect>
                                  </p:childTnLst>
                                </p:cTn>
                              </p:par>
                              <p:par>
                                <p:cTn id="87" presetID="10" presetClass="entr" presetSubtype="0" fill="hold" nodeType="withEffect">
                                  <p:stCondLst>
                                    <p:cond delay="0"/>
                                  </p:stCondLst>
                                  <p:childTnLst>
                                    <p:set>
                                      <p:cBhvr>
                                        <p:cTn id="88" dur="1" fill="hold">
                                          <p:stCondLst>
                                            <p:cond delay="0"/>
                                          </p:stCondLst>
                                        </p:cTn>
                                        <p:tgtEl>
                                          <p:spTgt spid="31"/>
                                        </p:tgtEl>
                                        <p:attrNameLst>
                                          <p:attrName>style.visibility</p:attrName>
                                        </p:attrNameLst>
                                      </p:cBhvr>
                                      <p:to>
                                        <p:strVal val="visible"/>
                                      </p:to>
                                    </p:set>
                                    <p:animEffect transition="in" filter="fade">
                                      <p:cBhvr>
                                        <p:cTn id="89" dur="600"/>
                                        <p:tgtEl>
                                          <p:spTgt spid="31"/>
                                        </p:tgtEl>
                                      </p:cBhvr>
                                    </p:animEffect>
                                  </p:childTnLst>
                                </p:cTn>
                              </p:par>
                              <p:par>
                                <p:cTn id="90" presetID="10" presetClass="entr" presetSubtype="0" fill="hold" nodeType="withEffect">
                                  <p:stCondLst>
                                    <p:cond delay="0"/>
                                  </p:stCondLst>
                                  <p:childTnLst>
                                    <p:set>
                                      <p:cBhvr>
                                        <p:cTn id="91" dur="1" fill="hold">
                                          <p:stCondLst>
                                            <p:cond delay="0"/>
                                          </p:stCondLst>
                                        </p:cTn>
                                        <p:tgtEl>
                                          <p:spTgt spid="32"/>
                                        </p:tgtEl>
                                        <p:attrNameLst>
                                          <p:attrName>style.visibility</p:attrName>
                                        </p:attrNameLst>
                                      </p:cBhvr>
                                      <p:to>
                                        <p:strVal val="visible"/>
                                      </p:to>
                                    </p:set>
                                    <p:animEffect transition="in" filter="fade">
                                      <p:cBhvr>
                                        <p:cTn id="92" dur="600"/>
                                        <p:tgtEl>
                                          <p:spTgt spid="32"/>
                                        </p:tgtEl>
                                      </p:cBhvr>
                                    </p:animEffect>
                                  </p:childTnLst>
                                </p:cTn>
                              </p:par>
                              <p:par>
                                <p:cTn id="93" presetID="10" presetClass="entr" presetSubtype="0" fill="hold" nodeType="withEffect">
                                  <p:stCondLst>
                                    <p:cond delay="0"/>
                                  </p:stCondLst>
                                  <p:childTnLst>
                                    <p:set>
                                      <p:cBhvr>
                                        <p:cTn id="94" dur="1" fill="hold">
                                          <p:stCondLst>
                                            <p:cond delay="0"/>
                                          </p:stCondLst>
                                        </p:cTn>
                                        <p:tgtEl>
                                          <p:spTgt spid="33"/>
                                        </p:tgtEl>
                                        <p:attrNameLst>
                                          <p:attrName>style.visibility</p:attrName>
                                        </p:attrNameLst>
                                      </p:cBhvr>
                                      <p:to>
                                        <p:strVal val="visible"/>
                                      </p:to>
                                    </p:set>
                                    <p:animEffect transition="in" filter="fade">
                                      <p:cBhvr>
                                        <p:cTn id="95" dur="600"/>
                                        <p:tgtEl>
                                          <p:spTgt spid="33"/>
                                        </p:tgtEl>
                                      </p:cBhvr>
                                    </p:animEffect>
                                  </p:childTnLst>
                                </p:cTn>
                              </p:par>
                            </p:childTnLst>
                          </p:cTn>
                        </p:par>
                      </p:childTnLst>
                    </p:cTn>
                  </p:par>
                  <p:par>
                    <p:cTn id="96" fill="hold">
                      <p:stCondLst>
                        <p:cond delay="indefinite"/>
                      </p:stCondLst>
                      <p:childTnLst>
                        <p:par>
                          <p:cTn id="97" fill="hold">
                            <p:stCondLst>
                              <p:cond delay="0"/>
                            </p:stCondLst>
                            <p:childTnLst>
                              <p:par>
                                <p:cTn id="98" presetID="10" presetClass="entr" presetSubtype="0" fill="hold" nodeType="clickEffect">
                                  <p:stCondLst>
                                    <p:cond delay="0"/>
                                  </p:stCondLst>
                                  <p:childTnLst>
                                    <p:set>
                                      <p:cBhvr>
                                        <p:cTn id="99" dur="1" fill="hold">
                                          <p:stCondLst>
                                            <p:cond delay="0"/>
                                          </p:stCondLst>
                                        </p:cTn>
                                        <p:tgtEl>
                                          <p:spTgt spid="34"/>
                                        </p:tgtEl>
                                        <p:attrNameLst>
                                          <p:attrName>style.visibility</p:attrName>
                                        </p:attrNameLst>
                                      </p:cBhvr>
                                      <p:to>
                                        <p:strVal val="visible"/>
                                      </p:to>
                                    </p:set>
                                    <p:animEffect transition="in" filter="fade">
                                      <p:cBhvr>
                                        <p:cTn id="100" dur="6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BROWSE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Menu &amp; product discovery</a:t>
            </a:r>
            <a:endParaRPr lang="en-US" sz="3200" dirty="0"/>
          </a:p>
        </p:txBody>
      </p:sp>
      <p:pic>
        <p:nvPicPr>
          <p:cNvPr id="4" name="A1f_i0" descr="/home/claude/img/t_cake.jpg"/>
          <p:cNvPicPr>
            <a:picLocks noChangeAspect="1"/>
          </p:cNvPicPr>
          <p:nvPr/>
        </p:nvPicPr>
        <p:blipFill>
          <a:blip r:embed="rId3"/>
          <a:stretch>
            <a:fillRect/>
          </a:stretch>
        </p:blipFill>
        <p:spPr>
          <a:xfrm>
            <a:off x="457200" y="1280160"/>
            <a:ext cx="1325880" cy="1463040"/>
          </a:xfrm>
          <a:prstGeom prst="rect">
            <a:avLst/>
          </a:prstGeom>
        </p:spPr>
      </p:pic>
      <p:sp>
        <p:nvSpPr>
          <p:cNvPr id="5" name="A1f_b0"/>
          <p:cNvSpPr/>
          <p:nvPr/>
        </p:nvSpPr>
        <p:spPr>
          <a:xfrm>
            <a:off x="457200" y="2468880"/>
            <a:ext cx="1325880" cy="274320"/>
          </a:xfrm>
          <a:prstGeom prst="rect">
            <a:avLst/>
          </a:prstGeom>
          <a:solidFill>
            <a:srgbClr val="3D2925">
              <a:alpha val="75000"/>
            </a:srgbClr>
          </a:solidFill>
          <a:ln w="12700">
            <a:solidFill>
              <a:srgbClr val="3D2925"/>
            </a:solidFill>
            <a:prstDash val="solid"/>
          </a:ln>
        </p:spPr>
        <p:txBody>
          <a:bodyPr/>
          <a:lstStyle/>
          <a:p>
            <a:endParaRPr lang="en-US"/>
          </a:p>
        </p:txBody>
      </p:sp>
      <p:sp>
        <p:nvSpPr>
          <p:cNvPr id="6" name="A1f_c0"/>
          <p:cNvSpPr txBox="1"/>
          <p:nvPr/>
        </p:nvSpPr>
        <p:spPr>
          <a:xfrm>
            <a:off x="457200" y="2468880"/>
            <a:ext cx="13258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Cakes</a:t>
            </a:r>
            <a:endParaRPr lang="en-US" sz="1100" dirty="0"/>
          </a:p>
        </p:txBody>
      </p:sp>
      <p:pic>
        <p:nvPicPr>
          <p:cNvPr id="7" name="A2f_i1" descr="/home/claude/img/t_pastry.jpg"/>
          <p:cNvPicPr>
            <a:picLocks noChangeAspect="1"/>
          </p:cNvPicPr>
          <p:nvPr/>
        </p:nvPicPr>
        <p:blipFill>
          <a:blip r:embed="rId4"/>
          <a:stretch>
            <a:fillRect/>
          </a:stretch>
        </p:blipFill>
        <p:spPr>
          <a:xfrm>
            <a:off x="1892808" y="1280160"/>
            <a:ext cx="1325880" cy="1463040"/>
          </a:xfrm>
          <a:prstGeom prst="rect">
            <a:avLst/>
          </a:prstGeom>
        </p:spPr>
      </p:pic>
      <p:sp>
        <p:nvSpPr>
          <p:cNvPr id="8" name="A2f_b1"/>
          <p:cNvSpPr/>
          <p:nvPr/>
        </p:nvSpPr>
        <p:spPr>
          <a:xfrm>
            <a:off x="1892808" y="2468880"/>
            <a:ext cx="1325880" cy="274320"/>
          </a:xfrm>
          <a:prstGeom prst="rect">
            <a:avLst/>
          </a:prstGeom>
          <a:solidFill>
            <a:srgbClr val="3D2925">
              <a:alpha val="75000"/>
            </a:srgbClr>
          </a:solidFill>
          <a:ln w="12700">
            <a:solidFill>
              <a:srgbClr val="3D2925"/>
            </a:solidFill>
            <a:prstDash val="solid"/>
          </a:ln>
        </p:spPr>
        <p:txBody>
          <a:bodyPr/>
          <a:lstStyle/>
          <a:p>
            <a:endParaRPr lang="en-US"/>
          </a:p>
        </p:txBody>
      </p:sp>
      <p:sp>
        <p:nvSpPr>
          <p:cNvPr id="9" name="A2f_c1"/>
          <p:cNvSpPr txBox="1"/>
          <p:nvPr/>
        </p:nvSpPr>
        <p:spPr>
          <a:xfrm>
            <a:off x="1892808" y="2468880"/>
            <a:ext cx="13258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Pastries</a:t>
            </a:r>
            <a:endParaRPr lang="en-US" sz="1100" dirty="0"/>
          </a:p>
        </p:txBody>
      </p:sp>
      <p:pic>
        <p:nvPicPr>
          <p:cNvPr id="10" name="A3f_i2" descr="/home/claude/img/t_cookie.jpg"/>
          <p:cNvPicPr>
            <a:picLocks noChangeAspect="1"/>
          </p:cNvPicPr>
          <p:nvPr/>
        </p:nvPicPr>
        <p:blipFill>
          <a:blip r:embed="rId5"/>
          <a:stretch>
            <a:fillRect/>
          </a:stretch>
        </p:blipFill>
        <p:spPr>
          <a:xfrm>
            <a:off x="3328416" y="1280160"/>
            <a:ext cx="1325880" cy="1463040"/>
          </a:xfrm>
          <a:prstGeom prst="rect">
            <a:avLst/>
          </a:prstGeom>
        </p:spPr>
      </p:pic>
      <p:sp>
        <p:nvSpPr>
          <p:cNvPr id="11" name="A3f_b2"/>
          <p:cNvSpPr/>
          <p:nvPr/>
        </p:nvSpPr>
        <p:spPr>
          <a:xfrm>
            <a:off x="3328416" y="2468880"/>
            <a:ext cx="1325880" cy="274320"/>
          </a:xfrm>
          <a:prstGeom prst="rect">
            <a:avLst/>
          </a:prstGeom>
          <a:solidFill>
            <a:srgbClr val="3D2925">
              <a:alpha val="75000"/>
            </a:srgbClr>
          </a:solidFill>
          <a:ln w="12700">
            <a:solidFill>
              <a:srgbClr val="3D2925"/>
            </a:solidFill>
            <a:prstDash val="solid"/>
          </a:ln>
        </p:spPr>
        <p:txBody>
          <a:bodyPr/>
          <a:lstStyle/>
          <a:p>
            <a:endParaRPr lang="en-US"/>
          </a:p>
        </p:txBody>
      </p:sp>
      <p:sp>
        <p:nvSpPr>
          <p:cNvPr id="12" name="A3f_c2"/>
          <p:cNvSpPr txBox="1"/>
          <p:nvPr/>
        </p:nvSpPr>
        <p:spPr>
          <a:xfrm>
            <a:off x="3328416" y="2468880"/>
            <a:ext cx="13258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Cookies</a:t>
            </a:r>
            <a:endParaRPr lang="en-US" sz="1100" dirty="0"/>
          </a:p>
        </p:txBody>
      </p:sp>
      <p:pic>
        <p:nvPicPr>
          <p:cNvPr id="13" name="A4f_i3" descr="/home/claude/img/t_pie.jpg"/>
          <p:cNvPicPr>
            <a:picLocks noChangeAspect="1"/>
          </p:cNvPicPr>
          <p:nvPr/>
        </p:nvPicPr>
        <p:blipFill>
          <a:blip r:embed="rId6"/>
          <a:stretch>
            <a:fillRect/>
          </a:stretch>
        </p:blipFill>
        <p:spPr>
          <a:xfrm>
            <a:off x="457200" y="2944368"/>
            <a:ext cx="1325880" cy="1463040"/>
          </a:xfrm>
          <a:prstGeom prst="rect">
            <a:avLst/>
          </a:prstGeom>
        </p:spPr>
      </p:pic>
      <p:sp>
        <p:nvSpPr>
          <p:cNvPr id="14" name="A4f_b3"/>
          <p:cNvSpPr/>
          <p:nvPr/>
        </p:nvSpPr>
        <p:spPr>
          <a:xfrm>
            <a:off x="457200" y="4133088"/>
            <a:ext cx="1325880" cy="274320"/>
          </a:xfrm>
          <a:prstGeom prst="rect">
            <a:avLst/>
          </a:prstGeom>
          <a:solidFill>
            <a:srgbClr val="3D2925">
              <a:alpha val="75000"/>
            </a:srgbClr>
          </a:solidFill>
          <a:ln w="12700">
            <a:solidFill>
              <a:srgbClr val="3D2925"/>
            </a:solidFill>
            <a:prstDash val="solid"/>
          </a:ln>
        </p:spPr>
        <p:txBody>
          <a:bodyPr/>
          <a:lstStyle/>
          <a:p>
            <a:endParaRPr lang="en-US"/>
          </a:p>
        </p:txBody>
      </p:sp>
      <p:sp>
        <p:nvSpPr>
          <p:cNvPr id="15" name="A4f_c3"/>
          <p:cNvSpPr txBox="1"/>
          <p:nvPr/>
        </p:nvSpPr>
        <p:spPr>
          <a:xfrm>
            <a:off x="457200" y="4133088"/>
            <a:ext cx="13258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Pies &amp; Tarts</a:t>
            </a:r>
            <a:endParaRPr lang="en-US" sz="1100" dirty="0"/>
          </a:p>
        </p:txBody>
      </p:sp>
      <p:pic>
        <p:nvPicPr>
          <p:cNvPr id="16" name="A5f_i4" descr="/home/claude/img/t_pizza.jpg"/>
          <p:cNvPicPr>
            <a:picLocks noChangeAspect="1"/>
          </p:cNvPicPr>
          <p:nvPr/>
        </p:nvPicPr>
        <p:blipFill>
          <a:blip r:embed="rId7"/>
          <a:stretch>
            <a:fillRect/>
          </a:stretch>
        </p:blipFill>
        <p:spPr>
          <a:xfrm>
            <a:off x="1892808" y="2944368"/>
            <a:ext cx="1325880" cy="1463040"/>
          </a:xfrm>
          <a:prstGeom prst="rect">
            <a:avLst/>
          </a:prstGeom>
        </p:spPr>
      </p:pic>
      <p:sp>
        <p:nvSpPr>
          <p:cNvPr id="17" name="A5f_b4"/>
          <p:cNvSpPr/>
          <p:nvPr/>
        </p:nvSpPr>
        <p:spPr>
          <a:xfrm>
            <a:off x="1892808" y="4133088"/>
            <a:ext cx="1325880" cy="274320"/>
          </a:xfrm>
          <a:prstGeom prst="rect">
            <a:avLst/>
          </a:prstGeom>
          <a:solidFill>
            <a:srgbClr val="3D2925">
              <a:alpha val="75000"/>
            </a:srgbClr>
          </a:solidFill>
          <a:ln w="12700">
            <a:solidFill>
              <a:srgbClr val="3D2925"/>
            </a:solidFill>
            <a:prstDash val="solid"/>
          </a:ln>
        </p:spPr>
        <p:txBody>
          <a:bodyPr/>
          <a:lstStyle/>
          <a:p>
            <a:endParaRPr lang="en-US"/>
          </a:p>
        </p:txBody>
      </p:sp>
      <p:sp>
        <p:nvSpPr>
          <p:cNvPr id="18" name="A5f_c4"/>
          <p:cNvSpPr txBox="1"/>
          <p:nvPr/>
        </p:nvSpPr>
        <p:spPr>
          <a:xfrm>
            <a:off x="1892808" y="4133088"/>
            <a:ext cx="13258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Pizza</a:t>
            </a:r>
            <a:endParaRPr lang="en-US" sz="1100" dirty="0"/>
          </a:p>
        </p:txBody>
      </p:sp>
      <p:pic>
        <p:nvPicPr>
          <p:cNvPr id="19" name="A6f_i5" descr="/home/claude/img/t_coffee.jpg"/>
          <p:cNvPicPr>
            <a:picLocks noChangeAspect="1"/>
          </p:cNvPicPr>
          <p:nvPr/>
        </p:nvPicPr>
        <p:blipFill>
          <a:blip r:embed="rId8"/>
          <a:stretch>
            <a:fillRect/>
          </a:stretch>
        </p:blipFill>
        <p:spPr>
          <a:xfrm>
            <a:off x="3328416" y="2944368"/>
            <a:ext cx="1325880" cy="1463040"/>
          </a:xfrm>
          <a:prstGeom prst="rect">
            <a:avLst/>
          </a:prstGeom>
        </p:spPr>
      </p:pic>
      <p:sp>
        <p:nvSpPr>
          <p:cNvPr id="20" name="A6f_b5"/>
          <p:cNvSpPr/>
          <p:nvPr/>
        </p:nvSpPr>
        <p:spPr>
          <a:xfrm>
            <a:off x="3328416" y="4133088"/>
            <a:ext cx="1325880" cy="274320"/>
          </a:xfrm>
          <a:prstGeom prst="rect">
            <a:avLst/>
          </a:prstGeom>
          <a:solidFill>
            <a:srgbClr val="3D2925">
              <a:alpha val="75000"/>
            </a:srgbClr>
          </a:solidFill>
          <a:ln w="12700">
            <a:solidFill>
              <a:srgbClr val="3D2925"/>
            </a:solidFill>
            <a:prstDash val="solid"/>
          </a:ln>
        </p:spPr>
        <p:txBody>
          <a:bodyPr/>
          <a:lstStyle/>
          <a:p>
            <a:endParaRPr lang="en-US"/>
          </a:p>
        </p:txBody>
      </p:sp>
      <p:sp>
        <p:nvSpPr>
          <p:cNvPr id="21" name="A6f_c5"/>
          <p:cNvSpPr txBox="1"/>
          <p:nvPr/>
        </p:nvSpPr>
        <p:spPr>
          <a:xfrm>
            <a:off x="3328416" y="4133088"/>
            <a:ext cx="132588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Coffee</a:t>
            </a:r>
            <a:endParaRPr lang="en-US" sz="1100" dirty="0"/>
          </a:p>
        </p:txBody>
      </p:sp>
      <p:sp>
        <p:nvSpPr>
          <p:cNvPr id="22" name="A7f"/>
          <p:cNvSpPr txBox="1"/>
          <p:nvPr/>
        </p:nvSpPr>
        <p:spPr>
          <a:xfrm>
            <a:off x="457200" y="4572000"/>
            <a:ext cx="4206240" cy="182880"/>
          </a:xfrm>
          <a:prstGeom prst="rect">
            <a:avLst/>
          </a:prstGeom>
          <a:noFill/>
          <a:ln/>
        </p:spPr>
        <p:txBody>
          <a:bodyPr wrap="square" lIns="0" tIns="0" rIns="0" bIns="0" rtlCol="0" anchor="t"/>
          <a:lstStyle/>
          <a:p>
            <a:pPr marL="0" indent="0">
              <a:buNone/>
            </a:pPr>
            <a:r>
              <a:rPr lang="en-US" sz="1000" i="1" dirty="0">
                <a:solidFill>
                  <a:srgbClr val="765044"/>
                </a:solidFill>
                <a:latin typeface="Calibri" pitchFamily="34" charset="0"/>
                <a:ea typeface="Calibri" pitchFamily="34" charset="-122"/>
                <a:cs typeface="Calibri" pitchFamily="34" charset="-120"/>
              </a:rPr>
              <a:t>+ 8 more categories: donuts, cupcakes, breads, tea, drinks…</a:t>
            </a:r>
            <a:endParaRPr lang="en-US" sz="1000" dirty="0"/>
          </a:p>
        </p:txBody>
      </p:sp>
      <p:sp>
        <p:nvSpPr>
          <p:cNvPr id="23" name="A7w"/>
          <p:cNvSpPr/>
          <p:nvPr/>
        </p:nvSpPr>
        <p:spPr>
          <a:xfrm>
            <a:off x="4901184" y="1280160"/>
            <a:ext cx="3639312" cy="2548136"/>
          </a:xfrm>
          <a:prstGeom prst="roundRect">
            <a:avLst>
              <a:gd name="adj" fmla="val 2871"/>
            </a:avLst>
          </a:prstGeom>
          <a:solidFill>
            <a:srgbClr val="FFFFFF"/>
          </a:solidFill>
          <a:ln w="12700">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4" name="Shape 16"/>
          <p:cNvSpPr/>
          <p:nvPr/>
        </p:nvSpPr>
        <p:spPr>
          <a:xfrm>
            <a:off x="5010912" y="1371600"/>
            <a:ext cx="82296" cy="82296"/>
          </a:xfrm>
          <a:prstGeom prst="ellipse">
            <a:avLst/>
          </a:prstGeom>
          <a:solidFill>
            <a:srgbClr val="D99587"/>
          </a:solidFill>
          <a:ln w="12700">
            <a:solidFill>
              <a:srgbClr val="FFFFFF"/>
            </a:solidFill>
            <a:prstDash val="solid"/>
          </a:ln>
        </p:spPr>
        <p:txBody>
          <a:bodyPr/>
          <a:lstStyle/>
          <a:p>
            <a:endParaRPr lang="en-US"/>
          </a:p>
        </p:txBody>
      </p:sp>
      <p:sp>
        <p:nvSpPr>
          <p:cNvPr id="25" name="Shape 17"/>
          <p:cNvSpPr/>
          <p:nvPr/>
        </p:nvSpPr>
        <p:spPr>
          <a:xfrm>
            <a:off x="5138928" y="1371600"/>
            <a:ext cx="82296" cy="82296"/>
          </a:xfrm>
          <a:prstGeom prst="ellipse">
            <a:avLst/>
          </a:prstGeom>
          <a:solidFill>
            <a:srgbClr val="D8B779"/>
          </a:solidFill>
          <a:ln w="12700">
            <a:solidFill>
              <a:srgbClr val="FFFFFF"/>
            </a:solidFill>
            <a:prstDash val="solid"/>
          </a:ln>
        </p:spPr>
        <p:txBody>
          <a:bodyPr/>
          <a:lstStyle/>
          <a:p>
            <a:endParaRPr lang="en-US"/>
          </a:p>
        </p:txBody>
      </p:sp>
      <p:sp>
        <p:nvSpPr>
          <p:cNvPr id="26" name="Shape 18"/>
          <p:cNvSpPr/>
          <p:nvPr/>
        </p:nvSpPr>
        <p:spPr>
          <a:xfrm>
            <a:off x="5266944" y="1371600"/>
            <a:ext cx="82296" cy="82296"/>
          </a:xfrm>
          <a:prstGeom prst="ellipse">
            <a:avLst/>
          </a:prstGeom>
          <a:solidFill>
            <a:srgbClr val="F2C4B5"/>
          </a:solidFill>
          <a:ln w="12700">
            <a:solidFill>
              <a:srgbClr val="FFFFFF"/>
            </a:solidFill>
            <a:prstDash val="solid"/>
          </a:ln>
        </p:spPr>
        <p:txBody>
          <a:bodyPr/>
          <a:lstStyle/>
          <a:p>
            <a:endParaRPr lang="en-US"/>
          </a:p>
        </p:txBody>
      </p:sp>
      <p:pic>
        <p:nvPicPr>
          <p:cNvPr id="27" name="A7wimg" descr="/home/claude/img/modal.jpg"/>
          <p:cNvPicPr>
            <a:picLocks noChangeAspect="1"/>
          </p:cNvPicPr>
          <p:nvPr/>
        </p:nvPicPr>
        <p:blipFill>
          <a:blip r:embed="rId9"/>
          <a:stretch>
            <a:fillRect/>
          </a:stretch>
        </p:blipFill>
        <p:spPr>
          <a:xfrm>
            <a:off x="4937760" y="1554480"/>
            <a:ext cx="3566160" cy="2237240"/>
          </a:xfrm>
          <a:prstGeom prst="rect">
            <a:avLst/>
          </a:prstGeom>
        </p:spPr>
      </p:pic>
      <p:sp>
        <p:nvSpPr>
          <p:cNvPr id="28" name="A8f_f0"/>
          <p:cNvSpPr txBox="1"/>
          <p:nvPr/>
        </p:nvSpPr>
        <p:spPr>
          <a:xfrm>
            <a:off x="4937760" y="3840480"/>
            <a:ext cx="3749040" cy="237744"/>
          </a:xfrm>
          <a:prstGeom prst="rect">
            <a:avLst/>
          </a:prstGeom>
          <a:noFill/>
          <a:ln/>
        </p:spPr>
        <p:txBody>
          <a:bodyPr wrap="square" lIns="0" tIns="0" rIns="0" bIns="0" rtlCol="0" anchor="t"/>
          <a:lstStyle/>
          <a:p>
            <a:pPr marL="0" indent="0">
              <a:buNone/>
            </a:pPr>
            <a:r>
              <a:rPr lang="en-US" sz="1200" b="1" dirty="0">
                <a:solidFill>
                  <a:srgbClr val="B06A59"/>
                </a:solidFill>
                <a:latin typeface="Calibri" pitchFamily="34" charset="0"/>
                <a:ea typeface="Calibri" pitchFamily="34" charset="-122"/>
                <a:cs typeface="Calibri" pitchFamily="34" charset="-120"/>
              </a:rPr>
              <a:t>Search · sort · filter  </a:t>
            </a:r>
            <a:r>
              <a:rPr lang="en-US" sz="1100" dirty="0">
                <a:solidFill>
                  <a:srgbClr val="3D2925"/>
                </a:solidFill>
                <a:latin typeface="Calibri" pitchFamily="34" charset="0"/>
                <a:ea typeface="Calibri" pitchFamily="34" charset="-122"/>
                <a:cs typeface="Calibri" pitchFamily="34" charset="-120"/>
              </a:rPr>
              <a:t>price, rating, diet &amp; more</a:t>
            </a:r>
            <a:endParaRPr lang="en-US" sz="1200" dirty="0"/>
          </a:p>
        </p:txBody>
      </p:sp>
      <p:sp>
        <p:nvSpPr>
          <p:cNvPr id="29" name="A8f_f1"/>
          <p:cNvSpPr txBox="1"/>
          <p:nvPr/>
        </p:nvSpPr>
        <p:spPr>
          <a:xfrm>
            <a:off x="4937760" y="4096512"/>
            <a:ext cx="3749040" cy="237744"/>
          </a:xfrm>
          <a:prstGeom prst="rect">
            <a:avLst/>
          </a:prstGeom>
          <a:noFill/>
          <a:ln/>
        </p:spPr>
        <p:txBody>
          <a:bodyPr wrap="square" lIns="0" tIns="0" rIns="0" bIns="0" rtlCol="0" anchor="t"/>
          <a:lstStyle/>
          <a:p>
            <a:pPr marL="0" indent="0">
              <a:buNone/>
            </a:pPr>
            <a:r>
              <a:rPr lang="en-US" sz="1200" b="1" dirty="0">
                <a:solidFill>
                  <a:srgbClr val="B06A59"/>
                </a:solidFill>
                <a:latin typeface="Calibri" pitchFamily="34" charset="0"/>
                <a:ea typeface="Calibri" pitchFamily="34" charset="-122"/>
                <a:cs typeface="Calibri" pitchFamily="34" charset="-120"/>
              </a:rPr>
              <a:t>Product details  </a:t>
            </a:r>
            <a:r>
              <a:rPr lang="en-US" sz="1100" dirty="0">
                <a:solidFill>
                  <a:srgbClr val="3D2925"/>
                </a:solidFill>
                <a:latin typeface="Calibri" pitchFamily="34" charset="0"/>
                <a:ea typeface="Calibri" pitchFamily="34" charset="-122"/>
                <a:cs typeface="Calibri" pitchFamily="34" charset="-120"/>
              </a:rPr>
              <a:t>ingredients, allergens, add-ons</a:t>
            </a:r>
            <a:endParaRPr lang="en-US" sz="1200" dirty="0"/>
          </a:p>
        </p:txBody>
      </p:sp>
      <p:sp>
        <p:nvSpPr>
          <p:cNvPr id="30" name="A8f_f2"/>
          <p:cNvSpPr txBox="1"/>
          <p:nvPr/>
        </p:nvSpPr>
        <p:spPr>
          <a:xfrm>
            <a:off x="4937760" y="4352544"/>
            <a:ext cx="3749040" cy="237744"/>
          </a:xfrm>
          <a:prstGeom prst="rect">
            <a:avLst/>
          </a:prstGeom>
          <a:noFill/>
          <a:ln/>
        </p:spPr>
        <p:txBody>
          <a:bodyPr wrap="square" lIns="0" tIns="0" rIns="0" bIns="0" rtlCol="0" anchor="t"/>
          <a:lstStyle/>
          <a:p>
            <a:pPr marL="0" indent="0">
              <a:buNone/>
            </a:pPr>
            <a:r>
              <a:rPr lang="en-US" sz="1200" b="1" dirty="0">
                <a:solidFill>
                  <a:srgbClr val="B06A59"/>
                </a:solidFill>
                <a:latin typeface="Calibri" pitchFamily="34" charset="0"/>
                <a:ea typeface="Calibri" pitchFamily="34" charset="-122"/>
                <a:cs typeface="Calibri" pitchFamily="34" charset="-120"/>
              </a:rPr>
              <a:t>Badges  </a:t>
            </a:r>
            <a:r>
              <a:rPr lang="en-US" sz="1100" dirty="0">
                <a:solidFill>
                  <a:srgbClr val="3D2925"/>
                </a:solidFill>
                <a:latin typeface="Calibri" pitchFamily="34" charset="0"/>
                <a:ea typeface="Calibri" pitchFamily="34" charset="-122"/>
                <a:cs typeface="Calibri" pitchFamily="34" charset="-120"/>
              </a:rPr>
              <a:t>Popular · Best Seller · New · Sale</a:t>
            </a:r>
            <a:endParaRPr lang="en-US" sz="1200" dirty="0"/>
          </a:p>
        </p:txBody>
      </p:sp>
      <p:sp>
        <p:nvSpPr>
          <p:cNvPr id="31"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fade">
                                      <p:cBhvr>
                                        <p:cTn id="29" dur="600"/>
                                        <p:tgtEl>
                                          <p:spTgt spid="10"/>
                                        </p:tgtEl>
                                      </p:cBhvr>
                                    </p:animEffect>
                                  </p:childTnLst>
                                </p:cTn>
                              </p:par>
                              <p:par>
                                <p:cTn id="30" presetID="10" presetClass="entr" presetSubtype="0" fill="hold" nodeType="with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fade">
                                      <p:cBhvr>
                                        <p:cTn id="32" dur="600"/>
                                        <p:tgtEl>
                                          <p:spTgt spid="11"/>
                                        </p:tgtEl>
                                      </p:cBhvr>
                                    </p:animEffect>
                                  </p:childTnLst>
                                </p:cTn>
                              </p:par>
                              <p:par>
                                <p:cTn id="33" presetID="10" presetClass="entr" presetSubtype="0" fill="hold" nodeType="with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600"/>
                                        <p:tgtEl>
                                          <p:spTgt spid="12"/>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13"/>
                                        </p:tgtEl>
                                        <p:attrNameLst>
                                          <p:attrName>style.visibility</p:attrName>
                                        </p:attrNameLst>
                                      </p:cBhvr>
                                      <p:to>
                                        <p:strVal val="visible"/>
                                      </p:to>
                                    </p:set>
                                    <p:animEffect transition="in" filter="fade">
                                      <p:cBhvr>
                                        <p:cTn id="40" dur="600"/>
                                        <p:tgtEl>
                                          <p:spTgt spid="13"/>
                                        </p:tgtEl>
                                      </p:cBhvr>
                                    </p:animEffect>
                                  </p:childTnLst>
                                </p:cTn>
                              </p:par>
                              <p:par>
                                <p:cTn id="41" presetID="10" presetClass="entr" presetSubtype="0" fill="hold" nodeType="withEffect">
                                  <p:stCondLst>
                                    <p:cond delay="0"/>
                                  </p:stCondLst>
                                  <p:childTnLst>
                                    <p:set>
                                      <p:cBhvr>
                                        <p:cTn id="42" dur="1" fill="hold">
                                          <p:stCondLst>
                                            <p:cond delay="0"/>
                                          </p:stCondLst>
                                        </p:cTn>
                                        <p:tgtEl>
                                          <p:spTgt spid="14"/>
                                        </p:tgtEl>
                                        <p:attrNameLst>
                                          <p:attrName>style.visibility</p:attrName>
                                        </p:attrNameLst>
                                      </p:cBhvr>
                                      <p:to>
                                        <p:strVal val="visible"/>
                                      </p:to>
                                    </p:set>
                                    <p:animEffect transition="in" filter="fade">
                                      <p:cBhvr>
                                        <p:cTn id="43" dur="600"/>
                                        <p:tgtEl>
                                          <p:spTgt spid="14"/>
                                        </p:tgtEl>
                                      </p:cBhvr>
                                    </p:animEffect>
                                  </p:childTnLst>
                                </p:cTn>
                              </p:par>
                              <p:par>
                                <p:cTn id="44" presetID="10" presetClass="entr" presetSubtype="0" fill="hold" nodeType="withEffect">
                                  <p:stCondLst>
                                    <p:cond delay="0"/>
                                  </p:stCondLst>
                                  <p:childTnLst>
                                    <p:set>
                                      <p:cBhvr>
                                        <p:cTn id="45" dur="1" fill="hold">
                                          <p:stCondLst>
                                            <p:cond delay="0"/>
                                          </p:stCondLst>
                                        </p:cTn>
                                        <p:tgtEl>
                                          <p:spTgt spid="15"/>
                                        </p:tgtEl>
                                        <p:attrNameLst>
                                          <p:attrName>style.visibility</p:attrName>
                                        </p:attrNameLst>
                                      </p:cBhvr>
                                      <p:to>
                                        <p:strVal val="visible"/>
                                      </p:to>
                                    </p:set>
                                    <p:animEffect transition="in" filter="fade">
                                      <p:cBhvr>
                                        <p:cTn id="46" dur="600"/>
                                        <p:tgtEl>
                                          <p:spTgt spid="15"/>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6"/>
                                        </p:tgtEl>
                                        <p:attrNameLst>
                                          <p:attrName>style.visibility</p:attrName>
                                        </p:attrNameLst>
                                      </p:cBhvr>
                                      <p:to>
                                        <p:strVal val="visible"/>
                                      </p:to>
                                    </p:set>
                                    <p:animEffect transition="in" filter="fade">
                                      <p:cBhvr>
                                        <p:cTn id="51" dur="600"/>
                                        <p:tgtEl>
                                          <p:spTgt spid="16"/>
                                        </p:tgtEl>
                                      </p:cBhvr>
                                    </p:animEffect>
                                  </p:childTnLst>
                                </p:cTn>
                              </p:par>
                              <p:par>
                                <p:cTn id="52" presetID="10" presetClass="entr" presetSubtype="0" fill="hold" nodeType="withEffect">
                                  <p:stCondLst>
                                    <p:cond delay="0"/>
                                  </p:stCondLst>
                                  <p:childTnLst>
                                    <p:set>
                                      <p:cBhvr>
                                        <p:cTn id="53" dur="1" fill="hold">
                                          <p:stCondLst>
                                            <p:cond delay="0"/>
                                          </p:stCondLst>
                                        </p:cTn>
                                        <p:tgtEl>
                                          <p:spTgt spid="17"/>
                                        </p:tgtEl>
                                        <p:attrNameLst>
                                          <p:attrName>style.visibility</p:attrName>
                                        </p:attrNameLst>
                                      </p:cBhvr>
                                      <p:to>
                                        <p:strVal val="visible"/>
                                      </p:to>
                                    </p:set>
                                    <p:animEffect transition="in" filter="fade">
                                      <p:cBhvr>
                                        <p:cTn id="54" dur="600"/>
                                        <p:tgtEl>
                                          <p:spTgt spid="17"/>
                                        </p:tgtEl>
                                      </p:cBhvr>
                                    </p:animEffect>
                                  </p:childTnLst>
                                </p:cTn>
                              </p:par>
                              <p:par>
                                <p:cTn id="55" presetID="10" presetClass="entr" presetSubtype="0" fill="hold" nodeType="withEffect">
                                  <p:stCondLst>
                                    <p:cond delay="0"/>
                                  </p:stCondLst>
                                  <p:childTnLst>
                                    <p:set>
                                      <p:cBhvr>
                                        <p:cTn id="56" dur="1" fill="hold">
                                          <p:stCondLst>
                                            <p:cond delay="0"/>
                                          </p:stCondLst>
                                        </p:cTn>
                                        <p:tgtEl>
                                          <p:spTgt spid="18"/>
                                        </p:tgtEl>
                                        <p:attrNameLst>
                                          <p:attrName>style.visibility</p:attrName>
                                        </p:attrNameLst>
                                      </p:cBhvr>
                                      <p:to>
                                        <p:strVal val="visible"/>
                                      </p:to>
                                    </p:set>
                                    <p:animEffect transition="in" filter="fade">
                                      <p:cBhvr>
                                        <p:cTn id="57" dur="600"/>
                                        <p:tgtEl>
                                          <p:spTgt spid="18"/>
                                        </p:tgtEl>
                                      </p:cBhvr>
                                    </p:animEffec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19"/>
                                        </p:tgtEl>
                                        <p:attrNameLst>
                                          <p:attrName>style.visibility</p:attrName>
                                        </p:attrNameLst>
                                      </p:cBhvr>
                                      <p:to>
                                        <p:strVal val="visible"/>
                                      </p:to>
                                    </p:set>
                                    <p:animEffect transition="in" filter="fade">
                                      <p:cBhvr>
                                        <p:cTn id="62" dur="600"/>
                                        <p:tgtEl>
                                          <p:spTgt spid="19"/>
                                        </p:tgtEl>
                                      </p:cBhvr>
                                    </p:animEffect>
                                  </p:childTnLst>
                                </p:cTn>
                              </p:par>
                              <p:par>
                                <p:cTn id="63" presetID="10" presetClass="entr" presetSubtype="0" fill="hold" nodeType="withEffect">
                                  <p:stCondLst>
                                    <p:cond delay="0"/>
                                  </p:stCondLst>
                                  <p:childTnLst>
                                    <p:set>
                                      <p:cBhvr>
                                        <p:cTn id="64" dur="1" fill="hold">
                                          <p:stCondLst>
                                            <p:cond delay="0"/>
                                          </p:stCondLst>
                                        </p:cTn>
                                        <p:tgtEl>
                                          <p:spTgt spid="20"/>
                                        </p:tgtEl>
                                        <p:attrNameLst>
                                          <p:attrName>style.visibility</p:attrName>
                                        </p:attrNameLst>
                                      </p:cBhvr>
                                      <p:to>
                                        <p:strVal val="visible"/>
                                      </p:to>
                                    </p:set>
                                    <p:animEffect transition="in" filter="fade">
                                      <p:cBhvr>
                                        <p:cTn id="65" dur="600"/>
                                        <p:tgtEl>
                                          <p:spTgt spid="20"/>
                                        </p:tgtEl>
                                      </p:cBhvr>
                                    </p:animEffect>
                                  </p:childTnLst>
                                </p:cTn>
                              </p:par>
                              <p:par>
                                <p:cTn id="66" presetID="10" presetClass="entr" presetSubtype="0" fill="hold" nodeType="withEffect">
                                  <p:stCondLst>
                                    <p:cond delay="0"/>
                                  </p:stCondLst>
                                  <p:childTnLst>
                                    <p:set>
                                      <p:cBhvr>
                                        <p:cTn id="67" dur="1" fill="hold">
                                          <p:stCondLst>
                                            <p:cond delay="0"/>
                                          </p:stCondLst>
                                        </p:cTn>
                                        <p:tgtEl>
                                          <p:spTgt spid="21"/>
                                        </p:tgtEl>
                                        <p:attrNameLst>
                                          <p:attrName>style.visibility</p:attrName>
                                        </p:attrNameLst>
                                      </p:cBhvr>
                                      <p:to>
                                        <p:strVal val="visible"/>
                                      </p:to>
                                    </p:set>
                                    <p:animEffect transition="in" filter="fade">
                                      <p:cBhvr>
                                        <p:cTn id="68" dur="600"/>
                                        <p:tgtEl>
                                          <p:spTgt spid="21"/>
                                        </p:tgtEl>
                                      </p:cBhvr>
                                    </p:animEffect>
                                  </p:childTnLst>
                                </p:cTn>
                              </p:par>
                            </p:childTnLst>
                          </p:cTn>
                        </p:par>
                      </p:childTnLst>
                    </p:cTn>
                  </p:par>
                  <p:par>
                    <p:cTn id="69" fill="hold">
                      <p:stCondLst>
                        <p:cond delay="indefinite"/>
                      </p:stCondLst>
                      <p:childTnLst>
                        <p:par>
                          <p:cTn id="70" fill="hold">
                            <p:stCondLst>
                              <p:cond delay="0"/>
                            </p:stCondLst>
                            <p:childTnLst>
                              <p:par>
                                <p:cTn id="71" presetID="10" presetClass="entr" presetSubtype="0" fill="hold" nodeType="clickEffect">
                                  <p:stCondLst>
                                    <p:cond delay="0"/>
                                  </p:stCondLst>
                                  <p:childTnLst>
                                    <p:set>
                                      <p:cBhvr>
                                        <p:cTn id="72" dur="1" fill="hold">
                                          <p:stCondLst>
                                            <p:cond delay="0"/>
                                          </p:stCondLst>
                                        </p:cTn>
                                        <p:tgtEl>
                                          <p:spTgt spid="22"/>
                                        </p:tgtEl>
                                        <p:attrNameLst>
                                          <p:attrName>style.visibility</p:attrName>
                                        </p:attrNameLst>
                                      </p:cBhvr>
                                      <p:to>
                                        <p:strVal val="visible"/>
                                      </p:to>
                                    </p:set>
                                    <p:animEffect transition="in" filter="fade">
                                      <p:cBhvr>
                                        <p:cTn id="73" dur="600"/>
                                        <p:tgtEl>
                                          <p:spTgt spid="22"/>
                                        </p:tgtEl>
                                      </p:cBhvr>
                                    </p:animEffect>
                                  </p:childTnLst>
                                </p:cTn>
                              </p:par>
                              <p:par>
                                <p:cTn id="74" presetID="22" presetClass="entr" presetSubtype="8" fill="hold" nodeType="withEffect">
                                  <p:stCondLst>
                                    <p:cond delay="0"/>
                                  </p:stCondLst>
                                  <p:childTnLst>
                                    <p:set>
                                      <p:cBhvr>
                                        <p:cTn id="75" dur="1" fill="hold">
                                          <p:stCondLst>
                                            <p:cond delay="0"/>
                                          </p:stCondLst>
                                        </p:cTn>
                                        <p:tgtEl>
                                          <p:spTgt spid="23"/>
                                        </p:tgtEl>
                                        <p:attrNameLst>
                                          <p:attrName>style.visibility</p:attrName>
                                        </p:attrNameLst>
                                      </p:cBhvr>
                                      <p:to>
                                        <p:strVal val="visible"/>
                                      </p:to>
                                    </p:set>
                                    <p:animEffect transition="in" filter="wipe(left)">
                                      <p:cBhvr>
                                        <p:cTn id="76" dur="800"/>
                                        <p:tgtEl>
                                          <p:spTgt spid="23"/>
                                        </p:tgtEl>
                                      </p:cBhvr>
                                    </p:animEffect>
                                  </p:childTnLst>
                                </p:cTn>
                              </p:par>
                              <p:par>
                                <p:cTn id="77" presetID="22" presetClass="entr" presetSubtype="8" fill="hold" nodeType="withEffect">
                                  <p:stCondLst>
                                    <p:cond delay="0"/>
                                  </p:stCondLst>
                                  <p:childTnLst>
                                    <p:set>
                                      <p:cBhvr>
                                        <p:cTn id="78" dur="1" fill="hold">
                                          <p:stCondLst>
                                            <p:cond delay="0"/>
                                          </p:stCondLst>
                                        </p:cTn>
                                        <p:tgtEl>
                                          <p:spTgt spid="27"/>
                                        </p:tgtEl>
                                        <p:attrNameLst>
                                          <p:attrName>style.visibility</p:attrName>
                                        </p:attrNameLst>
                                      </p:cBhvr>
                                      <p:to>
                                        <p:strVal val="visible"/>
                                      </p:to>
                                    </p:set>
                                    <p:animEffect transition="in" filter="wipe(left)">
                                      <p:cBhvr>
                                        <p:cTn id="79" dur="800"/>
                                        <p:tgtEl>
                                          <p:spTgt spid="27"/>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8"/>
                                        </p:tgtEl>
                                        <p:attrNameLst>
                                          <p:attrName>style.visibility</p:attrName>
                                        </p:attrNameLst>
                                      </p:cBhvr>
                                      <p:to>
                                        <p:strVal val="visible"/>
                                      </p:to>
                                    </p:set>
                                    <p:animEffect transition="in" filter="fade">
                                      <p:cBhvr>
                                        <p:cTn id="84" dur="600"/>
                                        <p:tgtEl>
                                          <p:spTgt spid="28"/>
                                        </p:tgtEl>
                                      </p:cBhvr>
                                    </p:animEffect>
                                  </p:childTnLst>
                                </p:cTn>
                              </p:par>
                              <p:par>
                                <p:cTn id="85" presetID="10" presetClass="entr" presetSubtype="0" fill="hold" nodeType="withEffect">
                                  <p:stCondLst>
                                    <p:cond delay="0"/>
                                  </p:stCondLst>
                                  <p:childTnLst>
                                    <p:set>
                                      <p:cBhvr>
                                        <p:cTn id="86" dur="1" fill="hold">
                                          <p:stCondLst>
                                            <p:cond delay="0"/>
                                          </p:stCondLst>
                                        </p:cTn>
                                        <p:tgtEl>
                                          <p:spTgt spid="29"/>
                                        </p:tgtEl>
                                        <p:attrNameLst>
                                          <p:attrName>style.visibility</p:attrName>
                                        </p:attrNameLst>
                                      </p:cBhvr>
                                      <p:to>
                                        <p:strVal val="visible"/>
                                      </p:to>
                                    </p:set>
                                    <p:animEffect transition="in" filter="fade">
                                      <p:cBhvr>
                                        <p:cTn id="87" dur="600"/>
                                        <p:tgtEl>
                                          <p:spTgt spid="29"/>
                                        </p:tgtEl>
                                      </p:cBhvr>
                                    </p:animEffect>
                                  </p:childTnLst>
                                </p:cTn>
                              </p:par>
                              <p:par>
                                <p:cTn id="88" presetID="10" presetClass="entr" presetSubtype="0" fill="hold" nodeType="withEffect">
                                  <p:stCondLst>
                                    <p:cond delay="0"/>
                                  </p:stCondLst>
                                  <p:childTnLst>
                                    <p:set>
                                      <p:cBhvr>
                                        <p:cTn id="89" dur="1" fill="hold">
                                          <p:stCondLst>
                                            <p:cond delay="0"/>
                                          </p:stCondLst>
                                        </p:cTn>
                                        <p:tgtEl>
                                          <p:spTgt spid="30"/>
                                        </p:tgtEl>
                                        <p:attrNameLst>
                                          <p:attrName>style.visibility</p:attrName>
                                        </p:attrNameLst>
                                      </p:cBhvr>
                                      <p:to>
                                        <p:strVal val="visible"/>
                                      </p:to>
                                    </p:set>
                                    <p:animEffect transition="in" filter="fade">
                                      <p:cBhvr>
                                        <p:cTn id="90" dur="6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CUSTOMER JOURNEY</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Interactive features &amp; shopping experience</a:t>
            </a:r>
            <a:endParaRPr lang="en-US" sz="3200" dirty="0"/>
          </a:p>
        </p:txBody>
      </p:sp>
      <p:sp>
        <p:nvSpPr>
          <p:cNvPr id="4" name="A1f_k0"/>
          <p:cNvSpPr/>
          <p:nvPr/>
        </p:nvSpPr>
        <p:spPr>
          <a:xfrm>
            <a:off x="457200" y="1325880"/>
            <a:ext cx="1920240" cy="2148840"/>
          </a:xfrm>
          <a:prstGeom prst="roundRect">
            <a:avLst>
              <a:gd name="adj" fmla="val 476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pic>
        <p:nvPicPr>
          <p:cNvPr id="5" name="A1f_m0" descr="/home/claude/img/menu.jpg"/>
          <p:cNvPicPr>
            <a:picLocks noChangeAspect="1"/>
          </p:cNvPicPr>
          <p:nvPr/>
        </p:nvPicPr>
        <p:blipFill>
          <a:blip r:embed="rId3"/>
          <a:stretch>
            <a:fillRect/>
          </a:stretch>
        </p:blipFill>
        <p:spPr>
          <a:xfrm>
            <a:off x="530352" y="1399032"/>
            <a:ext cx="1773936" cy="1112883"/>
          </a:xfrm>
          <a:prstGeom prst="rect">
            <a:avLst/>
          </a:prstGeom>
        </p:spPr>
      </p:pic>
      <p:sp>
        <p:nvSpPr>
          <p:cNvPr id="6" name="A1f_o0"/>
          <p:cNvSpPr/>
          <p:nvPr/>
        </p:nvSpPr>
        <p:spPr>
          <a:xfrm>
            <a:off x="548640" y="2542032"/>
            <a:ext cx="274320" cy="274320"/>
          </a:xfrm>
          <a:prstGeom prst="ellipse">
            <a:avLst/>
          </a:prstGeom>
          <a:solidFill>
            <a:srgbClr val="B06A59"/>
          </a:solidFill>
          <a:ln w="12700">
            <a:solidFill>
              <a:srgbClr val="B06A59"/>
            </a:solidFill>
            <a:prstDash val="solid"/>
          </a:ln>
        </p:spPr>
        <p:txBody>
          <a:bodyPr/>
          <a:lstStyle/>
          <a:p>
            <a:endParaRPr lang="en-US"/>
          </a:p>
        </p:txBody>
      </p:sp>
      <p:sp>
        <p:nvSpPr>
          <p:cNvPr id="7" name="A1f_on0"/>
          <p:cNvSpPr txBox="1"/>
          <p:nvPr/>
        </p:nvSpPr>
        <p:spPr>
          <a:xfrm>
            <a:off x="548640" y="254203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A1f_t0"/>
          <p:cNvSpPr txBox="1"/>
          <p:nvPr/>
        </p:nvSpPr>
        <p:spPr>
          <a:xfrm>
            <a:off x="914400" y="2505456"/>
            <a:ext cx="1371600" cy="9144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Browse</a:t>
            </a:r>
            <a:endParaRPr lang="en-US" sz="1400" dirty="0"/>
          </a:p>
          <a:p>
            <a:pPr marL="0" indent="0">
              <a:buNone/>
            </a:pPr>
            <a:r>
              <a:rPr lang="en-US" sz="1100" dirty="0">
                <a:solidFill>
                  <a:srgbClr val="3D2925"/>
                </a:solidFill>
                <a:latin typeface="Calibri" pitchFamily="34" charset="0"/>
                <a:ea typeface="Calibri" pitchFamily="34" charset="-122"/>
                <a:cs typeface="Calibri" pitchFamily="34" charset="-120"/>
              </a:rPr>
              <a:t>Search, filter and sort the menu</a:t>
            </a:r>
            <a:endParaRPr lang="en-US" sz="1400" dirty="0"/>
          </a:p>
        </p:txBody>
      </p:sp>
      <p:sp>
        <p:nvSpPr>
          <p:cNvPr id="9" name="A1f_a0"/>
          <p:cNvSpPr txBox="1"/>
          <p:nvPr/>
        </p:nvSpPr>
        <p:spPr>
          <a:xfrm>
            <a:off x="2359152" y="2103120"/>
            <a:ext cx="182880" cy="365760"/>
          </a:xfrm>
          <a:prstGeom prst="rect">
            <a:avLst/>
          </a:prstGeom>
          <a:noFill/>
          <a:ln/>
        </p:spPr>
        <p:txBody>
          <a:bodyPr wrap="square" lIns="0" tIns="0" rIns="0" bIns="0" rtlCol="0" anchor="t"/>
          <a:lstStyle/>
          <a:p>
            <a:pPr marL="0" indent="0" algn="ctr">
              <a:buNone/>
            </a:pPr>
            <a:r>
              <a:rPr lang="en-US" sz="2200" b="1" dirty="0">
                <a:solidFill>
                  <a:srgbClr val="D8B779"/>
                </a:solidFill>
                <a:latin typeface="Cambria" pitchFamily="34" charset="0"/>
                <a:ea typeface="Cambria" pitchFamily="34" charset="-122"/>
                <a:cs typeface="Cambria" pitchFamily="34" charset="-120"/>
              </a:rPr>
              <a:t>›</a:t>
            </a:r>
            <a:endParaRPr lang="en-US" sz="2200" dirty="0"/>
          </a:p>
        </p:txBody>
      </p:sp>
      <p:sp>
        <p:nvSpPr>
          <p:cNvPr id="10" name="A2f_k1"/>
          <p:cNvSpPr/>
          <p:nvPr/>
        </p:nvSpPr>
        <p:spPr>
          <a:xfrm>
            <a:off x="2560320" y="1325880"/>
            <a:ext cx="1920240" cy="2148840"/>
          </a:xfrm>
          <a:prstGeom prst="roundRect">
            <a:avLst>
              <a:gd name="adj" fmla="val 476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pic>
        <p:nvPicPr>
          <p:cNvPr id="11" name="A2f_m1" descr="/home/claude/img/modal.jpg"/>
          <p:cNvPicPr>
            <a:picLocks noChangeAspect="1"/>
          </p:cNvPicPr>
          <p:nvPr/>
        </p:nvPicPr>
        <p:blipFill>
          <a:blip r:embed="rId4"/>
          <a:stretch>
            <a:fillRect/>
          </a:stretch>
        </p:blipFill>
        <p:spPr>
          <a:xfrm>
            <a:off x="2633472" y="1399032"/>
            <a:ext cx="1773936" cy="1112883"/>
          </a:xfrm>
          <a:prstGeom prst="rect">
            <a:avLst/>
          </a:prstGeom>
        </p:spPr>
      </p:pic>
      <p:sp>
        <p:nvSpPr>
          <p:cNvPr id="12" name="A2f_o1"/>
          <p:cNvSpPr/>
          <p:nvPr/>
        </p:nvSpPr>
        <p:spPr>
          <a:xfrm>
            <a:off x="2651760" y="2542032"/>
            <a:ext cx="274320" cy="274320"/>
          </a:xfrm>
          <a:prstGeom prst="ellipse">
            <a:avLst/>
          </a:prstGeom>
          <a:solidFill>
            <a:srgbClr val="B06A59"/>
          </a:solidFill>
          <a:ln w="12700">
            <a:solidFill>
              <a:srgbClr val="B06A59"/>
            </a:solidFill>
            <a:prstDash val="solid"/>
          </a:ln>
        </p:spPr>
        <p:txBody>
          <a:bodyPr/>
          <a:lstStyle/>
          <a:p>
            <a:endParaRPr lang="en-US"/>
          </a:p>
        </p:txBody>
      </p:sp>
      <p:sp>
        <p:nvSpPr>
          <p:cNvPr id="13" name="A2f_on1"/>
          <p:cNvSpPr txBox="1"/>
          <p:nvPr/>
        </p:nvSpPr>
        <p:spPr>
          <a:xfrm>
            <a:off x="2651760" y="254203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A2f_t1"/>
          <p:cNvSpPr txBox="1"/>
          <p:nvPr/>
        </p:nvSpPr>
        <p:spPr>
          <a:xfrm>
            <a:off x="3017520" y="2505456"/>
            <a:ext cx="1371600" cy="9144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Customise</a:t>
            </a:r>
            <a:endParaRPr lang="en-US" sz="1400" dirty="0"/>
          </a:p>
          <a:p>
            <a:pPr marL="0" indent="0">
              <a:buNone/>
            </a:pPr>
            <a:r>
              <a:rPr lang="en-US" sz="1100" dirty="0">
                <a:solidFill>
                  <a:srgbClr val="3D2925"/>
                </a:solidFill>
                <a:latin typeface="Calibri" pitchFamily="34" charset="0"/>
                <a:ea typeface="Calibri" pitchFamily="34" charset="-122"/>
                <a:cs typeface="Calibri" pitchFamily="34" charset="-120"/>
              </a:rPr>
              <a:t>Size, frosting, flavour, toppings, cake message</a:t>
            </a:r>
            <a:endParaRPr lang="en-US" sz="1400" dirty="0"/>
          </a:p>
        </p:txBody>
      </p:sp>
      <p:sp>
        <p:nvSpPr>
          <p:cNvPr id="15" name="A2f_a1"/>
          <p:cNvSpPr txBox="1"/>
          <p:nvPr/>
        </p:nvSpPr>
        <p:spPr>
          <a:xfrm>
            <a:off x="4462272" y="2103120"/>
            <a:ext cx="182880" cy="365760"/>
          </a:xfrm>
          <a:prstGeom prst="rect">
            <a:avLst/>
          </a:prstGeom>
          <a:noFill/>
          <a:ln/>
        </p:spPr>
        <p:txBody>
          <a:bodyPr wrap="square" lIns="0" tIns="0" rIns="0" bIns="0" rtlCol="0" anchor="t"/>
          <a:lstStyle/>
          <a:p>
            <a:pPr marL="0" indent="0" algn="ctr">
              <a:buNone/>
            </a:pPr>
            <a:r>
              <a:rPr lang="en-US" sz="2200" b="1" dirty="0">
                <a:solidFill>
                  <a:srgbClr val="D8B779"/>
                </a:solidFill>
                <a:latin typeface="Cambria" pitchFamily="34" charset="0"/>
                <a:ea typeface="Cambria" pitchFamily="34" charset="-122"/>
                <a:cs typeface="Cambria" pitchFamily="34" charset="-120"/>
              </a:rPr>
              <a:t>›</a:t>
            </a:r>
            <a:endParaRPr lang="en-US" sz="2200" dirty="0"/>
          </a:p>
        </p:txBody>
      </p:sp>
      <p:sp>
        <p:nvSpPr>
          <p:cNvPr id="16" name="A3f_k2"/>
          <p:cNvSpPr/>
          <p:nvPr/>
        </p:nvSpPr>
        <p:spPr>
          <a:xfrm>
            <a:off x="4663440" y="1325880"/>
            <a:ext cx="1920240" cy="2148840"/>
          </a:xfrm>
          <a:prstGeom prst="roundRect">
            <a:avLst>
              <a:gd name="adj" fmla="val 476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pic>
        <p:nvPicPr>
          <p:cNvPr id="17" name="A3f_m2" descr="/home/claude/img/cart.jpg"/>
          <p:cNvPicPr>
            <a:picLocks noChangeAspect="1"/>
          </p:cNvPicPr>
          <p:nvPr/>
        </p:nvPicPr>
        <p:blipFill>
          <a:blip r:embed="rId5"/>
          <a:stretch>
            <a:fillRect/>
          </a:stretch>
        </p:blipFill>
        <p:spPr>
          <a:xfrm>
            <a:off x="4736592" y="1399032"/>
            <a:ext cx="1773936" cy="1112883"/>
          </a:xfrm>
          <a:prstGeom prst="rect">
            <a:avLst/>
          </a:prstGeom>
        </p:spPr>
      </p:pic>
      <p:sp>
        <p:nvSpPr>
          <p:cNvPr id="18" name="A3f_o2"/>
          <p:cNvSpPr/>
          <p:nvPr/>
        </p:nvSpPr>
        <p:spPr>
          <a:xfrm>
            <a:off x="4754880" y="2542032"/>
            <a:ext cx="274320" cy="274320"/>
          </a:xfrm>
          <a:prstGeom prst="ellipse">
            <a:avLst/>
          </a:prstGeom>
          <a:solidFill>
            <a:srgbClr val="B06A59"/>
          </a:solidFill>
          <a:ln w="12700">
            <a:solidFill>
              <a:srgbClr val="B06A59"/>
            </a:solidFill>
            <a:prstDash val="solid"/>
          </a:ln>
        </p:spPr>
        <p:txBody>
          <a:bodyPr/>
          <a:lstStyle/>
          <a:p>
            <a:endParaRPr lang="en-US"/>
          </a:p>
        </p:txBody>
      </p:sp>
      <p:sp>
        <p:nvSpPr>
          <p:cNvPr id="19" name="A3f_on2"/>
          <p:cNvSpPr txBox="1"/>
          <p:nvPr/>
        </p:nvSpPr>
        <p:spPr>
          <a:xfrm>
            <a:off x="4754880" y="254203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A3f_t2"/>
          <p:cNvSpPr txBox="1"/>
          <p:nvPr/>
        </p:nvSpPr>
        <p:spPr>
          <a:xfrm>
            <a:off x="5120640" y="2505456"/>
            <a:ext cx="1371600" cy="9144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Review cart</a:t>
            </a:r>
            <a:endParaRPr lang="en-US" sz="1400" dirty="0"/>
          </a:p>
          <a:p>
            <a:pPr marL="0" indent="0">
              <a:buNone/>
            </a:pPr>
            <a:r>
              <a:rPr lang="en-US" sz="1100" dirty="0">
                <a:solidFill>
                  <a:srgbClr val="3D2925"/>
                </a:solidFill>
                <a:latin typeface="Calibri" pitchFamily="34" charset="0"/>
                <a:ea typeface="Calibri" pitchFamily="34" charset="-122"/>
                <a:cs typeface="Calibri" pitchFamily="34" charset="-120"/>
              </a:rPr>
              <a:t>Quantities, offers, delivery &amp; live totals</a:t>
            </a:r>
            <a:endParaRPr lang="en-US" sz="1400" dirty="0"/>
          </a:p>
        </p:txBody>
      </p:sp>
      <p:sp>
        <p:nvSpPr>
          <p:cNvPr id="21" name="A3f_a2"/>
          <p:cNvSpPr txBox="1"/>
          <p:nvPr/>
        </p:nvSpPr>
        <p:spPr>
          <a:xfrm>
            <a:off x="6565392" y="2103120"/>
            <a:ext cx="182880" cy="365760"/>
          </a:xfrm>
          <a:prstGeom prst="rect">
            <a:avLst/>
          </a:prstGeom>
          <a:noFill/>
          <a:ln/>
        </p:spPr>
        <p:txBody>
          <a:bodyPr wrap="square" lIns="0" tIns="0" rIns="0" bIns="0" rtlCol="0" anchor="t"/>
          <a:lstStyle/>
          <a:p>
            <a:pPr marL="0" indent="0" algn="ctr">
              <a:buNone/>
            </a:pPr>
            <a:r>
              <a:rPr lang="en-US" sz="2200" b="1" dirty="0">
                <a:solidFill>
                  <a:srgbClr val="D8B779"/>
                </a:solidFill>
                <a:latin typeface="Cambria" pitchFamily="34" charset="0"/>
                <a:ea typeface="Cambria" pitchFamily="34" charset="-122"/>
                <a:cs typeface="Cambria" pitchFamily="34" charset="-120"/>
              </a:rPr>
              <a:t>›</a:t>
            </a:r>
            <a:endParaRPr lang="en-US" sz="2200" dirty="0"/>
          </a:p>
        </p:txBody>
      </p:sp>
      <p:sp>
        <p:nvSpPr>
          <p:cNvPr id="22" name="A4f_k3"/>
          <p:cNvSpPr/>
          <p:nvPr/>
        </p:nvSpPr>
        <p:spPr>
          <a:xfrm>
            <a:off x="6766560" y="1325880"/>
            <a:ext cx="1920240" cy="2148840"/>
          </a:xfrm>
          <a:prstGeom prst="roundRect">
            <a:avLst>
              <a:gd name="adj" fmla="val 476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pic>
        <p:nvPicPr>
          <p:cNvPr id="23" name="A4f_m3" descr="/home/claude/img/checkout.jpg"/>
          <p:cNvPicPr>
            <a:picLocks noChangeAspect="1"/>
          </p:cNvPicPr>
          <p:nvPr/>
        </p:nvPicPr>
        <p:blipFill>
          <a:blip r:embed="rId6"/>
          <a:stretch>
            <a:fillRect/>
          </a:stretch>
        </p:blipFill>
        <p:spPr>
          <a:xfrm>
            <a:off x="6839712" y="1399032"/>
            <a:ext cx="1773936" cy="1112883"/>
          </a:xfrm>
          <a:prstGeom prst="rect">
            <a:avLst/>
          </a:prstGeom>
        </p:spPr>
      </p:pic>
      <p:sp>
        <p:nvSpPr>
          <p:cNvPr id="24" name="A4f_o3"/>
          <p:cNvSpPr/>
          <p:nvPr/>
        </p:nvSpPr>
        <p:spPr>
          <a:xfrm>
            <a:off x="6858000" y="2542032"/>
            <a:ext cx="274320" cy="274320"/>
          </a:xfrm>
          <a:prstGeom prst="ellipse">
            <a:avLst/>
          </a:prstGeom>
          <a:solidFill>
            <a:srgbClr val="B06A59"/>
          </a:solidFill>
          <a:ln w="12700">
            <a:solidFill>
              <a:srgbClr val="B06A59"/>
            </a:solidFill>
            <a:prstDash val="solid"/>
          </a:ln>
        </p:spPr>
        <p:txBody>
          <a:bodyPr/>
          <a:lstStyle/>
          <a:p>
            <a:endParaRPr lang="en-US"/>
          </a:p>
        </p:txBody>
      </p:sp>
      <p:sp>
        <p:nvSpPr>
          <p:cNvPr id="25" name="A4f_on3"/>
          <p:cNvSpPr txBox="1"/>
          <p:nvPr/>
        </p:nvSpPr>
        <p:spPr>
          <a:xfrm>
            <a:off x="6858000" y="2542032"/>
            <a:ext cx="2743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A4f_t3"/>
          <p:cNvSpPr txBox="1"/>
          <p:nvPr/>
        </p:nvSpPr>
        <p:spPr>
          <a:xfrm>
            <a:off x="7223760" y="2505456"/>
            <a:ext cx="1371600" cy="914400"/>
          </a:xfrm>
          <a:prstGeom prst="rect">
            <a:avLst/>
          </a:prstGeom>
          <a:noFill/>
          <a:ln/>
        </p:spPr>
        <p:txBody>
          <a:bodyPr wrap="square" lIns="0" tIns="0" rIns="0" bIns="0" rtlCol="0" anchor="t"/>
          <a:lstStyle/>
          <a:p>
            <a:pPr marL="0" indent="0">
              <a:buNone/>
            </a:pPr>
            <a:r>
              <a:rPr lang="en-US" sz="1400" b="1" dirty="0">
                <a:solidFill>
                  <a:srgbClr val="765044"/>
                </a:solidFill>
                <a:latin typeface="Calibri" pitchFamily="34" charset="0"/>
                <a:ea typeface="Calibri" pitchFamily="34" charset="-122"/>
                <a:cs typeface="Calibri" pitchFamily="34" charset="-120"/>
              </a:rPr>
              <a:t>Checkout</a:t>
            </a:r>
            <a:endParaRPr lang="en-US" sz="1400" dirty="0"/>
          </a:p>
          <a:p>
            <a:pPr marL="0" indent="0">
              <a:buNone/>
            </a:pPr>
            <a:r>
              <a:rPr lang="en-US" sz="1100" dirty="0">
                <a:solidFill>
                  <a:srgbClr val="3D2925"/>
                </a:solidFill>
                <a:latin typeface="Calibri" pitchFamily="34" charset="0"/>
                <a:ea typeface="Calibri" pitchFamily="34" charset="-122"/>
                <a:cs typeface="Calibri" pitchFamily="34" charset="-120"/>
              </a:rPr>
              <a:t>Validated form · COD or card form</a:t>
            </a:r>
            <a:endParaRPr lang="en-US" sz="1400" dirty="0"/>
          </a:p>
        </p:txBody>
      </p:sp>
      <p:sp>
        <p:nvSpPr>
          <p:cNvPr id="27" name="A5f"/>
          <p:cNvSpPr txBox="1"/>
          <p:nvPr/>
        </p:nvSpPr>
        <p:spPr>
          <a:xfrm>
            <a:off x="457200" y="3657600"/>
            <a:ext cx="2743200" cy="228600"/>
          </a:xfrm>
          <a:prstGeom prst="rect">
            <a:avLst/>
          </a:prstGeom>
          <a:noFill/>
          <a:ln/>
        </p:spPr>
        <p:txBody>
          <a:bodyPr wrap="square" lIns="0" tIns="0" rIns="0" bIns="0" rtlCol="0" anchor="t"/>
          <a:lstStyle/>
          <a:p>
            <a:pPr marL="0" indent="0">
              <a:buNone/>
            </a:pPr>
            <a:r>
              <a:rPr lang="en-US" sz="1000" b="1" kern="0" spc="300" dirty="0">
                <a:solidFill>
                  <a:srgbClr val="B06A59"/>
                </a:solidFill>
                <a:latin typeface="Calibri" pitchFamily="34" charset="0"/>
                <a:ea typeface="Calibri" pitchFamily="34" charset="-122"/>
                <a:cs typeface="Calibri" pitchFamily="34" charset="-120"/>
              </a:rPr>
              <a:t>WORKING FEATURES</a:t>
            </a:r>
            <a:endParaRPr lang="en-US" sz="1000" dirty="0"/>
          </a:p>
        </p:txBody>
      </p:sp>
      <p:sp>
        <p:nvSpPr>
          <p:cNvPr id="28" name="A5f_p0"/>
          <p:cNvSpPr/>
          <p:nvPr/>
        </p:nvSpPr>
        <p:spPr>
          <a:xfrm>
            <a:off x="457200" y="3931920"/>
            <a:ext cx="155448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29" name="A5f_q0"/>
          <p:cNvSpPr txBox="1"/>
          <p:nvPr/>
        </p:nvSpPr>
        <p:spPr>
          <a:xfrm>
            <a:off x="457200" y="3931920"/>
            <a:ext cx="1554480" cy="310896"/>
          </a:xfrm>
          <a:prstGeom prst="rect">
            <a:avLst/>
          </a:prstGeom>
          <a:noFill/>
          <a:ln/>
        </p:spPr>
        <p:txBody>
          <a:bodyPr wrap="square" lIns="0" tIns="0" rIns="0" bIns="0" rtlCol="0" anchor="ctr"/>
          <a:lstStyle/>
          <a:p>
            <a:pPr marL="0" indent="0" algn="ctr">
              <a:buNone/>
            </a:pPr>
            <a:r>
              <a:rPr lang="en-US" sz="1050" b="1" dirty="0">
                <a:solidFill>
                  <a:srgbClr val="3D2925"/>
                </a:solidFill>
                <a:latin typeface="Calibri" pitchFamily="34" charset="0"/>
                <a:ea typeface="Calibri" pitchFamily="34" charset="-122"/>
                <a:cs typeface="Calibri" pitchFamily="34" charset="-120"/>
              </a:rPr>
              <a:t>Cart + live counter</a:t>
            </a:r>
            <a:endParaRPr lang="en-US" sz="1050" dirty="0"/>
          </a:p>
        </p:txBody>
      </p:sp>
      <p:sp>
        <p:nvSpPr>
          <p:cNvPr id="30" name="A5f_p1"/>
          <p:cNvSpPr/>
          <p:nvPr/>
        </p:nvSpPr>
        <p:spPr>
          <a:xfrm>
            <a:off x="2103120" y="3931920"/>
            <a:ext cx="91440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1" name="A5f_q1"/>
          <p:cNvSpPr txBox="1"/>
          <p:nvPr/>
        </p:nvSpPr>
        <p:spPr>
          <a:xfrm>
            <a:off x="2103120" y="3931920"/>
            <a:ext cx="914400" cy="310896"/>
          </a:xfrm>
          <a:prstGeom prst="rect">
            <a:avLst/>
          </a:prstGeom>
          <a:noFill/>
          <a:ln/>
        </p:spPr>
        <p:txBody>
          <a:bodyPr wrap="square" lIns="0" tIns="0" rIns="0" bIns="0" rtlCol="0" anchor="ctr"/>
          <a:lstStyle/>
          <a:p>
            <a:pPr marL="0" indent="0" algn="ctr">
              <a:buNone/>
            </a:pPr>
            <a:r>
              <a:rPr lang="en-US" sz="1050" b="1" dirty="0">
                <a:solidFill>
                  <a:srgbClr val="3D2925"/>
                </a:solidFill>
                <a:latin typeface="Calibri" pitchFamily="34" charset="0"/>
                <a:ea typeface="Calibri" pitchFamily="34" charset="-122"/>
                <a:cs typeface="Calibri" pitchFamily="34" charset="-120"/>
              </a:rPr>
              <a:t>Wishlist</a:t>
            </a:r>
            <a:endParaRPr lang="en-US" sz="1050" dirty="0"/>
          </a:p>
        </p:txBody>
      </p:sp>
      <p:sp>
        <p:nvSpPr>
          <p:cNvPr id="32" name="A5f_p2"/>
          <p:cNvSpPr/>
          <p:nvPr/>
        </p:nvSpPr>
        <p:spPr>
          <a:xfrm>
            <a:off x="3108960" y="3931920"/>
            <a:ext cx="137160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3" name="A5f_q2"/>
          <p:cNvSpPr txBox="1"/>
          <p:nvPr/>
        </p:nvSpPr>
        <p:spPr>
          <a:xfrm>
            <a:off x="3108960" y="3931920"/>
            <a:ext cx="1371600" cy="310896"/>
          </a:xfrm>
          <a:prstGeom prst="rect">
            <a:avLst/>
          </a:prstGeom>
          <a:noFill/>
          <a:ln/>
        </p:spPr>
        <p:txBody>
          <a:bodyPr wrap="square" lIns="0" tIns="0" rIns="0" bIns="0" rtlCol="0" anchor="ctr"/>
          <a:lstStyle/>
          <a:p>
            <a:pPr marL="0" indent="0" algn="ctr">
              <a:buNone/>
            </a:pPr>
            <a:r>
              <a:rPr lang="en-US" sz="1050" b="1" dirty="0">
                <a:solidFill>
                  <a:srgbClr val="3D2925"/>
                </a:solidFill>
                <a:latin typeface="Calibri" pitchFamily="34" charset="0"/>
                <a:ea typeface="Calibri" pitchFamily="34" charset="-122"/>
                <a:cs typeface="Calibri" pitchFamily="34" charset="-120"/>
              </a:rPr>
              <a:t>Light / dark theme</a:t>
            </a:r>
            <a:endParaRPr lang="en-US" sz="1050" dirty="0"/>
          </a:p>
        </p:txBody>
      </p:sp>
      <p:sp>
        <p:nvSpPr>
          <p:cNvPr id="34" name="A5f_p3"/>
          <p:cNvSpPr/>
          <p:nvPr/>
        </p:nvSpPr>
        <p:spPr>
          <a:xfrm>
            <a:off x="4572000" y="3931920"/>
            <a:ext cx="214884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5" name="A5f_q3"/>
          <p:cNvSpPr txBox="1"/>
          <p:nvPr/>
        </p:nvSpPr>
        <p:spPr>
          <a:xfrm>
            <a:off x="4572000" y="3931920"/>
            <a:ext cx="2148840" cy="310896"/>
          </a:xfrm>
          <a:prstGeom prst="rect">
            <a:avLst/>
          </a:prstGeom>
          <a:noFill/>
          <a:ln/>
        </p:spPr>
        <p:txBody>
          <a:bodyPr wrap="square" lIns="0" tIns="0" rIns="0" bIns="0" rtlCol="0" anchor="ctr"/>
          <a:lstStyle/>
          <a:p>
            <a:pPr marL="0" indent="0" algn="ctr">
              <a:buNone/>
            </a:pPr>
            <a:r>
              <a:rPr lang="en-US" sz="1050" b="1" dirty="0">
                <a:solidFill>
                  <a:srgbClr val="3D2925"/>
                </a:solidFill>
                <a:latin typeface="Calibri" pitchFamily="34" charset="0"/>
                <a:ea typeface="Calibri" pitchFamily="34" charset="-122"/>
                <a:cs typeface="Calibri" pitchFamily="34" charset="-120"/>
              </a:rPr>
              <a:t>Automatic offers &amp; combo deals</a:t>
            </a:r>
            <a:endParaRPr lang="en-US" sz="1050" dirty="0"/>
          </a:p>
        </p:txBody>
      </p:sp>
      <p:sp>
        <p:nvSpPr>
          <p:cNvPr id="36" name="A5f_p4"/>
          <p:cNvSpPr/>
          <p:nvPr/>
        </p:nvSpPr>
        <p:spPr>
          <a:xfrm>
            <a:off x="6812280" y="3931920"/>
            <a:ext cx="2103120" cy="310896"/>
          </a:xfrm>
          <a:prstGeom prst="roundRect">
            <a:avLst>
              <a:gd name="adj" fmla="val 50000"/>
            </a:avLst>
          </a:prstGeom>
          <a:solidFill>
            <a:srgbClr val="F2C4B5"/>
          </a:solidFill>
          <a:ln w="12700">
            <a:solidFill>
              <a:srgbClr val="F2C4B5"/>
            </a:solidFill>
            <a:prstDash val="solid"/>
          </a:ln>
        </p:spPr>
        <p:txBody>
          <a:bodyPr/>
          <a:lstStyle/>
          <a:p>
            <a:endParaRPr lang="en-US"/>
          </a:p>
        </p:txBody>
      </p:sp>
      <p:sp>
        <p:nvSpPr>
          <p:cNvPr id="37" name="A5f_q4"/>
          <p:cNvSpPr txBox="1"/>
          <p:nvPr/>
        </p:nvSpPr>
        <p:spPr>
          <a:xfrm>
            <a:off x="6812280" y="3931920"/>
            <a:ext cx="2103120" cy="310896"/>
          </a:xfrm>
          <a:prstGeom prst="rect">
            <a:avLst/>
          </a:prstGeom>
          <a:noFill/>
          <a:ln/>
        </p:spPr>
        <p:txBody>
          <a:bodyPr wrap="square" lIns="0" tIns="0" rIns="0" bIns="0" rtlCol="0" anchor="ctr"/>
          <a:lstStyle/>
          <a:p>
            <a:pPr marL="0" indent="0" algn="ctr">
              <a:buNone/>
            </a:pPr>
            <a:r>
              <a:rPr lang="en-US" sz="1050" b="1" dirty="0">
                <a:solidFill>
                  <a:srgbClr val="3D2925"/>
                </a:solidFill>
                <a:latin typeface="Calibri" pitchFamily="34" charset="0"/>
                <a:ea typeface="Calibri" pitchFamily="34" charset="-122"/>
                <a:cs typeface="Calibri" pitchFamily="34" charset="-120"/>
              </a:rPr>
              <a:t>Free delivery from Rs. 5,000</a:t>
            </a:r>
            <a:endParaRPr lang="en-US" sz="1050" dirty="0"/>
          </a:p>
        </p:txBody>
      </p:sp>
      <p:sp>
        <p:nvSpPr>
          <p:cNvPr id="38" name="A6f"/>
          <p:cNvSpPr txBox="1"/>
          <p:nvPr/>
        </p:nvSpPr>
        <p:spPr>
          <a:xfrm>
            <a:off x="457200" y="4370832"/>
            <a:ext cx="8229600" cy="274320"/>
          </a:xfrm>
          <a:prstGeom prst="rect">
            <a:avLst/>
          </a:prstGeom>
          <a:noFill/>
          <a:ln/>
        </p:spPr>
        <p:txBody>
          <a:bodyPr wrap="square" lIns="0" tIns="0" rIns="0" bIns="0" rtlCol="0" anchor="t"/>
          <a:lstStyle/>
          <a:p>
            <a:pPr marL="0" indent="0">
              <a:buNone/>
            </a:pPr>
            <a:r>
              <a:rPr lang="en-US" sz="1050" i="1" dirty="0">
                <a:solidFill>
                  <a:srgbClr val="765044"/>
                </a:solidFill>
                <a:latin typeface="Calibri" pitchFamily="34" charset="0"/>
                <a:ea typeface="Calibri" pitchFamily="34" charset="-122"/>
                <a:cs typeface="Calibri" pitchFamily="34" charset="-120"/>
              </a:rPr>
              <a:t>Simulated on the client side: order confirmation (e.g. BB-1234) and the online-payment form — no real payment or order tracking.</a:t>
            </a:r>
            <a:endParaRPr lang="en-US" sz="1050" dirty="0"/>
          </a:p>
        </p:txBody>
      </p:sp>
      <p:sp>
        <p:nvSpPr>
          <p:cNvPr id="3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par>
                                <p:cTn id="57" presetID="10" presetClass="entr" presetSubtype="0" fill="hold" nodeType="with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600"/>
                                        <p:tgtEl>
                                          <p:spTgt spid="21"/>
                                        </p:tgtEl>
                                      </p:cBhvr>
                                    </p:animEffect>
                                  </p:childTnLst>
                                </p:cTn>
                              </p:par>
                            </p:childTnLst>
                          </p:cTn>
                        </p:par>
                      </p:childTnLst>
                    </p:cTn>
                  </p:par>
                  <p:par>
                    <p:cTn id="63" fill="hold">
                      <p:stCondLst>
                        <p:cond delay="indefinite"/>
                      </p:stCondLst>
                      <p:childTnLst>
                        <p:par>
                          <p:cTn id="64" fill="hold">
                            <p:stCondLst>
                              <p:cond delay="0"/>
                            </p:stCondLst>
                            <p:childTnLst>
                              <p:par>
                                <p:cTn id="65" presetID="10" presetClass="entr" presetSubtype="0" fill="hold" nodeType="clickEffect">
                                  <p:stCondLst>
                                    <p:cond delay="0"/>
                                  </p:stCondLst>
                                  <p:childTnLst>
                                    <p:set>
                                      <p:cBhvr>
                                        <p:cTn id="66" dur="1" fill="hold">
                                          <p:stCondLst>
                                            <p:cond delay="0"/>
                                          </p:stCondLst>
                                        </p:cTn>
                                        <p:tgtEl>
                                          <p:spTgt spid="22"/>
                                        </p:tgtEl>
                                        <p:attrNameLst>
                                          <p:attrName>style.visibility</p:attrName>
                                        </p:attrNameLst>
                                      </p:cBhvr>
                                      <p:to>
                                        <p:strVal val="visible"/>
                                      </p:to>
                                    </p:set>
                                    <p:animEffect transition="in" filter="fade">
                                      <p:cBhvr>
                                        <p:cTn id="67" dur="600"/>
                                        <p:tgtEl>
                                          <p:spTgt spid="22"/>
                                        </p:tgtEl>
                                      </p:cBhvr>
                                    </p:animEffect>
                                  </p:childTnLst>
                                </p:cTn>
                              </p:par>
                              <p:par>
                                <p:cTn id="68" presetID="10" presetClass="entr" presetSubtype="0" fill="hold" nodeType="withEffect">
                                  <p:stCondLst>
                                    <p:cond delay="0"/>
                                  </p:stCondLst>
                                  <p:childTnLst>
                                    <p:set>
                                      <p:cBhvr>
                                        <p:cTn id="69" dur="1" fill="hold">
                                          <p:stCondLst>
                                            <p:cond delay="0"/>
                                          </p:stCondLst>
                                        </p:cTn>
                                        <p:tgtEl>
                                          <p:spTgt spid="23"/>
                                        </p:tgtEl>
                                        <p:attrNameLst>
                                          <p:attrName>style.visibility</p:attrName>
                                        </p:attrNameLst>
                                      </p:cBhvr>
                                      <p:to>
                                        <p:strVal val="visible"/>
                                      </p:to>
                                    </p:set>
                                    <p:animEffect transition="in" filter="fade">
                                      <p:cBhvr>
                                        <p:cTn id="70" dur="600"/>
                                        <p:tgtEl>
                                          <p:spTgt spid="23"/>
                                        </p:tgtEl>
                                      </p:cBhvr>
                                    </p:animEffect>
                                  </p:childTnLst>
                                </p:cTn>
                              </p:par>
                              <p:par>
                                <p:cTn id="71" presetID="10" presetClass="entr" presetSubtype="0" fill="hold" nodeType="withEffect">
                                  <p:stCondLst>
                                    <p:cond delay="0"/>
                                  </p:stCondLst>
                                  <p:childTnLst>
                                    <p:set>
                                      <p:cBhvr>
                                        <p:cTn id="72" dur="1" fill="hold">
                                          <p:stCondLst>
                                            <p:cond delay="0"/>
                                          </p:stCondLst>
                                        </p:cTn>
                                        <p:tgtEl>
                                          <p:spTgt spid="24"/>
                                        </p:tgtEl>
                                        <p:attrNameLst>
                                          <p:attrName>style.visibility</p:attrName>
                                        </p:attrNameLst>
                                      </p:cBhvr>
                                      <p:to>
                                        <p:strVal val="visible"/>
                                      </p:to>
                                    </p:set>
                                    <p:animEffect transition="in" filter="fade">
                                      <p:cBhvr>
                                        <p:cTn id="73" dur="600"/>
                                        <p:tgtEl>
                                          <p:spTgt spid="24"/>
                                        </p:tgtEl>
                                      </p:cBhvr>
                                    </p:animEffect>
                                  </p:childTnLst>
                                </p:cTn>
                              </p:par>
                              <p:par>
                                <p:cTn id="74" presetID="10" presetClass="entr" presetSubtype="0" fill="hold" nodeType="withEffect">
                                  <p:stCondLst>
                                    <p:cond delay="0"/>
                                  </p:stCondLst>
                                  <p:childTnLst>
                                    <p:set>
                                      <p:cBhvr>
                                        <p:cTn id="75" dur="1" fill="hold">
                                          <p:stCondLst>
                                            <p:cond delay="0"/>
                                          </p:stCondLst>
                                        </p:cTn>
                                        <p:tgtEl>
                                          <p:spTgt spid="25"/>
                                        </p:tgtEl>
                                        <p:attrNameLst>
                                          <p:attrName>style.visibility</p:attrName>
                                        </p:attrNameLst>
                                      </p:cBhvr>
                                      <p:to>
                                        <p:strVal val="visible"/>
                                      </p:to>
                                    </p:set>
                                    <p:animEffect transition="in" filter="fade">
                                      <p:cBhvr>
                                        <p:cTn id="76" dur="600"/>
                                        <p:tgtEl>
                                          <p:spTgt spid="25"/>
                                        </p:tgtEl>
                                      </p:cBhvr>
                                    </p:animEffect>
                                  </p:childTnLst>
                                </p:cTn>
                              </p:par>
                              <p:par>
                                <p:cTn id="77" presetID="10" presetClass="entr" presetSubtype="0" fill="hold" nodeType="withEffect">
                                  <p:stCondLst>
                                    <p:cond delay="0"/>
                                  </p:stCondLst>
                                  <p:childTnLst>
                                    <p:set>
                                      <p:cBhvr>
                                        <p:cTn id="78" dur="1" fill="hold">
                                          <p:stCondLst>
                                            <p:cond delay="0"/>
                                          </p:stCondLst>
                                        </p:cTn>
                                        <p:tgtEl>
                                          <p:spTgt spid="26"/>
                                        </p:tgtEl>
                                        <p:attrNameLst>
                                          <p:attrName>style.visibility</p:attrName>
                                        </p:attrNameLst>
                                      </p:cBhvr>
                                      <p:to>
                                        <p:strVal val="visible"/>
                                      </p:to>
                                    </p:set>
                                    <p:animEffect transition="in" filter="fade">
                                      <p:cBhvr>
                                        <p:cTn id="79" dur="600"/>
                                        <p:tgtEl>
                                          <p:spTgt spid="26"/>
                                        </p:tgtEl>
                                      </p:cBhvr>
                                    </p:animEffect>
                                  </p:childTnLst>
                                </p:cTn>
                              </p:par>
                            </p:childTnLst>
                          </p:cTn>
                        </p:par>
                      </p:childTnLst>
                    </p:cTn>
                  </p:par>
                  <p:par>
                    <p:cTn id="80" fill="hold">
                      <p:stCondLst>
                        <p:cond delay="indefinite"/>
                      </p:stCondLst>
                      <p:childTnLst>
                        <p:par>
                          <p:cTn id="81" fill="hold">
                            <p:stCondLst>
                              <p:cond delay="0"/>
                            </p:stCondLst>
                            <p:childTnLst>
                              <p:par>
                                <p:cTn id="82" presetID="10" presetClass="entr" presetSubtype="0" fill="hold" nodeType="clickEffect">
                                  <p:stCondLst>
                                    <p:cond delay="0"/>
                                  </p:stCondLst>
                                  <p:childTnLst>
                                    <p:set>
                                      <p:cBhvr>
                                        <p:cTn id="83" dur="1" fill="hold">
                                          <p:stCondLst>
                                            <p:cond delay="0"/>
                                          </p:stCondLst>
                                        </p:cTn>
                                        <p:tgtEl>
                                          <p:spTgt spid="27"/>
                                        </p:tgtEl>
                                        <p:attrNameLst>
                                          <p:attrName>style.visibility</p:attrName>
                                        </p:attrNameLst>
                                      </p:cBhvr>
                                      <p:to>
                                        <p:strVal val="visible"/>
                                      </p:to>
                                    </p:set>
                                    <p:animEffect transition="in" filter="fade">
                                      <p:cBhvr>
                                        <p:cTn id="84" dur="600"/>
                                        <p:tgtEl>
                                          <p:spTgt spid="27"/>
                                        </p:tgtEl>
                                      </p:cBhvr>
                                    </p:animEffect>
                                  </p:childTnLst>
                                </p:cTn>
                              </p:par>
                              <p:par>
                                <p:cTn id="85" presetID="10" presetClass="entr" presetSubtype="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600"/>
                                        <p:tgtEl>
                                          <p:spTgt spid="28"/>
                                        </p:tgtEl>
                                      </p:cBhvr>
                                    </p:animEffect>
                                  </p:childTnLst>
                                </p:cTn>
                              </p:par>
                              <p:par>
                                <p:cTn id="88" presetID="10" presetClass="entr" presetSubtype="0"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600"/>
                                        <p:tgtEl>
                                          <p:spTgt spid="29"/>
                                        </p:tgtEl>
                                      </p:cBhvr>
                                    </p:animEffect>
                                  </p:childTnLst>
                                </p:cTn>
                              </p:par>
                              <p:par>
                                <p:cTn id="91" presetID="10" presetClass="entr" presetSubtype="0" fill="hold" nodeType="withEffect">
                                  <p:stCondLst>
                                    <p:cond delay="0"/>
                                  </p:stCondLst>
                                  <p:childTnLst>
                                    <p:set>
                                      <p:cBhvr>
                                        <p:cTn id="92" dur="1" fill="hold">
                                          <p:stCondLst>
                                            <p:cond delay="0"/>
                                          </p:stCondLst>
                                        </p:cTn>
                                        <p:tgtEl>
                                          <p:spTgt spid="30"/>
                                        </p:tgtEl>
                                        <p:attrNameLst>
                                          <p:attrName>style.visibility</p:attrName>
                                        </p:attrNameLst>
                                      </p:cBhvr>
                                      <p:to>
                                        <p:strVal val="visible"/>
                                      </p:to>
                                    </p:set>
                                    <p:animEffect transition="in" filter="fade">
                                      <p:cBhvr>
                                        <p:cTn id="93" dur="600"/>
                                        <p:tgtEl>
                                          <p:spTgt spid="30"/>
                                        </p:tgtEl>
                                      </p:cBhvr>
                                    </p:animEffect>
                                  </p:childTnLst>
                                </p:cTn>
                              </p:par>
                              <p:par>
                                <p:cTn id="94" presetID="10" presetClass="entr" presetSubtype="0" fill="hold" nodeType="withEffect">
                                  <p:stCondLst>
                                    <p:cond delay="0"/>
                                  </p:stCondLst>
                                  <p:childTnLst>
                                    <p:set>
                                      <p:cBhvr>
                                        <p:cTn id="95" dur="1" fill="hold">
                                          <p:stCondLst>
                                            <p:cond delay="0"/>
                                          </p:stCondLst>
                                        </p:cTn>
                                        <p:tgtEl>
                                          <p:spTgt spid="31"/>
                                        </p:tgtEl>
                                        <p:attrNameLst>
                                          <p:attrName>style.visibility</p:attrName>
                                        </p:attrNameLst>
                                      </p:cBhvr>
                                      <p:to>
                                        <p:strVal val="visible"/>
                                      </p:to>
                                    </p:set>
                                    <p:animEffect transition="in" filter="fade">
                                      <p:cBhvr>
                                        <p:cTn id="96" dur="600"/>
                                        <p:tgtEl>
                                          <p:spTgt spid="31"/>
                                        </p:tgtEl>
                                      </p:cBhvr>
                                    </p:animEffect>
                                  </p:childTnLst>
                                </p:cTn>
                              </p:par>
                              <p:par>
                                <p:cTn id="97" presetID="10" presetClass="entr" presetSubtype="0" fill="hold" nodeType="withEffect">
                                  <p:stCondLst>
                                    <p:cond delay="0"/>
                                  </p:stCondLst>
                                  <p:childTnLst>
                                    <p:set>
                                      <p:cBhvr>
                                        <p:cTn id="98" dur="1" fill="hold">
                                          <p:stCondLst>
                                            <p:cond delay="0"/>
                                          </p:stCondLst>
                                        </p:cTn>
                                        <p:tgtEl>
                                          <p:spTgt spid="32"/>
                                        </p:tgtEl>
                                        <p:attrNameLst>
                                          <p:attrName>style.visibility</p:attrName>
                                        </p:attrNameLst>
                                      </p:cBhvr>
                                      <p:to>
                                        <p:strVal val="visible"/>
                                      </p:to>
                                    </p:set>
                                    <p:animEffect transition="in" filter="fade">
                                      <p:cBhvr>
                                        <p:cTn id="99" dur="600"/>
                                        <p:tgtEl>
                                          <p:spTgt spid="32"/>
                                        </p:tgtEl>
                                      </p:cBhvr>
                                    </p:animEffect>
                                  </p:childTnLst>
                                </p:cTn>
                              </p:par>
                              <p:par>
                                <p:cTn id="100" presetID="10" presetClass="entr" presetSubtype="0" fill="hold" nodeType="withEffect">
                                  <p:stCondLst>
                                    <p:cond delay="0"/>
                                  </p:stCondLst>
                                  <p:childTnLst>
                                    <p:set>
                                      <p:cBhvr>
                                        <p:cTn id="101" dur="1" fill="hold">
                                          <p:stCondLst>
                                            <p:cond delay="0"/>
                                          </p:stCondLst>
                                        </p:cTn>
                                        <p:tgtEl>
                                          <p:spTgt spid="33"/>
                                        </p:tgtEl>
                                        <p:attrNameLst>
                                          <p:attrName>style.visibility</p:attrName>
                                        </p:attrNameLst>
                                      </p:cBhvr>
                                      <p:to>
                                        <p:strVal val="visible"/>
                                      </p:to>
                                    </p:set>
                                    <p:animEffect transition="in" filter="fade">
                                      <p:cBhvr>
                                        <p:cTn id="102" dur="600"/>
                                        <p:tgtEl>
                                          <p:spTgt spid="33"/>
                                        </p:tgtEl>
                                      </p:cBhvr>
                                    </p:animEffect>
                                  </p:childTnLst>
                                </p:cTn>
                              </p:par>
                              <p:par>
                                <p:cTn id="103" presetID="10" presetClass="entr" presetSubtype="0" fill="hold" nodeType="withEffect">
                                  <p:stCondLst>
                                    <p:cond delay="0"/>
                                  </p:stCondLst>
                                  <p:childTnLst>
                                    <p:set>
                                      <p:cBhvr>
                                        <p:cTn id="104" dur="1" fill="hold">
                                          <p:stCondLst>
                                            <p:cond delay="0"/>
                                          </p:stCondLst>
                                        </p:cTn>
                                        <p:tgtEl>
                                          <p:spTgt spid="34"/>
                                        </p:tgtEl>
                                        <p:attrNameLst>
                                          <p:attrName>style.visibility</p:attrName>
                                        </p:attrNameLst>
                                      </p:cBhvr>
                                      <p:to>
                                        <p:strVal val="visible"/>
                                      </p:to>
                                    </p:set>
                                    <p:animEffect transition="in" filter="fade">
                                      <p:cBhvr>
                                        <p:cTn id="105" dur="600"/>
                                        <p:tgtEl>
                                          <p:spTgt spid="34"/>
                                        </p:tgtEl>
                                      </p:cBhvr>
                                    </p:animEffect>
                                  </p:childTnLst>
                                </p:cTn>
                              </p:par>
                              <p:par>
                                <p:cTn id="106" presetID="10" presetClass="entr" presetSubtype="0" fill="hold" nodeType="withEffect">
                                  <p:stCondLst>
                                    <p:cond delay="0"/>
                                  </p:stCondLst>
                                  <p:childTnLst>
                                    <p:set>
                                      <p:cBhvr>
                                        <p:cTn id="107" dur="1" fill="hold">
                                          <p:stCondLst>
                                            <p:cond delay="0"/>
                                          </p:stCondLst>
                                        </p:cTn>
                                        <p:tgtEl>
                                          <p:spTgt spid="35"/>
                                        </p:tgtEl>
                                        <p:attrNameLst>
                                          <p:attrName>style.visibility</p:attrName>
                                        </p:attrNameLst>
                                      </p:cBhvr>
                                      <p:to>
                                        <p:strVal val="visible"/>
                                      </p:to>
                                    </p:set>
                                    <p:animEffect transition="in" filter="fade">
                                      <p:cBhvr>
                                        <p:cTn id="108" dur="600"/>
                                        <p:tgtEl>
                                          <p:spTgt spid="35"/>
                                        </p:tgtEl>
                                      </p:cBhvr>
                                    </p:animEffect>
                                  </p:childTnLst>
                                </p:cTn>
                              </p:par>
                              <p:par>
                                <p:cTn id="109" presetID="10" presetClass="entr" presetSubtype="0" fill="hold" nodeType="withEffect">
                                  <p:stCondLst>
                                    <p:cond delay="0"/>
                                  </p:stCondLst>
                                  <p:childTnLst>
                                    <p:set>
                                      <p:cBhvr>
                                        <p:cTn id="110" dur="1" fill="hold">
                                          <p:stCondLst>
                                            <p:cond delay="0"/>
                                          </p:stCondLst>
                                        </p:cTn>
                                        <p:tgtEl>
                                          <p:spTgt spid="36"/>
                                        </p:tgtEl>
                                        <p:attrNameLst>
                                          <p:attrName>style.visibility</p:attrName>
                                        </p:attrNameLst>
                                      </p:cBhvr>
                                      <p:to>
                                        <p:strVal val="visible"/>
                                      </p:to>
                                    </p:set>
                                    <p:animEffect transition="in" filter="fade">
                                      <p:cBhvr>
                                        <p:cTn id="111" dur="600"/>
                                        <p:tgtEl>
                                          <p:spTgt spid="36"/>
                                        </p:tgtEl>
                                      </p:cBhvr>
                                    </p:animEffect>
                                  </p:childTnLst>
                                </p:cTn>
                              </p:par>
                              <p:par>
                                <p:cTn id="112" presetID="10" presetClass="entr" presetSubtype="0" fill="hold" nodeType="withEffect">
                                  <p:stCondLst>
                                    <p:cond delay="0"/>
                                  </p:stCondLst>
                                  <p:childTnLst>
                                    <p:set>
                                      <p:cBhvr>
                                        <p:cTn id="113" dur="1" fill="hold">
                                          <p:stCondLst>
                                            <p:cond delay="0"/>
                                          </p:stCondLst>
                                        </p:cTn>
                                        <p:tgtEl>
                                          <p:spTgt spid="37"/>
                                        </p:tgtEl>
                                        <p:attrNameLst>
                                          <p:attrName>style.visibility</p:attrName>
                                        </p:attrNameLst>
                                      </p:cBhvr>
                                      <p:to>
                                        <p:strVal val="visible"/>
                                      </p:to>
                                    </p:set>
                                    <p:animEffect transition="in" filter="fade">
                                      <p:cBhvr>
                                        <p:cTn id="114" dur="600"/>
                                        <p:tgtEl>
                                          <p:spTgt spid="37"/>
                                        </p:tgtEl>
                                      </p:cBhvr>
                                    </p:animEffect>
                                  </p:childTnLst>
                                </p:cTn>
                              </p:par>
                            </p:childTnLst>
                          </p:cTn>
                        </p:par>
                      </p:childTnLst>
                    </p:cTn>
                  </p:par>
                  <p:par>
                    <p:cTn id="115" fill="hold">
                      <p:stCondLst>
                        <p:cond delay="indefinite"/>
                      </p:stCondLst>
                      <p:childTnLst>
                        <p:par>
                          <p:cTn id="116" fill="hold">
                            <p:stCondLst>
                              <p:cond delay="0"/>
                            </p:stCondLst>
                            <p:childTnLst>
                              <p:par>
                                <p:cTn id="117" presetID="10" presetClass="entr" presetSubtype="0" fill="hold" nodeType="clickEffect">
                                  <p:stCondLst>
                                    <p:cond delay="0"/>
                                  </p:stCondLst>
                                  <p:childTnLst>
                                    <p:set>
                                      <p:cBhvr>
                                        <p:cTn id="118" dur="1" fill="hold">
                                          <p:stCondLst>
                                            <p:cond delay="0"/>
                                          </p:stCondLst>
                                        </p:cTn>
                                        <p:tgtEl>
                                          <p:spTgt spid="38"/>
                                        </p:tgtEl>
                                        <p:attrNameLst>
                                          <p:attrName>style.visibility</p:attrName>
                                        </p:attrNameLst>
                                      </p:cBhvr>
                                      <p:to>
                                        <p:strVal val="visible"/>
                                      </p:to>
                                    </p:set>
                                    <p:animEffect transition="in" filter="fade">
                                      <p:cBhvr>
                                        <p:cTn id="119" dur="6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26 PAGES · ONE SHARED CODEBASE</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Website structure &amp; navigation</a:t>
            </a:r>
            <a:endParaRPr lang="en-US" sz="3200" dirty="0"/>
          </a:p>
        </p:txBody>
      </p:sp>
      <p:sp>
        <p:nvSpPr>
          <p:cNvPr id="4" name="A1f_h"/>
          <p:cNvSpPr/>
          <p:nvPr/>
        </p:nvSpPr>
        <p:spPr>
          <a:xfrm>
            <a:off x="3657600" y="1234440"/>
            <a:ext cx="1828800" cy="411480"/>
          </a:xfrm>
          <a:prstGeom prst="roundRect">
            <a:avLst>
              <a:gd name="adj" fmla="val 17778"/>
            </a:avLst>
          </a:prstGeom>
          <a:solidFill>
            <a:srgbClr val="765044"/>
          </a:solidFill>
          <a:ln w="9525">
            <a:solidFill>
              <a:srgbClr val="F2C4B5"/>
            </a:solidFill>
            <a:prstDash val="solid"/>
          </a:ln>
        </p:spPr>
        <p:txBody>
          <a:bodyPr/>
          <a:lstStyle/>
          <a:p>
            <a:endParaRPr lang="en-US"/>
          </a:p>
        </p:txBody>
      </p:sp>
      <p:sp>
        <p:nvSpPr>
          <p:cNvPr id="5" name="A1f_ht"/>
          <p:cNvSpPr txBox="1"/>
          <p:nvPr/>
        </p:nvSpPr>
        <p:spPr>
          <a:xfrm>
            <a:off x="3657600" y="1234440"/>
            <a:ext cx="1828800" cy="41148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Home · index.html</a:t>
            </a:r>
            <a:endParaRPr lang="en-US" sz="1200" dirty="0"/>
          </a:p>
        </p:txBody>
      </p:sp>
      <p:sp>
        <p:nvSpPr>
          <p:cNvPr id="6" name="A2f_bus"/>
          <p:cNvSpPr/>
          <p:nvPr/>
        </p:nvSpPr>
        <p:spPr>
          <a:xfrm>
            <a:off x="1097280" y="1874520"/>
            <a:ext cx="7086600" cy="0"/>
          </a:xfrm>
          <a:prstGeom prst="line">
            <a:avLst/>
          </a:prstGeom>
          <a:noFill/>
          <a:ln w="15875">
            <a:solidFill>
              <a:srgbClr val="D99587"/>
            </a:solidFill>
            <a:prstDash val="solid"/>
          </a:ln>
        </p:spPr>
        <p:txBody>
          <a:bodyPr/>
          <a:lstStyle/>
          <a:p>
            <a:endParaRPr lang="en-US"/>
          </a:p>
        </p:txBody>
      </p:sp>
      <p:sp>
        <p:nvSpPr>
          <p:cNvPr id="7" name="A2f_stem"/>
          <p:cNvSpPr/>
          <p:nvPr/>
        </p:nvSpPr>
        <p:spPr>
          <a:xfrm>
            <a:off x="4572000" y="1645920"/>
            <a:ext cx="0" cy="228600"/>
          </a:xfrm>
          <a:prstGeom prst="line">
            <a:avLst/>
          </a:prstGeom>
          <a:noFill/>
          <a:ln w="15875">
            <a:solidFill>
              <a:srgbClr val="D99587"/>
            </a:solidFill>
            <a:prstDash val="solid"/>
          </a:ln>
        </p:spPr>
        <p:txBody>
          <a:bodyPr/>
          <a:lstStyle/>
          <a:p>
            <a:endParaRPr lang="en-US"/>
          </a:p>
        </p:txBody>
      </p:sp>
      <p:sp>
        <p:nvSpPr>
          <p:cNvPr id="8" name="A2f_d0"/>
          <p:cNvSpPr/>
          <p:nvPr/>
        </p:nvSpPr>
        <p:spPr>
          <a:xfrm>
            <a:off x="1097280" y="1874520"/>
            <a:ext cx="0" cy="182880"/>
          </a:xfrm>
          <a:prstGeom prst="line">
            <a:avLst/>
          </a:prstGeom>
          <a:noFill/>
          <a:ln w="15875">
            <a:solidFill>
              <a:srgbClr val="D99587"/>
            </a:solidFill>
            <a:prstDash val="solid"/>
          </a:ln>
        </p:spPr>
        <p:txBody>
          <a:bodyPr/>
          <a:lstStyle/>
          <a:p>
            <a:endParaRPr lang="en-US"/>
          </a:p>
        </p:txBody>
      </p:sp>
      <p:sp>
        <p:nvSpPr>
          <p:cNvPr id="9" name="A2f_n0"/>
          <p:cNvSpPr/>
          <p:nvPr/>
        </p:nvSpPr>
        <p:spPr>
          <a:xfrm>
            <a:off x="457200" y="2057400"/>
            <a:ext cx="1280160" cy="411480"/>
          </a:xfrm>
          <a:prstGeom prst="roundRect">
            <a:avLst>
              <a:gd name="adj" fmla="val 17778"/>
            </a:avLst>
          </a:prstGeom>
          <a:solidFill>
            <a:srgbClr val="D99587"/>
          </a:solidFill>
          <a:ln w="9525">
            <a:solidFill>
              <a:srgbClr val="F2C4B5"/>
            </a:solidFill>
            <a:prstDash val="solid"/>
          </a:ln>
        </p:spPr>
        <p:txBody>
          <a:bodyPr/>
          <a:lstStyle/>
          <a:p>
            <a:endParaRPr lang="en-US"/>
          </a:p>
        </p:txBody>
      </p:sp>
      <p:sp>
        <p:nvSpPr>
          <p:cNvPr id="10" name="A2f_n0t"/>
          <p:cNvSpPr txBox="1"/>
          <p:nvPr/>
        </p:nvSpPr>
        <p:spPr>
          <a:xfrm>
            <a:off x="457200" y="2057400"/>
            <a:ext cx="1280160" cy="41148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Menu</a:t>
            </a:r>
            <a:endParaRPr lang="en-US" sz="1200" dirty="0"/>
          </a:p>
        </p:txBody>
      </p:sp>
      <p:sp>
        <p:nvSpPr>
          <p:cNvPr id="11" name="A2f_d1"/>
          <p:cNvSpPr/>
          <p:nvPr/>
        </p:nvSpPr>
        <p:spPr>
          <a:xfrm>
            <a:off x="2514600" y="1874520"/>
            <a:ext cx="0" cy="182880"/>
          </a:xfrm>
          <a:prstGeom prst="line">
            <a:avLst/>
          </a:prstGeom>
          <a:noFill/>
          <a:ln w="15875">
            <a:solidFill>
              <a:srgbClr val="D99587"/>
            </a:solidFill>
            <a:prstDash val="solid"/>
          </a:ln>
        </p:spPr>
        <p:txBody>
          <a:bodyPr/>
          <a:lstStyle/>
          <a:p>
            <a:endParaRPr lang="en-US"/>
          </a:p>
        </p:txBody>
      </p:sp>
      <p:sp>
        <p:nvSpPr>
          <p:cNvPr id="12" name="A2f_n1"/>
          <p:cNvSpPr/>
          <p:nvPr/>
        </p:nvSpPr>
        <p:spPr>
          <a:xfrm>
            <a:off x="1874520" y="2057400"/>
            <a:ext cx="1280160" cy="411480"/>
          </a:xfrm>
          <a:prstGeom prst="roundRect">
            <a:avLst>
              <a:gd name="adj" fmla="val 17778"/>
            </a:avLst>
          </a:prstGeom>
          <a:solidFill>
            <a:srgbClr val="F2C4B5"/>
          </a:solidFill>
          <a:ln w="9525">
            <a:solidFill>
              <a:srgbClr val="F2C4B5"/>
            </a:solidFill>
            <a:prstDash val="solid"/>
          </a:ln>
        </p:spPr>
        <p:txBody>
          <a:bodyPr/>
          <a:lstStyle/>
          <a:p>
            <a:endParaRPr lang="en-US"/>
          </a:p>
        </p:txBody>
      </p:sp>
      <p:sp>
        <p:nvSpPr>
          <p:cNvPr id="13" name="A2f_n1t"/>
          <p:cNvSpPr txBox="1"/>
          <p:nvPr/>
        </p:nvSpPr>
        <p:spPr>
          <a:xfrm>
            <a:off x="1874520" y="2057400"/>
            <a:ext cx="1280160" cy="41148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Offers</a:t>
            </a:r>
            <a:endParaRPr lang="en-US" sz="1200" dirty="0"/>
          </a:p>
        </p:txBody>
      </p:sp>
      <p:sp>
        <p:nvSpPr>
          <p:cNvPr id="14" name="A2f_d2"/>
          <p:cNvSpPr/>
          <p:nvPr/>
        </p:nvSpPr>
        <p:spPr>
          <a:xfrm>
            <a:off x="3931920" y="1874520"/>
            <a:ext cx="0" cy="182880"/>
          </a:xfrm>
          <a:prstGeom prst="line">
            <a:avLst/>
          </a:prstGeom>
          <a:noFill/>
          <a:ln w="15875">
            <a:solidFill>
              <a:srgbClr val="D99587"/>
            </a:solidFill>
            <a:prstDash val="solid"/>
          </a:ln>
        </p:spPr>
        <p:txBody>
          <a:bodyPr/>
          <a:lstStyle/>
          <a:p>
            <a:endParaRPr lang="en-US"/>
          </a:p>
        </p:txBody>
      </p:sp>
      <p:sp>
        <p:nvSpPr>
          <p:cNvPr id="15" name="A2f_n2"/>
          <p:cNvSpPr/>
          <p:nvPr/>
        </p:nvSpPr>
        <p:spPr>
          <a:xfrm>
            <a:off x="3291840" y="2057400"/>
            <a:ext cx="1280160" cy="411480"/>
          </a:xfrm>
          <a:prstGeom prst="roundRect">
            <a:avLst>
              <a:gd name="adj" fmla="val 17778"/>
            </a:avLst>
          </a:prstGeom>
          <a:solidFill>
            <a:srgbClr val="F2C4B5"/>
          </a:solidFill>
          <a:ln w="9525">
            <a:solidFill>
              <a:srgbClr val="F2C4B5"/>
            </a:solidFill>
            <a:prstDash val="solid"/>
          </a:ln>
        </p:spPr>
        <p:txBody>
          <a:bodyPr/>
          <a:lstStyle/>
          <a:p>
            <a:endParaRPr lang="en-US"/>
          </a:p>
        </p:txBody>
      </p:sp>
      <p:sp>
        <p:nvSpPr>
          <p:cNvPr id="16" name="A2f_n2t"/>
          <p:cNvSpPr txBox="1"/>
          <p:nvPr/>
        </p:nvSpPr>
        <p:spPr>
          <a:xfrm>
            <a:off x="3291840" y="2057400"/>
            <a:ext cx="1280160" cy="41148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Our Story</a:t>
            </a:r>
            <a:endParaRPr lang="en-US" sz="1200" dirty="0"/>
          </a:p>
        </p:txBody>
      </p:sp>
      <p:sp>
        <p:nvSpPr>
          <p:cNvPr id="17" name="A2f_d3"/>
          <p:cNvSpPr/>
          <p:nvPr/>
        </p:nvSpPr>
        <p:spPr>
          <a:xfrm>
            <a:off x="5349240" y="1874520"/>
            <a:ext cx="0" cy="182880"/>
          </a:xfrm>
          <a:prstGeom prst="line">
            <a:avLst/>
          </a:prstGeom>
          <a:noFill/>
          <a:ln w="15875">
            <a:solidFill>
              <a:srgbClr val="D99587"/>
            </a:solidFill>
            <a:prstDash val="solid"/>
          </a:ln>
        </p:spPr>
        <p:txBody>
          <a:bodyPr/>
          <a:lstStyle/>
          <a:p>
            <a:endParaRPr lang="en-US"/>
          </a:p>
        </p:txBody>
      </p:sp>
      <p:sp>
        <p:nvSpPr>
          <p:cNvPr id="18" name="A2f_n3"/>
          <p:cNvSpPr/>
          <p:nvPr/>
        </p:nvSpPr>
        <p:spPr>
          <a:xfrm>
            <a:off x="4709160" y="2057400"/>
            <a:ext cx="1280160" cy="411480"/>
          </a:xfrm>
          <a:prstGeom prst="roundRect">
            <a:avLst>
              <a:gd name="adj" fmla="val 17778"/>
            </a:avLst>
          </a:prstGeom>
          <a:solidFill>
            <a:srgbClr val="F2C4B5"/>
          </a:solidFill>
          <a:ln w="9525">
            <a:solidFill>
              <a:srgbClr val="F2C4B5"/>
            </a:solidFill>
            <a:prstDash val="solid"/>
          </a:ln>
        </p:spPr>
        <p:txBody>
          <a:bodyPr/>
          <a:lstStyle/>
          <a:p>
            <a:endParaRPr lang="en-US"/>
          </a:p>
        </p:txBody>
      </p:sp>
      <p:sp>
        <p:nvSpPr>
          <p:cNvPr id="19" name="A2f_n3t"/>
          <p:cNvSpPr txBox="1"/>
          <p:nvPr/>
        </p:nvSpPr>
        <p:spPr>
          <a:xfrm>
            <a:off x="4709160" y="2057400"/>
            <a:ext cx="1280160" cy="41148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Gallery</a:t>
            </a:r>
            <a:endParaRPr lang="en-US" sz="1200" dirty="0"/>
          </a:p>
        </p:txBody>
      </p:sp>
      <p:sp>
        <p:nvSpPr>
          <p:cNvPr id="20" name="A2f_d4"/>
          <p:cNvSpPr/>
          <p:nvPr/>
        </p:nvSpPr>
        <p:spPr>
          <a:xfrm>
            <a:off x="6766560" y="1874520"/>
            <a:ext cx="0" cy="182880"/>
          </a:xfrm>
          <a:prstGeom prst="line">
            <a:avLst/>
          </a:prstGeom>
          <a:noFill/>
          <a:ln w="15875">
            <a:solidFill>
              <a:srgbClr val="D99587"/>
            </a:solidFill>
            <a:prstDash val="solid"/>
          </a:ln>
        </p:spPr>
        <p:txBody>
          <a:bodyPr/>
          <a:lstStyle/>
          <a:p>
            <a:endParaRPr lang="en-US"/>
          </a:p>
        </p:txBody>
      </p:sp>
      <p:sp>
        <p:nvSpPr>
          <p:cNvPr id="21" name="A2f_n4"/>
          <p:cNvSpPr/>
          <p:nvPr/>
        </p:nvSpPr>
        <p:spPr>
          <a:xfrm>
            <a:off x="6126480" y="2057400"/>
            <a:ext cx="1280160" cy="411480"/>
          </a:xfrm>
          <a:prstGeom prst="roundRect">
            <a:avLst>
              <a:gd name="adj" fmla="val 17778"/>
            </a:avLst>
          </a:prstGeom>
          <a:solidFill>
            <a:srgbClr val="F2C4B5"/>
          </a:solidFill>
          <a:ln w="9525">
            <a:solidFill>
              <a:srgbClr val="F2C4B5"/>
            </a:solidFill>
            <a:prstDash val="solid"/>
          </a:ln>
        </p:spPr>
        <p:txBody>
          <a:bodyPr/>
          <a:lstStyle/>
          <a:p>
            <a:endParaRPr lang="en-US"/>
          </a:p>
        </p:txBody>
      </p:sp>
      <p:sp>
        <p:nvSpPr>
          <p:cNvPr id="22" name="A2f_n4t"/>
          <p:cNvSpPr txBox="1"/>
          <p:nvPr/>
        </p:nvSpPr>
        <p:spPr>
          <a:xfrm>
            <a:off x="6126480" y="2057400"/>
            <a:ext cx="1280160" cy="41148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Reviews</a:t>
            </a:r>
            <a:endParaRPr lang="en-US" sz="1200" dirty="0"/>
          </a:p>
        </p:txBody>
      </p:sp>
      <p:sp>
        <p:nvSpPr>
          <p:cNvPr id="23" name="A2f_d5"/>
          <p:cNvSpPr/>
          <p:nvPr/>
        </p:nvSpPr>
        <p:spPr>
          <a:xfrm>
            <a:off x="8183880" y="1874520"/>
            <a:ext cx="0" cy="182880"/>
          </a:xfrm>
          <a:prstGeom prst="line">
            <a:avLst/>
          </a:prstGeom>
          <a:noFill/>
          <a:ln w="15875">
            <a:solidFill>
              <a:srgbClr val="D99587"/>
            </a:solidFill>
            <a:prstDash val="solid"/>
          </a:ln>
        </p:spPr>
        <p:txBody>
          <a:bodyPr/>
          <a:lstStyle/>
          <a:p>
            <a:endParaRPr lang="en-US"/>
          </a:p>
        </p:txBody>
      </p:sp>
      <p:sp>
        <p:nvSpPr>
          <p:cNvPr id="24" name="A2f_n5"/>
          <p:cNvSpPr/>
          <p:nvPr/>
        </p:nvSpPr>
        <p:spPr>
          <a:xfrm>
            <a:off x="7543800" y="2057400"/>
            <a:ext cx="1280160" cy="411480"/>
          </a:xfrm>
          <a:prstGeom prst="roundRect">
            <a:avLst>
              <a:gd name="adj" fmla="val 17778"/>
            </a:avLst>
          </a:prstGeom>
          <a:solidFill>
            <a:srgbClr val="F2C4B5"/>
          </a:solidFill>
          <a:ln w="9525">
            <a:solidFill>
              <a:srgbClr val="F2C4B5"/>
            </a:solidFill>
            <a:prstDash val="solid"/>
          </a:ln>
        </p:spPr>
        <p:txBody>
          <a:bodyPr/>
          <a:lstStyle/>
          <a:p>
            <a:endParaRPr lang="en-US"/>
          </a:p>
        </p:txBody>
      </p:sp>
      <p:sp>
        <p:nvSpPr>
          <p:cNvPr id="25" name="A2f_n5t"/>
          <p:cNvSpPr txBox="1"/>
          <p:nvPr/>
        </p:nvSpPr>
        <p:spPr>
          <a:xfrm>
            <a:off x="7543800" y="2057400"/>
            <a:ext cx="1280160" cy="41148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Contact</a:t>
            </a:r>
            <a:endParaRPr lang="en-US" sz="1200" dirty="0"/>
          </a:p>
        </p:txBody>
      </p:sp>
      <p:sp>
        <p:nvSpPr>
          <p:cNvPr id="26" name="A3f_l"/>
          <p:cNvSpPr/>
          <p:nvPr/>
        </p:nvSpPr>
        <p:spPr>
          <a:xfrm>
            <a:off x="1097280" y="2468880"/>
            <a:ext cx="0" cy="274320"/>
          </a:xfrm>
          <a:prstGeom prst="line">
            <a:avLst/>
          </a:prstGeom>
          <a:noFill/>
          <a:ln w="15875">
            <a:solidFill>
              <a:srgbClr val="D99587"/>
            </a:solidFill>
            <a:prstDash val="solid"/>
          </a:ln>
        </p:spPr>
        <p:txBody>
          <a:bodyPr/>
          <a:lstStyle/>
          <a:p>
            <a:endParaRPr lang="en-US"/>
          </a:p>
        </p:txBody>
      </p:sp>
      <p:sp>
        <p:nvSpPr>
          <p:cNvPr id="27" name="A3f_h"/>
          <p:cNvSpPr txBox="1"/>
          <p:nvPr/>
        </p:nvSpPr>
        <p:spPr>
          <a:xfrm>
            <a:off x="457200" y="2761488"/>
            <a:ext cx="3657600" cy="201168"/>
          </a:xfrm>
          <a:prstGeom prst="rect">
            <a:avLst/>
          </a:prstGeom>
          <a:noFill/>
          <a:ln/>
        </p:spPr>
        <p:txBody>
          <a:bodyPr wrap="square" lIns="0" tIns="0" rIns="0" bIns="0" rtlCol="0" anchor="t"/>
          <a:lstStyle/>
          <a:p>
            <a:pPr marL="0" indent="0">
              <a:buNone/>
            </a:pPr>
            <a:r>
              <a:rPr lang="en-US" sz="1000" b="1" kern="0" spc="300" dirty="0">
                <a:solidFill>
                  <a:srgbClr val="B06A59"/>
                </a:solidFill>
                <a:latin typeface="Calibri" pitchFamily="34" charset="0"/>
                <a:ea typeface="Calibri" pitchFamily="34" charset="-122"/>
                <a:cs typeface="Calibri" pitchFamily="34" charset="-120"/>
              </a:rPr>
              <a:t>MENU → 14 CATEGORY PAGES</a:t>
            </a:r>
            <a:endParaRPr lang="en-US" sz="1000" dirty="0"/>
          </a:p>
        </p:txBody>
      </p:sp>
      <p:sp>
        <p:nvSpPr>
          <p:cNvPr id="28" name="A3f_c0"/>
          <p:cNvSpPr/>
          <p:nvPr/>
        </p:nvSpPr>
        <p:spPr>
          <a:xfrm>
            <a:off x="45720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29" name="A3f_c0t"/>
          <p:cNvSpPr txBox="1"/>
          <p:nvPr/>
        </p:nvSpPr>
        <p:spPr>
          <a:xfrm>
            <a:off x="45720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Cakes</a:t>
            </a:r>
            <a:endParaRPr lang="en-US" sz="1050" dirty="0"/>
          </a:p>
        </p:txBody>
      </p:sp>
      <p:sp>
        <p:nvSpPr>
          <p:cNvPr id="30" name="A3f_c1"/>
          <p:cNvSpPr/>
          <p:nvPr/>
        </p:nvSpPr>
        <p:spPr>
          <a:xfrm>
            <a:off x="164592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31" name="A3f_c1t"/>
          <p:cNvSpPr txBox="1"/>
          <p:nvPr/>
        </p:nvSpPr>
        <p:spPr>
          <a:xfrm>
            <a:off x="164592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Cupcakes</a:t>
            </a:r>
            <a:endParaRPr lang="en-US" sz="1050" dirty="0"/>
          </a:p>
        </p:txBody>
      </p:sp>
      <p:sp>
        <p:nvSpPr>
          <p:cNvPr id="32" name="A3f_c2"/>
          <p:cNvSpPr/>
          <p:nvPr/>
        </p:nvSpPr>
        <p:spPr>
          <a:xfrm>
            <a:off x="283464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33" name="A3f_c2t"/>
          <p:cNvSpPr txBox="1"/>
          <p:nvPr/>
        </p:nvSpPr>
        <p:spPr>
          <a:xfrm>
            <a:off x="283464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Pastries</a:t>
            </a:r>
            <a:endParaRPr lang="en-US" sz="1050" dirty="0"/>
          </a:p>
        </p:txBody>
      </p:sp>
      <p:sp>
        <p:nvSpPr>
          <p:cNvPr id="34" name="A3f_c3"/>
          <p:cNvSpPr/>
          <p:nvPr/>
        </p:nvSpPr>
        <p:spPr>
          <a:xfrm>
            <a:off x="402336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35" name="A3f_c3t"/>
          <p:cNvSpPr txBox="1"/>
          <p:nvPr/>
        </p:nvSpPr>
        <p:spPr>
          <a:xfrm>
            <a:off x="402336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Croissants</a:t>
            </a:r>
            <a:endParaRPr lang="en-US" sz="1050" dirty="0"/>
          </a:p>
        </p:txBody>
      </p:sp>
      <p:sp>
        <p:nvSpPr>
          <p:cNvPr id="36" name="A3f_c4"/>
          <p:cNvSpPr/>
          <p:nvPr/>
        </p:nvSpPr>
        <p:spPr>
          <a:xfrm>
            <a:off x="521208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37" name="A3f_c4t"/>
          <p:cNvSpPr txBox="1"/>
          <p:nvPr/>
        </p:nvSpPr>
        <p:spPr>
          <a:xfrm>
            <a:off x="521208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Donuts</a:t>
            </a:r>
            <a:endParaRPr lang="en-US" sz="1050" dirty="0"/>
          </a:p>
        </p:txBody>
      </p:sp>
      <p:sp>
        <p:nvSpPr>
          <p:cNvPr id="38" name="A3f_c5"/>
          <p:cNvSpPr/>
          <p:nvPr/>
        </p:nvSpPr>
        <p:spPr>
          <a:xfrm>
            <a:off x="640080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39" name="A3f_c5t"/>
          <p:cNvSpPr txBox="1"/>
          <p:nvPr/>
        </p:nvSpPr>
        <p:spPr>
          <a:xfrm>
            <a:off x="640080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Cookies</a:t>
            </a:r>
            <a:endParaRPr lang="en-US" sz="1050" dirty="0"/>
          </a:p>
        </p:txBody>
      </p:sp>
      <p:sp>
        <p:nvSpPr>
          <p:cNvPr id="40" name="A3f_c6"/>
          <p:cNvSpPr/>
          <p:nvPr/>
        </p:nvSpPr>
        <p:spPr>
          <a:xfrm>
            <a:off x="7589520" y="3017520"/>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41" name="A3f_c6t"/>
          <p:cNvSpPr txBox="1"/>
          <p:nvPr/>
        </p:nvSpPr>
        <p:spPr>
          <a:xfrm>
            <a:off x="7589520" y="301752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Breads</a:t>
            </a:r>
            <a:endParaRPr lang="en-US" sz="1050" dirty="0"/>
          </a:p>
        </p:txBody>
      </p:sp>
      <p:sp>
        <p:nvSpPr>
          <p:cNvPr id="42" name="A3f_c7"/>
          <p:cNvSpPr/>
          <p:nvPr/>
        </p:nvSpPr>
        <p:spPr>
          <a:xfrm>
            <a:off x="45720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43" name="A3f_c7t"/>
          <p:cNvSpPr txBox="1"/>
          <p:nvPr/>
        </p:nvSpPr>
        <p:spPr>
          <a:xfrm>
            <a:off x="45720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Pizza</a:t>
            </a:r>
            <a:endParaRPr lang="en-US" sz="1050" dirty="0"/>
          </a:p>
        </p:txBody>
      </p:sp>
      <p:sp>
        <p:nvSpPr>
          <p:cNvPr id="44" name="A3f_c8"/>
          <p:cNvSpPr/>
          <p:nvPr/>
        </p:nvSpPr>
        <p:spPr>
          <a:xfrm>
            <a:off x="164592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45" name="A3f_c8t"/>
          <p:cNvSpPr txBox="1"/>
          <p:nvPr/>
        </p:nvSpPr>
        <p:spPr>
          <a:xfrm>
            <a:off x="164592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Pies &amp; Tarts</a:t>
            </a:r>
            <a:endParaRPr lang="en-US" sz="1050" dirty="0"/>
          </a:p>
        </p:txBody>
      </p:sp>
      <p:sp>
        <p:nvSpPr>
          <p:cNvPr id="46" name="A3f_c9"/>
          <p:cNvSpPr/>
          <p:nvPr/>
        </p:nvSpPr>
        <p:spPr>
          <a:xfrm>
            <a:off x="283464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47" name="A3f_c9t"/>
          <p:cNvSpPr txBox="1"/>
          <p:nvPr/>
        </p:nvSpPr>
        <p:spPr>
          <a:xfrm>
            <a:off x="283464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Coffee</a:t>
            </a:r>
            <a:endParaRPr lang="en-US" sz="1050" dirty="0"/>
          </a:p>
        </p:txBody>
      </p:sp>
      <p:sp>
        <p:nvSpPr>
          <p:cNvPr id="48" name="A3f_c10"/>
          <p:cNvSpPr/>
          <p:nvPr/>
        </p:nvSpPr>
        <p:spPr>
          <a:xfrm>
            <a:off x="402336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49" name="A3f_c10t"/>
          <p:cNvSpPr txBox="1"/>
          <p:nvPr/>
        </p:nvSpPr>
        <p:spPr>
          <a:xfrm>
            <a:off x="402336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Tea</a:t>
            </a:r>
            <a:endParaRPr lang="en-US" sz="1050" dirty="0"/>
          </a:p>
        </p:txBody>
      </p:sp>
      <p:sp>
        <p:nvSpPr>
          <p:cNvPr id="50" name="A3f_c11"/>
          <p:cNvSpPr/>
          <p:nvPr/>
        </p:nvSpPr>
        <p:spPr>
          <a:xfrm>
            <a:off x="521208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51" name="A3f_c11t"/>
          <p:cNvSpPr txBox="1"/>
          <p:nvPr/>
        </p:nvSpPr>
        <p:spPr>
          <a:xfrm>
            <a:off x="521208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Hot Drinks</a:t>
            </a:r>
            <a:endParaRPr lang="en-US" sz="1050" dirty="0"/>
          </a:p>
        </p:txBody>
      </p:sp>
      <p:sp>
        <p:nvSpPr>
          <p:cNvPr id="52" name="A3f_c12"/>
          <p:cNvSpPr/>
          <p:nvPr/>
        </p:nvSpPr>
        <p:spPr>
          <a:xfrm>
            <a:off x="640080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53" name="A3f_c12t"/>
          <p:cNvSpPr txBox="1"/>
          <p:nvPr/>
        </p:nvSpPr>
        <p:spPr>
          <a:xfrm>
            <a:off x="640080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Cold Drinks</a:t>
            </a:r>
            <a:endParaRPr lang="en-US" sz="1050" dirty="0"/>
          </a:p>
        </p:txBody>
      </p:sp>
      <p:sp>
        <p:nvSpPr>
          <p:cNvPr id="54" name="A3f_c13"/>
          <p:cNvSpPr/>
          <p:nvPr/>
        </p:nvSpPr>
        <p:spPr>
          <a:xfrm>
            <a:off x="7589520" y="3401568"/>
            <a:ext cx="1097280" cy="310896"/>
          </a:xfrm>
          <a:prstGeom prst="roundRect">
            <a:avLst>
              <a:gd name="adj" fmla="val 23529"/>
            </a:avLst>
          </a:prstGeom>
          <a:solidFill>
            <a:srgbClr val="FFFFFF"/>
          </a:solidFill>
          <a:ln w="9525">
            <a:solidFill>
              <a:srgbClr val="F2C4B5"/>
            </a:solidFill>
            <a:prstDash val="solid"/>
          </a:ln>
        </p:spPr>
        <p:txBody>
          <a:bodyPr/>
          <a:lstStyle/>
          <a:p>
            <a:endParaRPr lang="en-US"/>
          </a:p>
        </p:txBody>
      </p:sp>
      <p:sp>
        <p:nvSpPr>
          <p:cNvPr id="55" name="A3f_c13t"/>
          <p:cNvSpPr txBox="1"/>
          <p:nvPr/>
        </p:nvSpPr>
        <p:spPr>
          <a:xfrm>
            <a:off x="7589520" y="3401568"/>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Merchandise</a:t>
            </a:r>
            <a:endParaRPr lang="en-US" sz="1050" dirty="0"/>
          </a:p>
        </p:txBody>
      </p:sp>
      <p:sp>
        <p:nvSpPr>
          <p:cNvPr id="56" name="A4f_h"/>
          <p:cNvSpPr txBox="1"/>
          <p:nvPr/>
        </p:nvSpPr>
        <p:spPr>
          <a:xfrm>
            <a:off x="457200" y="3886200"/>
            <a:ext cx="914400" cy="201168"/>
          </a:xfrm>
          <a:prstGeom prst="rect">
            <a:avLst/>
          </a:prstGeom>
          <a:noFill/>
          <a:ln/>
        </p:spPr>
        <p:txBody>
          <a:bodyPr wrap="square" lIns="0" tIns="0" rIns="0" bIns="0" rtlCol="0" anchor="t"/>
          <a:lstStyle/>
          <a:p>
            <a:pPr marL="0" indent="0">
              <a:buNone/>
            </a:pPr>
            <a:r>
              <a:rPr lang="en-US" sz="1000" b="1" kern="0" spc="300" dirty="0">
                <a:solidFill>
                  <a:srgbClr val="B06A59"/>
                </a:solidFill>
                <a:latin typeface="Calibri" pitchFamily="34" charset="0"/>
                <a:ea typeface="Calibri" pitchFamily="34" charset="-122"/>
                <a:cs typeface="Calibri" pitchFamily="34" charset="-120"/>
              </a:rPr>
              <a:t>ALSO</a:t>
            </a:r>
            <a:endParaRPr lang="en-US" sz="1000" dirty="0"/>
          </a:p>
        </p:txBody>
      </p:sp>
      <p:sp>
        <p:nvSpPr>
          <p:cNvPr id="57" name="A4f_c0"/>
          <p:cNvSpPr/>
          <p:nvPr/>
        </p:nvSpPr>
        <p:spPr>
          <a:xfrm>
            <a:off x="457200" y="4114800"/>
            <a:ext cx="1097280" cy="310896"/>
          </a:xfrm>
          <a:prstGeom prst="roundRect">
            <a:avLst>
              <a:gd name="adj" fmla="val 23529"/>
            </a:avLst>
          </a:prstGeom>
          <a:solidFill>
            <a:srgbClr val="FCF1E7"/>
          </a:solidFill>
          <a:ln w="9525">
            <a:solidFill>
              <a:srgbClr val="F2C4B5"/>
            </a:solidFill>
            <a:prstDash val="solid"/>
          </a:ln>
        </p:spPr>
        <p:txBody>
          <a:bodyPr/>
          <a:lstStyle/>
          <a:p>
            <a:endParaRPr lang="en-US"/>
          </a:p>
        </p:txBody>
      </p:sp>
      <p:sp>
        <p:nvSpPr>
          <p:cNvPr id="58" name="A4f_c0t"/>
          <p:cNvSpPr txBox="1"/>
          <p:nvPr/>
        </p:nvSpPr>
        <p:spPr>
          <a:xfrm>
            <a:off x="457200" y="411480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FAQ</a:t>
            </a:r>
            <a:endParaRPr lang="en-US" sz="1050" dirty="0"/>
          </a:p>
        </p:txBody>
      </p:sp>
      <p:sp>
        <p:nvSpPr>
          <p:cNvPr id="59" name="A4f_c1"/>
          <p:cNvSpPr/>
          <p:nvPr/>
        </p:nvSpPr>
        <p:spPr>
          <a:xfrm>
            <a:off x="1645920" y="4114800"/>
            <a:ext cx="1097280" cy="310896"/>
          </a:xfrm>
          <a:prstGeom prst="roundRect">
            <a:avLst>
              <a:gd name="adj" fmla="val 23529"/>
            </a:avLst>
          </a:prstGeom>
          <a:solidFill>
            <a:srgbClr val="FCF1E7"/>
          </a:solidFill>
          <a:ln w="9525">
            <a:solidFill>
              <a:srgbClr val="F2C4B5"/>
            </a:solidFill>
            <a:prstDash val="solid"/>
          </a:ln>
        </p:spPr>
        <p:txBody>
          <a:bodyPr/>
          <a:lstStyle/>
          <a:p>
            <a:endParaRPr lang="en-US"/>
          </a:p>
        </p:txBody>
      </p:sp>
      <p:sp>
        <p:nvSpPr>
          <p:cNvPr id="60" name="A4f_c1t"/>
          <p:cNvSpPr txBox="1"/>
          <p:nvPr/>
        </p:nvSpPr>
        <p:spPr>
          <a:xfrm>
            <a:off x="1645920" y="411480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Cart</a:t>
            </a:r>
            <a:endParaRPr lang="en-US" sz="1050" dirty="0"/>
          </a:p>
        </p:txBody>
      </p:sp>
      <p:sp>
        <p:nvSpPr>
          <p:cNvPr id="61" name="A4f_c2"/>
          <p:cNvSpPr/>
          <p:nvPr/>
        </p:nvSpPr>
        <p:spPr>
          <a:xfrm>
            <a:off x="2834640" y="4114800"/>
            <a:ext cx="1097280" cy="310896"/>
          </a:xfrm>
          <a:prstGeom prst="roundRect">
            <a:avLst>
              <a:gd name="adj" fmla="val 23529"/>
            </a:avLst>
          </a:prstGeom>
          <a:solidFill>
            <a:srgbClr val="FCF1E7"/>
          </a:solidFill>
          <a:ln w="9525">
            <a:solidFill>
              <a:srgbClr val="F2C4B5"/>
            </a:solidFill>
            <a:prstDash val="solid"/>
          </a:ln>
        </p:spPr>
        <p:txBody>
          <a:bodyPr/>
          <a:lstStyle/>
          <a:p>
            <a:endParaRPr lang="en-US"/>
          </a:p>
        </p:txBody>
      </p:sp>
      <p:sp>
        <p:nvSpPr>
          <p:cNvPr id="62" name="A4f_c2t"/>
          <p:cNvSpPr txBox="1"/>
          <p:nvPr/>
        </p:nvSpPr>
        <p:spPr>
          <a:xfrm>
            <a:off x="2834640" y="411480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Privacy</a:t>
            </a:r>
            <a:endParaRPr lang="en-US" sz="1050" dirty="0"/>
          </a:p>
        </p:txBody>
      </p:sp>
      <p:sp>
        <p:nvSpPr>
          <p:cNvPr id="63" name="A4f_c3"/>
          <p:cNvSpPr/>
          <p:nvPr/>
        </p:nvSpPr>
        <p:spPr>
          <a:xfrm>
            <a:off x="4023360" y="4114800"/>
            <a:ext cx="1097280" cy="310896"/>
          </a:xfrm>
          <a:prstGeom prst="roundRect">
            <a:avLst>
              <a:gd name="adj" fmla="val 23529"/>
            </a:avLst>
          </a:prstGeom>
          <a:solidFill>
            <a:srgbClr val="FCF1E7"/>
          </a:solidFill>
          <a:ln w="9525">
            <a:solidFill>
              <a:srgbClr val="F2C4B5"/>
            </a:solidFill>
            <a:prstDash val="solid"/>
          </a:ln>
        </p:spPr>
        <p:txBody>
          <a:bodyPr/>
          <a:lstStyle/>
          <a:p>
            <a:endParaRPr lang="en-US"/>
          </a:p>
        </p:txBody>
      </p:sp>
      <p:sp>
        <p:nvSpPr>
          <p:cNvPr id="64" name="A4f_c3t"/>
          <p:cNvSpPr txBox="1"/>
          <p:nvPr/>
        </p:nvSpPr>
        <p:spPr>
          <a:xfrm>
            <a:off x="4023360" y="411480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Terms</a:t>
            </a:r>
            <a:endParaRPr lang="en-US" sz="1050" dirty="0"/>
          </a:p>
        </p:txBody>
      </p:sp>
      <p:sp>
        <p:nvSpPr>
          <p:cNvPr id="65" name="A4f_c4"/>
          <p:cNvSpPr/>
          <p:nvPr/>
        </p:nvSpPr>
        <p:spPr>
          <a:xfrm>
            <a:off x="5212080" y="4114800"/>
            <a:ext cx="1097280" cy="310896"/>
          </a:xfrm>
          <a:prstGeom prst="roundRect">
            <a:avLst>
              <a:gd name="adj" fmla="val 23529"/>
            </a:avLst>
          </a:prstGeom>
          <a:solidFill>
            <a:srgbClr val="FCF1E7"/>
          </a:solidFill>
          <a:ln w="9525">
            <a:solidFill>
              <a:srgbClr val="F2C4B5"/>
            </a:solidFill>
            <a:prstDash val="solid"/>
          </a:ln>
        </p:spPr>
        <p:txBody>
          <a:bodyPr/>
          <a:lstStyle/>
          <a:p>
            <a:endParaRPr lang="en-US"/>
          </a:p>
        </p:txBody>
      </p:sp>
      <p:sp>
        <p:nvSpPr>
          <p:cNvPr id="66" name="A4f_c4t"/>
          <p:cNvSpPr txBox="1"/>
          <p:nvPr/>
        </p:nvSpPr>
        <p:spPr>
          <a:xfrm>
            <a:off x="5212080" y="4114800"/>
            <a:ext cx="1097280" cy="310896"/>
          </a:xfrm>
          <a:prstGeom prst="rect">
            <a:avLst/>
          </a:prstGeom>
          <a:noFill/>
          <a:ln/>
        </p:spPr>
        <p:txBody>
          <a:bodyPr wrap="square" lIns="0" tIns="0" rIns="0" bIns="0" rtlCol="0" anchor="ctr"/>
          <a:lstStyle/>
          <a:p>
            <a:pPr marL="0" indent="0" algn="ctr">
              <a:buNone/>
            </a:pPr>
            <a:r>
              <a:rPr lang="en-US" sz="1050" b="1" dirty="0">
                <a:solidFill>
                  <a:srgbClr val="765044"/>
                </a:solidFill>
                <a:latin typeface="Calibri" pitchFamily="34" charset="0"/>
                <a:ea typeface="Calibri" pitchFamily="34" charset="-122"/>
                <a:cs typeface="Calibri" pitchFamily="34" charset="-120"/>
              </a:rPr>
              <a:t>Sitemap</a:t>
            </a:r>
            <a:endParaRPr lang="en-US" sz="1050" dirty="0"/>
          </a:p>
        </p:txBody>
      </p:sp>
      <p:sp>
        <p:nvSpPr>
          <p:cNvPr id="67" name="A5f"/>
          <p:cNvSpPr txBox="1"/>
          <p:nvPr/>
        </p:nvSpPr>
        <p:spPr>
          <a:xfrm>
            <a:off x="6537960" y="3840480"/>
            <a:ext cx="2148840" cy="822960"/>
          </a:xfrm>
          <a:prstGeom prst="rect">
            <a:avLst/>
          </a:prstGeom>
          <a:noFill/>
          <a:ln/>
        </p:spPr>
        <p:txBody>
          <a:bodyPr wrap="square" lIns="0" tIns="0" rIns="0" bIns="0" rtlCol="0" anchor="t"/>
          <a:lstStyle/>
          <a:p>
            <a:pPr marL="0" indent="0">
              <a:buNone/>
            </a:pPr>
            <a:r>
              <a:rPr lang="en-US" sz="1100" i="1" dirty="0">
                <a:solidFill>
                  <a:srgbClr val="765044"/>
                </a:solidFill>
                <a:latin typeface="Calibri" pitchFamily="34" charset="0"/>
                <a:ea typeface="Calibri" pitchFamily="34" charset="-122"/>
                <a:cs typeface="Calibri" pitchFamily="34" charset="-120"/>
              </a:rPr>
              <a:t>A single shared script reads each page’s data-page attribute, so every page behaves consistently and products stay easy to find.</a:t>
            </a:r>
            <a:endParaRPr lang="en-US" sz="1100" dirty="0"/>
          </a:p>
        </p:txBody>
      </p:sp>
      <p:sp>
        <p:nvSpPr>
          <p:cNvPr id="68"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fade">
                                      <p:cBhvr>
                                        <p:cTn id="15" dur="600"/>
                                        <p:tgtEl>
                                          <p:spTgt spid="6"/>
                                        </p:tgtEl>
                                      </p:cBhvr>
                                    </p:animEffect>
                                  </p:childTnLst>
                                </p:cTn>
                              </p:par>
                              <p:par>
                                <p:cTn id="16" presetID="10" presetClass="entr" presetSubtype="0" fill="hold" nodeType="with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fade">
                                      <p:cBhvr>
                                        <p:cTn id="18" dur="600"/>
                                        <p:tgtEl>
                                          <p:spTgt spid="7"/>
                                        </p:tgtEl>
                                      </p:cBhvr>
                                    </p:animEffect>
                                  </p:childTnLst>
                                </p:cTn>
                              </p:par>
                              <p:par>
                                <p:cTn id="19" presetID="10" presetClass="entr" presetSubtype="0" fill="hold" nodeType="with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600"/>
                                        <p:tgtEl>
                                          <p:spTgt spid="8"/>
                                        </p:tgtEl>
                                      </p:cBhvr>
                                    </p:animEffect>
                                  </p:childTnLst>
                                </p:cTn>
                              </p:par>
                              <p:par>
                                <p:cTn id="22" presetID="10" presetClass="entr" presetSubtype="0" fill="hold"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fade">
                                      <p:cBhvr>
                                        <p:cTn id="24" dur="600"/>
                                        <p:tgtEl>
                                          <p:spTgt spid="9"/>
                                        </p:tgtEl>
                                      </p:cBhvr>
                                    </p:animEffect>
                                  </p:childTnLst>
                                </p:cTn>
                              </p:par>
                              <p:par>
                                <p:cTn id="25" presetID="10" presetClass="entr" presetSubtype="0" fill="hold"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par>
                                <p:cTn id="40" presetID="10" presetClass="entr" presetSubtype="0" fill="hold" nodeType="with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600"/>
                                        <p:tgtEl>
                                          <p:spTgt spid="15"/>
                                        </p:tgtEl>
                                      </p:cBhvr>
                                    </p:animEffect>
                                  </p:childTnLst>
                                </p:cTn>
                              </p:par>
                              <p:par>
                                <p:cTn id="43" presetID="10" presetClass="entr" presetSubtype="0" fill="hold" nodeType="withEffect">
                                  <p:stCondLst>
                                    <p:cond delay="0"/>
                                  </p:stCondLst>
                                  <p:childTnLst>
                                    <p:set>
                                      <p:cBhvr>
                                        <p:cTn id="44" dur="1" fill="hold">
                                          <p:stCondLst>
                                            <p:cond delay="0"/>
                                          </p:stCondLst>
                                        </p:cTn>
                                        <p:tgtEl>
                                          <p:spTgt spid="16"/>
                                        </p:tgtEl>
                                        <p:attrNameLst>
                                          <p:attrName>style.visibility</p:attrName>
                                        </p:attrNameLst>
                                      </p:cBhvr>
                                      <p:to>
                                        <p:strVal val="visible"/>
                                      </p:to>
                                    </p:set>
                                    <p:animEffect transition="in" filter="fade">
                                      <p:cBhvr>
                                        <p:cTn id="45" dur="600"/>
                                        <p:tgtEl>
                                          <p:spTgt spid="16"/>
                                        </p:tgtEl>
                                      </p:cBhvr>
                                    </p:animEffect>
                                  </p:childTnLst>
                                </p:cTn>
                              </p:par>
                              <p:par>
                                <p:cTn id="46" presetID="10" presetClass="entr" presetSubtype="0" fill="hold" nodeType="withEffect">
                                  <p:stCondLst>
                                    <p:cond delay="0"/>
                                  </p:stCondLst>
                                  <p:childTnLst>
                                    <p:set>
                                      <p:cBhvr>
                                        <p:cTn id="47" dur="1" fill="hold">
                                          <p:stCondLst>
                                            <p:cond delay="0"/>
                                          </p:stCondLst>
                                        </p:cTn>
                                        <p:tgtEl>
                                          <p:spTgt spid="17"/>
                                        </p:tgtEl>
                                        <p:attrNameLst>
                                          <p:attrName>style.visibility</p:attrName>
                                        </p:attrNameLst>
                                      </p:cBhvr>
                                      <p:to>
                                        <p:strVal val="visible"/>
                                      </p:to>
                                    </p:set>
                                    <p:animEffect transition="in" filter="fade">
                                      <p:cBhvr>
                                        <p:cTn id="48" dur="600"/>
                                        <p:tgtEl>
                                          <p:spTgt spid="17"/>
                                        </p:tgtEl>
                                      </p:cBhvr>
                                    </p:animEffect>
                                  </p:childTnLst>
                                </p:cTn>
                              </p:par>
                              <p:par>
                                <p:cTn id="49" presetID="10" presetClass="entr" presetSubtype="0" fill="hold" nodeType="with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par>
                                <p:cTn id="55" presetID="10" presetClass="entr" presetSubtype="0" fill="hold" nodeType="withEffect">
                                  <p:stCondLst>
                                    <p:cond delay="0"/>
                                  </p:stCondLst>
                                  <p:childTnLst>
                                    <p:set>
                                      <p:cBhvr>
                                        <p:cTn id="56" dur="1" fill="hold">
                                          <p:stCondLst>
                                            <p:cond delay="0"/>
                                          </p:stCondLst>
                                        </p:cTn>
                                        <p:tgtEl>
                                          <p:spTgt spid="20"/>
                                        </p:tgtEl>
                                        <p:attrNameLst>
                                          <p:attrName>style.visibility</p:attrName>
                                        </p:attrNameLst>
                                      </p:cBhvr>
                                      <p:to>
                                        <p:strVal val="visible"/>
                                      </p:to>
                                    </p:set>
                                    <p:animEffect transition="in" filter="fade">
                                      <p:cBhvr>
                                        <p:cTn id="57" dur="600"/>
                                        <p:tgtEl>
                                          <p:spTgt spid="20"/>
                                        </p:tgtEl>
                                      </p:cBhvr>
                                    </p:animEffect>
                                  </p:childTnLst>
                                </p:cTn>
                              </p:par>
                              <p:par>
                                <p:cTn id="58" presetID="10" presetClass="entr" presetSubtype="0" fill="hold" nodeType="withEffect">
                                  <p:stCondLst>
                                    <p:cond delay="0"/>
                                  </p:stCondLst>
                                  <p:childTnLst>
                                    <p:set>
                                      <p:cBhvr>
                                        <p:cTn id="59" dur="1" fill="hold">
                                          <p:stCondLst>
                                            <p:cond delay="0"/>
                                          </p:stCondLst>
                                        </p:cTn>
                                        <p:tgtEl>
                                          <p:spTgt spid="21"/>
                                        </p:tgtEl>
                                        <p:attrNameLst>
                                          <p:attrName>style.visibility</p:attrName>
                                        </p:attrNameLst>
                                      </p:cBhvr>
                                      <p:to>
                                        <p:strVal val="visible"/>
                                      </p:to>
                                    </p:set>
                                    <p:animEffect transition="in" filter="fade">
                                      <p:cBhvr>
                                        <p:cTn id="60" dur="600"/>
                                        <p:tgtEl>
                                          <p:spTgt spid="21"/>
                                        </p:tgtEl>
                                      </p:cBhvr>
                                    </p:animEffect>
                                  </p:childTnLst>
                                </p:cTn>
                              </p:par>
                              <p:par>
                                <p:cTn id="61" presetID="10" presetClass="entr" presetSubtype="0" fill="hold" nodeType="withEffect">
                                  <p:stCondLst>
                                    <p:cond delay="0"/>
                                  </p:stCondLst>
                                  <p:childTnLst>
                                    <p:set>
                                      <p:cBhvr>
                                        <p:cTn id="62" dur="1" fill="hold">
                                          <p:stCondLst>
                                            <p:cond delay="0"/>
                                          </p:stCondLst>
                                        </p:cTn>
                                        <p:tgtEl>
                                          <p:spTgt spid="22"/>
                                        </p:tgtEl>
                                        <p:attrNameLst>
                                          <p:attrName>style.visibility</p:attrName>
                                        </p:attrNameLst>
                                      </p:cBhvr>
                                      <p:to>
                                        <p:strVal val="visible"/>
                                      </p:to>
                                    </p:set>
                                    <p:animEffect transition="in" filter="fade">
                                      <p:cBhvr>
                                        <p:cTn id="63" dur="600"/>
                                        <p:tgtEl>
                                          <p:spTgt spid="22"/>
                                        </p:tgtEl>
                                      </p:cBhvr>
                                    </p:animEffect>
                                  </p:childTnLst>
                                </p:cTn>
                              </p:par>
                              <p:par>
                                <p:cTn id="64" presetID="10" presetClass="entr" presetSubtype="0" fill="hold" nodeType="with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600"/>
                                        <p:tgtEl>
                                          <p:spTgt spid="23"/>
                                        </p:tgtEl>
                                      </p:cBhvr>
                                    </p:animEffect>
                                  </p:childTnLst>
                                </p:cTn>
                              </p:par>
                              <p:par>
                                <p:cTn id="67" presetID="10" presetClass="entr" presetSubtype="0" fill="hold"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600"/>
                                        <p:tgtEl>
                                          <p:spTgt spid="24"/>
                                        </p:tgtEl>
                                      </p:cBhvr>
                                    </p:animEffect>
                                  </p:childTnLst>
                                </p:cTn>
                              </p:par>
                              <p:par>
                                <p:cTn id="70" presetID="10" presetClass="entr" presetSubtype="0" fill="hold"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600"/>
                                        <p:tgtEl>
                                          <p:spTgt spid="25"/>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nodeType="clickEffect">
                                  <p:stCondLst>
                                    <p:cond delay="0"/>
                                  </p:stCondLst>
                                  <p:childTnLst>
                                    <p:set>
                                      <p:cBhvr>
                                        <p:cTn id="76" dur="1" fill="hold">
                                          <p:stCondLst>
                                            <p:cond delay="0"/>
                                          </p:stCondLst>
                                        </p:cTn>
                                        <p:tgtEl>
                                          <p:spTgt spid="26"/>
                                        </p:tgtEl>
                                        <p:attrNameLst>
                                          <p:attrName>style.visibility</p:attrName>
                                        </p:attrNameLst>
                                      </p:cBhvr>
                                      <p:to>
                                        <p:strVal val="visible"/>
                                      </p:to>
                                    </p:set>
                                    <p:animEffect transition="in" filter="fade">
                                      <p:cBhvr>
                                        <p:cTn id="77" dur="600"/>
                                        <p:tgtEl>
                                          <p:spTgt spid="26"/>
                                        </p:tgtEl>
                                      </p:cBhvr>
                                    </p:animEffect>
                                  </p:childTnLst>
                                </p:cTn>
                              </p:par>
                              <p:par>
                                <p:cTn id="78" presetID="10" presetClass="entr" presetSubtype="0" fill="hold" nodeType="withEffect">
                                  <p:stCondLst>
                                    <p:cond delay="0"/>
                                  </p:stCondLst>
                                  <p:childTnLst>
                                    <p:set>
                                      <p:cBhvr>
                                        <p:cTn id="79" dur="1" fill="hold">
                                          <p:stCondLst>
                                            <p:cond delay="0"/>
                                          </p:stCondLst>
                                        </p:cTn>
                                        <p:tgtEl>
                                          <p:spTgt spid="27"/>
                                        </p:tgtEl>
                                        <p:attrNameLst>
                                          <p:attrName>style.visibility</p:attrName>
                                        </p:attrNameLst>
                                      </p:cBhvr>
                                      <p:to>
                                        <p:strVal val="visible"/>
                                      </p:to>
                                    </p:set>
                                    <p:animEffect transition="in" filter="fade">
                                      <p:cBhvr>
                                        <p:cTn id="80" dur="600"/>
                                        <p:tgtEl>
                                          <p:spTgt spid="27"/>
                                        </p:tgtEl>
                                      </p:cBhvr>
                                    </p:animEffect>
                                  </p:childTnLst>
                                </p:cTn>
                              </p:par>
                              <p:par>
                                <p:cTn id="81" presetID="10" presetClass="entr" presetSubtype="0" fill="hold" nodeType="withEffect">
                                  <p:stCondLst>
                                    <p:cond delay="0"/>
                                  </p:stCondLst>
                                  <p:childTnLst>
                                    <p:set>
                                      <p:cBhvr>
                                        <p:cTn id="82" dur="1" fill="hold">
                                          <p:stCondLst>
                                            <p:cond delay="0"/>
                                          </p:stCondLst>
                                        </p:cTn>
                                        <p:tgtEl>
                                          <p:spTgt spid="28"/>
                                        </p:tgtEl>
                                        <p:attrNameLst>
                                          <p:attrName>style.visibility</p:attrName>
                                        </p:attrNameLst>
                                      </p:cBhvr>
                                      <p:to>
                                        <p:strVal val="visible"/>
                                      </p:to>
                                    </p:set>
                                    <p:animEffect transition="in" filter="fade">
                                      <p:cBhvr>
                                        <p:cTn id="83" dur="600"/>
                                        <p:tgtEl>
                                          <p:spTgt spid="28"/>
                                        </p:tgtEl>
                                      </p:cBhvr>
                                    </p:animEffect>
                                  </p:childTnLst>
                                </p:cTn>
                              </p:par>
                              <p:par>
                                <p:cTn id="84" presetID="10" presetClass="entr" presetSubtype="0" fill="hold" nodeType="withEffect">
                                  <p:stCondLst>
                                    <p:cond delay="0"/>
                                  </p:stCondLst>
                                  <p:childTnLst>
                                    <p:set>
                                      <p:cBhvr>
                                        <p:cTn id="85" dur="1" fill="hold">
                                          <p:stCondLst>
                                            <p:cond delay="0"/>
                                          </p:stCondLst>
                                        </p:cTn>
                                        <p:tgtEl>
                                          <p:spTgt spid="29"/>
                                        </p:tgtEl>
                                        <p:attrNameLst>
                                          <p:attrName>style.visibility</p:attrName>
                                        </p:attrNameLst>
                                      </p:cBhvr>
                                      <p:to>
                                        <p:strVal val="visible"/>
                                      </p:to>
                                    </p:set>
                                    <p:animEffect transition="in" filter="fade">
                                      <p:cBhvr>
                                        <p:cTn id="86" dur="600"/>
                                        <p:tgtEl>
                                          <p:spTgt spid="29"/>
                                        </p:tgtEl>
                                      </p:cBhvr>
                                    </p:animEffect>
                                  </p:childTnLst>
                                </p:cTn>
                              </p:par>
                              <p:par>
                                <p:cTn id="87" presetID="10" presetClass="entr" presetSubtype="0" fill="hold" nodeType="withEffect">
                                  <p:stCondLst>
                                    <p:cond delay="0"/>
                                  </p:stCondLst>
                                  <p:childTnLst>
                                    <p:set>
                                      <p:cBhvr>
                                        <p:cTn id="88" dur="1" fill="hold">
                                          <p:stCondLst>
                                            <p:cond delay="0"/>
                                          </p:stCondLst>
                                        </p:cTn>
                                        <p:tgtEl>
                                          <p:spTgt spid="30"/>
                                        </p:tgtEl>
                                        <p:attrNameLst>
                                          <p:attrName>style.visibility</p:attrName>
                                        </p:attrNameLst>
                                      </p:cBhvr>
                                      <p:to>
                                        <p:strVal val="visible"/>
                                      </p:to>
                                    </p:set>
                                    <p:animEffect transition="in" filter="fade">
                                      <p:cBhvr>
                                        <p:cTn id="89" dur="600"/>
                                        <p:tgtEl>
                                          <p:spTgt spid="30"/>
                                        </p:tgtEl>
                                      </p:cBhvr>
                                    </p:animEffect>
                                  </p:childTnLst>
                                </p:cTn>
                              </p:par>
                              <p:par>
                                <p:cTn id="90" presetID="10" presetClass="entr" presetSubtype="0" fill="hold" nodeType="withEffect">
                                  <p:stCondLst>
                                    <p:cond delay="0"/>
                                  </p:stCondLst>
                                  <p:childTnLst>
                                    <p:set>
                                      <p:cBhvr>
                                        <p:cTn id="91" dur="1" fill="hold">
                                          <p:stCondLst>
                                            <p:cond delay="0"/>
                                          </p:stCondLst>
                                        </p:cTn>
                                        <p:tgtEl>
                                          <p:spTgt spid="31"/>
                                        </p:tgtEl>
                                        <p:attrNameLst>
                                          <p:attrName>style.visibility</p:attrName>
                                        </p:attrNameLst>
                                      </p:cBhvr>
                                      <p:to>
                                        <p:strVal val="visible"/>
                                      </p:to>
                                    </p:set>
                                    <p:animEffect transition="in" filter="fade">
                                      <p:cBhvr>
                                        <p:cTn id="92" dur="600"/>
                                        <p:tgtEl>
                                          <p:spTgt spid="31"/>
                                        </p:tgtEl>
                                      </p:cBhvr>
                                    </p:animEffect>
                                  </p:childTnLst>
                                </p:cTn>
                              </p:par>
                              <p:par>
                                <p:cTn id="93" presetID="10" presetClass="entr" presetSubtype="0" fill="hold" nodeType="withEffect">
                                  <p:stCondLst>
                                    <p:cond delay="0"/>
                                  </p:stCondLst>
                                  <p:childTnLst>
                                    <p:set>
                                      <p:cBhvr>
                                        <p:cTn id="94" dur="1" fill="hold">
                                          <p:stCondLst>
                                            <p:cond delay="0"/>
                                          </p:stCondLst>
                                        </p:cTn>
                                        <p:tgtEl>
                                          <p:spTgt spid="32"/>
                                        </p:tgtEl>
                                        <p:attrNameLst>
                                          <p:attrName>style.visibility</p:attrName>
                                        </p:attrNameLst>
                                      </p:cBhvr>
                                      <p:to>
                                        <p:strVal val="visible"/>
                                      </p:to>
                                    </p:set>
                                    <p:animEffect transition="in" filter="fade">
                                      <p:cBhvr>
                                        <p:cTn id="95" dur="600"/>
                                        <p:tgtEl>
                                          <p:spTgt spid="32"/>
                                        </p:tgtEl>
                                      </p:cBhvr>
                                    </p:animEffect>
                                  </p:childTnLst>
                                </p:cTn>
                              </p:par>
                              <p:par>
                                <p:cTn id="96" presetID="10" presetClass="entr" presetSubtype="0" fill="hold" nodeType="withEffect">
                                  <p:stCondLst>
                                    <p:cond delay="0"/>
                                  </p:stCondLst>
                                  <p:childTnLst>
                                    <p:set>
                                      <p:cBhvr>
                                        <p:cTn id="97" dur="1" fill="hold">
                                          <p:stCondLst>
                                            <p:cond delay="0"/>
                                          </p:stCondLst>
                                        </p:cTn>
                                        <p:tgtEl>
                                          <p:spTgt spid="33"/>
                                        </p:tgtEl>
                                        <p:attrNameLst>
                                          <p:attrName>style.visibility</p:attrName>
                                        </p:attrNameLst>
                                      </p:cBhvr>
                                      <p:to>
                                        <p:strVal val="visible"/>
                                      </p:to>
                                    </p:set>
                                    <p:animEffect transition="in" filter="fade">
                                      <p:cBhvr>
                                        <p:cTn id="98" dur="600"/>
                                        <p:tgtEl>
                                          <p:spTgt spid="33"/>
                                        </p:tgtEl>
                                      </p:cBhvr>
                                    </p:animEffect>
                                  </p:childTnLst>
                                </p:cTn>
                              </p:par>
                              <p:par>
                                <p:cTn id="99" presetID="10" presetClass="entr" presetSubtype="0" fill="hold" nodeType="withEffect">
                                  <p:stCondLst>
                                    <p:cond delay="0"/>
                                  </p:stCondLst>
                                  <p:childTnLst>
                                    <p:set>
                                      <p:cBhvr>
                                        <p:cTn id="100" dur="1" fill="hold">
                                          <p:stCondLst>
                                            <p:cond delay="0"/>
                                          </p:stCondLst>
                                        </p:cTn>
                                        <p:tgtEl>
                                          <p:spTgt spid="34"/>
                                        </p:tgtEl>
                                        <p:attrNameLst>
                                          <p:attrName>style.visibility</p:attrName>
                                        </p:attrNameLst>
                                      </p:cBhvr>
                                      <p:to>
                                        <p:strVal val="visible"/>
                                      </p:to>
                                    </p:set>
                                    <p:animEffect transition="in" filter="fade">
                                      <p:cBhvr>
                                        <p:cTn id="101" dur="600"/>
                                        <p:tgtEl>
                                          <p:spTgt spid="34"/>
                                        </p:tgtEl>
                                      </p:cBhvr>
                                    </p:animEffect>
                                  </p:childTnLst>
                                </p:cTn>
                              </p:par>
                              <p:par>
                                <p:cTn id="102" presetID="10" presetClass="entr" presetSubtype="0" fill="hold" nodeType="withEffect">
                                  <p:stCondLst>
                                    <p:cond delay="0"/>
                                  </p:stCondLst>
                                  <p:childTnLst>
                                    <p:set>
                                      <p:cBhvr>
                                        <p:cTn id="103" dur="1" fill="hold">
                                          <p:stCondLst>
                                            <p:cond delay="0"/>
                                          </p:stCondLst>
                                        </p:cTn>
                                        <p:tgtEl>
                                          <p:spTgt spid="35"/>
                                        </p:tgtEl>
                                        <p:attrNameLst>
                                          <p:attrName>style.visibility</p:attrName>
                                        </p:attrNameLst>
                                      </p:cBhvr>
                                      <p:to>
                                        <p:strVal val="visible"/>
                                      </p:to>
                                    </p:set>
                                    <p:animEffect transition="in" filter="fade">
                                      <p:cBhvr>
                                        <p:cTn id="104" dur="600"/>
                                        <p:tgtEl>
                                          <p:spTgt spid="35"/>
                                        </p:tgtEl>
                                      </p:cBhvr>
                                    </p:animEffect>
                                  </p:childTnLst>
                                </p:cTn>
                              </p:par>
                              <p:par>
                                <p:cTn id="105" presetID="10" presetClass="entr" presetSubtype="0" fill="hold" nodeType="withEffect">
                                  <p:stCondLst>
                                    <p:cond delay="0"/>
                                  </p:stCondLst>
                                  <p:childTnLst>
                                    <p:set>
                                      <p:cBhvr>
                                        <p:cTn id="106" dur="1" fill="hold">
                                          <p:stCondLst>
                                            <p:cond delay="0"/>
                                          </p:stCondLst>
                                        </p:cTn>
                                        <p:tgtEl>
                                          <p:spTgt spid="36"/>
                                        </p:tgtEl>
                                        <p:attrNameLst>
                                          <p:attrName>style.visibility</p:attrName>
                                        </p:attrNameLst>
                                      </p:cBhvr>
                                      <p:to>
                                        <p:strVal val="visible"/>
                                      </p:to>
                                    </p:set>
                                    <p:animEffect transition="in" filter="fade">
                                      <p:cBhvr>
                                        <p:cTn id="107" dur="600"/>
                                        <p:tgtEl>
                                          <p:spTgt spid="36"/>
                                        </p:tgtEl>
                                      </p:cBhvr>
                                    </p:animEffect>
                                  </p:childTnLst>
                                </p:cTn>
                              </p:par>
                              <p:par>
                                <p:cTn id="108" presetID="10" presetClass="entr" presetSubtype="0" fill="hold" nodeType="withEffect">
                                  <p:stCondLst>
                                    <p:cond delay="0"/>
                                  </p:stCondLst>
                                  <p:childTnLst>
                                    <p:set>
                                      <p:cBhvr>
                                        <p:cTn id="109" dur="1" fill="hold">
                                          <p:stCondLst>
                                            <p:cond delay="0"/>
                                          </p:stCondLst>
                                        </p:cTn>
                                        <p:tgtEl>
                                          <p:spTgt spid="37"/>
                                        </p:tgtEl>
                                        <p:attrNameLst>
                                          <p:attrName>style.visibility</p:attrName>
                                        </p:attrNameLst>
                                      </p:cBhvr>
                                      <p:to>
                                        <p:strVal val="visible"/>
                                      </p:to>
                                    </p:set>
                                    <p:animEffect transition="in" filter="fade">
                                      <p:cBhvr>
                                        <p:cTn id="110" dur="600"/>
                                        <p:tgtEl>
                                          <p:spTgt spid="37"/>
                                        </p:tgtEl>
                                      </p:cBhvr>
                                    </p:animEffect>
                                  </p:childTnLst>
                                </p:cTn>
                              </p:par>
                              <p:par>
                                <p:cTn id="111" presetID="10" presetClass="entr" presetSubtype="0" fill="hold" nodeType="withEffect">
                                  <p:stCondLst>
                                    <p:cond delay="0"/>
                                  </p:stCondLst>
                                  <p:childTnLst>
                                    <p:set>
                                      <p:cBhvr>
                                        <p:cTn id="112" dur="1" fill="hold">
                                          <p:stCondLst>
                                            <p:cond delay="0"/>
                                          </p:stCondLst>
                                        </p:cTn>
                                        <p:tgtEl>
                                          <p:spTgt spid="38"/>
                                        </p:tgtEl>
                                        <p:attrNameLst>
                                          <p:attrName>style.visibility</p:attrName>
                                        </p:attrNameLst>
                                      </p:cBhvr>
                                      <p:to>
                                        <p:strVal val="visible"/>
                                      </p:to>
                                    </p:set>
                                    <p:animEffect transition="in" filter="fade">
                                      <p:cBhvr>
                                        <p:cTn id="113" dur="600"/>
                                        <p:tgtEl>
                                          <p:spTgt spid="38"/>
                                        </p:tgtEl>
                                      </p:cBhvr>
                                    </p:animEffect>
                                  </p:childTnLst>
                                </p:cTn>
                              </p:par>
                              <p:par>
                                <p:cTn id="114" presetID="10" presetClass="entr" presetSubtype="0" fill="hold" nodeType="withEffect">
                                  <p:stCondLst>
                                    <p:cond delay="0"/>
                                  </p:stCondLst>
                                  <p:childTnLst>
                                    <p:set>
                                      <p:cBhvr>
                                        <p:cTn id="115" dur="1" fill="hold">
                                          <p:stCondLst>
                                            <p:cond delay="0"/>
                                          </p:stCondLst>
                                        </p:cTn>
                                        <p:tgtEl>
                                          <p:spTgt spid="39"/>
                                        </p:tgtEl>
                                        <p:attrNameLst>
                                          <p:attrName>style.visibility</p:attrName>
                                        </p:attrNameLst>
                                      </p:cBhvr>
                                      <p:to>
                                        <p:strVal val="visible"/>
                                      </p:to>
                                    </p:set>
                                    <p:animEffect transition="in" filter="fade">
                                      <p:cBhvr>
                                        <p:cTn id="116" dur="600"/>
                                        <p:tgtEl>
                                          <p:spTgt spid="39"/>
                                        </p:tgtEl>
                                      </p:cBhvr>
                                    </p:animEffect>
                                  </p:childTnLst>
                                </p:cTn>
                              </p:par>
                              <p:par>
                                <p:cTn id="117" presetID="10" presetClass="entr" presetSubtype="0" fill="hold" nodeType="withEffect">
                                  <p:stCondLst>
                                    <p:cond delay="0"/>
                                  </p:stCondLst>
                                  <p:childTnLst>
                                    <p:set>
                                      <p:cBhvr>
                                        <p:cTn id="118" dur="1" fill="hold">
                                          <p:stCondLst>
                                            <p:cond delay="0"/>
                                          </p:stCondLst>
                                        </p:cTn>
                                        <p:tgtEl>
                                          <p:spTgt spid="40"/>
                                        </p:tgtEl>
                                        <p:attrNameLst>
                                          <p:attrName>style.visibility</p:attrName>
                                        </p:attrNameLst>
                                      </p:cBhvr>
                                      <p:to>
                                        <p:strVal val="visible"/>
                                      </p:to>
                                    </p:set>
                                    <p:animEffect transition="in" filter="fade">
                                      <p:cBhvr>
                                        <p:cTn id="119" dur="600"/>
                                        <p:tgtEl>
                                          <p:spTgt spid="40"/>
                                        </p:tgtEl>
                                      </p:cBhvr>
                                    </p:animEffect>
                                  </p:childTnLst>
                                </p:cTn>
                              </p:par>
                              <p:par>
                                <p:cTn id="120" presetID="10" presetClass="entr" presetSubtype="0" fill="hold" nodeType="withEffect">
                                  <p:stCondLst>
                                    <p:cond delay="0"/>
                                  </p:stCondLst>
                                  <p:childTnLst>
                                    <p:set>
                                      <p:cBhvr>
                                        <p:cTn id="121" dur="1" fill="hold">
                                          <p:stCondLst>
                                            <p:cond delay="0"/>
                                          </p:stCondLst>
                                        </p:cTn>
                                        <p:tgtEl>
                                          <p:spTgt spid="41"/>
                                        </p:tgtEl>
                                        <p:attrNameLst>
                                          <p:attrName>style.visibility</p:attrName>
                                        </p:attrNameLst>
                                      </p:cBhvr>
                                      <p:to>
                                        <p:strVal val="visible"/>
                                      </p:to>
                                    </p:set>
                                    <p:animEffect transition="in" filter="fade">
                                      <p:cBhvr>
                                        <p:cTn id="122" dur="600"/>
                                        <p:tgtEl>
                                          <p:spTgt spid="41"/>
                                        </p:tgtEl>
                                      </p:cBhvr>
                                    </p:animEffect>
                                  </p:childTnLst>
                                </p:cTn>
                              </p:par>
                              <p:par>
                                <p:cTn id="123" presetID="10" presetClass="entr" presetSubtype="0" fill="hold" nodeType="withEffect">
                                  <p:stCondLst>
                                    <p:cond delay="0"/>
                                  </p:stCondLst>
                                  <p:childTnLst>
                                    <p:set>
                                      <p:cBhvr>
                                        <p:cTn id="124" dur="1" fill="hold">
                                          <p:stCondLst>
                                            <p:cond delay="0"/>
                                          </p:stCondLst>
                                        </p:cTn>
                                        <p:tgtEl>
                                          <p:spTgt spid="42"/>
                                        </p:tgtEl>
                                        <p:attrNameLst>
                                          <p:attrName>style.visibility</p:attrName>
                                        </p:attrNameLst>
                                      </p:cBhvr>
                                      <p:to>
                                        <p:strVal val="visible"/>
                                      </p:to>
                                    </p:set>
                                    <p:animEffect transition="in" filter="fade">
                                      <p:cBhvr>
                                        <p:cTn id="125" dur="600"/>
                                        <p:tgtEl>
                                          <p:spTgt spid="42"/>
                                        </p:tgtEl>
                                      </p:cBhvr>
                                    </p:animEffect>
                                  </p:childTnLst>
                                </p:cTn>
                              </p:par>
                              <p:par>
                                <p:cTn id="126" presetID="10" presetClass="entr" presetSubtype="0" fill="hold" nodeType="withEffect">
                                  <p:stCondLst>
                                    <p:cond delay="0"/>
                                  </p:stCondLst>
                                  <p:childTnLst>
                                    <p:set>
                                      <p:cBhvr>
                                        <p:cTn id="127" dur="1" fill="hold">
                                          <p:stCondLst>
                                            <p:cond delay="0"/>
                                          </p:stCondLst>
                                        </p:cTn>
                                        <p:tgtEl>
                                          <p:spTgt spid="43"/>
                                        </p:tgtEl>
                                        <p:attrNameLst>
                                          <p:attrName>style.visibility</p:attrName>
                                        </p:attrNameLst>
                                      </p:cBhvr>
                                      <p:to>
                                        <p:strVal val="visible"/>
                                      </p:to>
                                    </p:set>
                                    <p:animEffect transition="in" filter="fade">
                                      <p:cBhvr>
                                        <p:cTn id="128" dur="600"/>
                                        <p:tgtEl>
                                          <p:spTgt spid="43"/>
                                        </p:tgtEl>
                                      </p:cBhvr>
                                    </p:animEffect>
                                  </p:childTnLst>
                                </p:cTn>
                              </p:par>
                              <p:par>
                                <p:cTn id="129" presetID="10" presetClass="entr" presetSubtype="0" fill="hold" nodeType="withEffect">
                                  <p:stCondLst>
                                    <p:cond delay="0"/>
                                  </p:stCondLst>
                                  <p:childTnLst>
                                    <p:set>
                                      <p:cBhvr>
                                        <p:cTn id="130" dur="1" fill="hold">
                                          <p:stCondLst>
                                            <p:cond delay="0"/>
                                          </p:stCondLst>
                                        </p:cTn>
                                        <p:tgtEl>
                                          <p:spTgt spid="44"/>
                                        </p:tgtEl>
                                        <p:attrNameLst>
                                          <p:attrName>style.visibility</p:attrName>
                                        </p:attrNameLst>
                                      </p:cBhvr>
                                      <p:to>
                                        <p:strVal val="visible"/>
                                      </p:to>
                                    </p:set>
                                    <p:animEffect transition="in" filter="fade">
                                      <p:cBhvr>
                                        <p:cTn id="131" dur="600"/>
                                        <p:tgtEl>
                                          <p:spTgt spid="44"/>
                                        </p:tgtEl>
                                      </p:cBhvr>
                                    </p:animEffect>
                                  </p:childTnLst>
                                </p:cTn>
                              </p:par>
                              <p:par>
                                <p:cTn id="132" presetID="10" presetClass="entr" presetSubtype="0" fill="hold" nodeType="withEffect">
                                  <p:stCondLst>
                                    <p:cond delay="0"/>
                                  </p:stCondLst>
                                  <p:childTnLst>
                                    <p:set>
                                      <p:cBhvr>
                                        <p:cTn id="133" dur="1" fill="hold">
                                          <p:stCondLst>
                                            <p:cond delay="0"/>
                                          </p:stCondLst>
                                        </p:cTn>
                                        <p:tgtEl>
                                          <p:spTgt spid="45"/>
                                        </p:tgtEl>
                                        <p:attrNameLst>
                                          <p:attrName>style.visibility</p:attrName>
                                        </p:attrNameLst>
                                      </p:cBhvr>
                                      <p:to>
                                        <p:strVal val="visible"/>
                                      </p:to>
                                    </p:set>
                                    <p:animEffect transition="in" filter="fade">
                                      <p:cBhvr>
                                        <p:cTn id="134" dur="600"/>
                                        <p:tgtEl>
                                          <p:spTgt spid="45"/>
                                        </p:tgtEl>
                                      </p:cBhvr>
                                    </p:animEffect>
                                  </p:childTnLst>
                                </p:cTn>
                              </p:par>
                              <p:par>
                                <p:cTn id="135" presetID="10" presetClass="entr" presetSubtype="0" fill="hold" nodeType="withEffect">
                                  <p:stCondLst>
                                    <p:cond delay="0"/>
                                  </p:stCondLst>
                                  <p:childTnLst>
                                    <p:set>
                                      <p:cBhvr>
                                        <p:cTn id="136" dur="1" fill="hold">
                                          <p:stCondLst>
                                            <p:cond delay="0"/>
                                          </p:stCondLst>
                                        </p:cTn>
                                        <p:tgtEl>
                                          <p:spTgt spid="46"/>
                                        </p:tgtEl>
                                        <p:attrNameLst>
                                          <p:attrName>style.visibility</p:attrName>
                                        </p:attrNameLst>
                                      </p:cBhvr>
                                      <p:to>
                                        <p:strVal val="visible"/>
                                      </p:to>
                                    </p:set>
                                    <p:animEffect transition="in" filter="fade">
                                      <p:cBhvr>
                                        <p:cTn id="137" dur="600"/>
                                        <p:tgtEl>
                                          <p:spTgt spid="46"/>
                                        </p:tgtEl>
                                      </p:cBhvr>
                                    </p:animEffect>
                                  </p:childTnLst>
                                </p:cTn>
                              </p:par>
                              <p:par>
                                <p:cTn id="138" presetID="10" presetClass="entr" presetSubtype="0" fill="hold" nodeType="withEffect">
                                  <p:stCondLst>
                                    <p:cond delay="0"/>
                                  </p:stCondLst>
                                  <p:childTnLst>
                                    <p:set>
                                      <p:cBhvr>
                                        <p:cTn id="139" dur="1" fill="hold">
                                          <p:stCondLst>
                                            <p:cond delay="0"/>
                                          </p:stCondLst>
                                        </p:cTn>
                                        <p:tgtEl>
                                          <p:spTgt spid="47"/>
                                        </p:tgtEl>
                                        <p:attrNameLst>
                                          <p:attrName>style.visibility</p:attrName>
                                        </p:attrNameLst>
                                      </p:cBhvr>
                                      <p:to>
                                        <p:strVal val="visible"/>
                                      </p:to>
                                    </p:set>
                                    <p:animEffect transition="in" filter="fade">
                                      <p:cBhvr>
                                        <p:cTn id="140" dur="600"/>
                                        <p:tgtEl>
                                          <p:spTgt spid="47"/>
                                        </p:tgtEl>
                                      </p:cBhvr>
                                    </p:animEffect>
                                  </p:childTnLst>
                                </p:cTn>
                              </p:par>
                              <p:par>
                                <p:cTn id="141" presetID="10" presetClass="entr" presetSubtype="0" fill="hold" nodeType="withEffect">
                                  <p:stCondLst>
                                    <p:cond delay="0"/>
                                  </p:stCondLst>
                                  <p:childTnLst>
                                    <p:set>
                                      <p:cBhvr>
                                        <p:cTn id="142" dur="1" fill="hold">
                                          <p:stCondLst>
                                            <p:cond delay="0"/>
                                          </p:stCondLst>
                                        </p:cTn>
                                        <p:tgtEl>
                                          <p:spTgt spid="48"/>
                                        </p:tgtEl>
                                        <p:attrNameLst>
                                          <p:attrName>style.visibility</p:attrName>
                                        </p:attrNameLst>
                                      </p:cBhvr>
                                      <p:to>
                                        <p:strVal val="visible"/>
                                      </p:to>
                                    </p:set>
                                    <p:animEffect transition="in" filter="fade">
                                      <p:cBhvr>
                                        <p:cTn id="143" dur="600"/>
                                        <p:tgtEl>
                                          <p:spTgt spid="48"/>
                                        </p:tgtEl>
                                      </p:cBhvr>
                                    </p:animEffect>
                                  </p:childTnLst>
                                </p:cTn>
                              </p:par>
                              <p:par>
                                <p:cTn id="144" presetID="10" presetClass="entr" presetSubtype="0" fill="hold" nodeType="withEffect">
                                  <p:stCondLst>
                                    <p:cond delay="0"/>
                                  </p:stCondLst>
                                  <p:childTnLst>
                                    <p:set>
                                      <p:cBhvr>
                                        <p:cTn id="145" dur="1" fill="hold">
                                          <p:stCondLst>
                                            <p:cond delay="0"/>
                                          </p:stCondLst>
                                        </p:cTn>
                                        <p:tgtEl>
                                          <p:spTgt spid="49"/>
                                        </p:tgtEl>
                                        <p:attrNameLst>
                                          <p:attrName>style.visibility</p:attrName>
                                        </p:attrNameLst>
                                      </p:cBhvr>
                                      <p:to>
                                        <p:strVal val="visible"/>
                                      </p:to>
                                    </p:set>
                                    <p:animEffect transition="in" filter="fade">
                                      <p:cBhvr>
                                        <p:cTn id="146" dur="600"/>
                                        <p:tgtEl>
                                          <p:spTgt spid="49"/>
                                        </p:tgtEl>
                                      </p:cBhvr>
                                    </p:animEffect>
                                  </p:childTnLst>
                                </p:cTn>
                              </p:par>
                              <p:par>
                                <p:cTn id="147" presetID="10" presetClass="entr" presetSubtype="0" fill="hold" nodeType="withEffect">
                                  <p:stCondLst>
                                    <p:cond delay="0"/>
                                  </p:stCondLst>
                                  <p:childTnLst>
                                    <p:set>
                                      <p:cBhvr>
                                        <p:cTn id="148" dur="1" fill="hold">
                                          <p:stCondLst>
                                            <p:cond delay="0"/>
                                          </p:stCondLst>
                                        </p:cTn>
                                        <p:tgtEl>
                                          <p:spTgt spid="50"/>
                                        </p:tgtEl>
                                        <p:attrNameLst>
                                          <p:attrName>style.visibility</p:attrName>
                                        </p:attrNameLst>
                                      </p:cBhvr>
                                      <p:to>
                                        <p:strVal val="visible"/>
                                      </p:to>
                                    </p:set>
                                    <p:animEffect transition="in" filter="fade">
                                      <p:cBhvr>
                                        <p:cTn id="149" dur="600"/>
                                        <p:tgtEl>
                                          <p:spTgt spid="50"/>
                                        </p:tgtEl>
                                      </p:cBhvr>
                                    </p:animEffect>
                                  </p:childTnLst>
                                </p:cTn>
                              </p:par>
                              <p:par>
                                <p:cTn id="150" presetID="10" presetClass="entr" presetSubtype="0" fill="hold" nodeType="withEffect">
                                  <p:stCondLst>
                                    <p:cond delay="0"/>
                                  </p:stCondLst>
                                  <p:childTnLst>
                                    <p:set>
                                      <p:cBhvr>
                                        <p:cTn id="151" dur="1" fill="hold">
                                          <p:stCondLst>
                                            <p:cond delay="0"/>
                                          </p:stCondLst>
                                        </p:cTn>
                                        <p:tgtEl>
                                          <p:spTgt spid="51"/>
                                        </p:tgtEl>
                                        <p:attrNameLst>
                                          <p:attrName>style.visibility</p:attrName>
                                        </p:attrNameLst>
                                      </p:cBhvr>
                                      <p:to>
                                        <p:strVal val="visible"/>
                                      </p:to>
                                    </p:set>
                                    <p:animEffect transition="in" filter="fade">
                                      <p:cBhvr>
                                        <p:cTn id="152" dur="600"/>
                                        <p:tgtEl>
                                          <p:spTgt spid="51"/>
                                        </p:tgtEl>
                                      </p:cBhvr>
                                    </p:animEffect>
                                  </p:childTnLst>
                                </p:cTn>
                              </p:par>
                              <p:par>
                                <p:cTn id="153" presetID="10" presetClass="entr" presetSubtype="0" fill="hold" nodeType="withEffect">
                                  <p:stCondLst>
                                    <p:cond delay="0"/>
                                  </p:stCondLst>
                                  <p:childTnLst>
                                    <p:set>
                                      <p:cBhvr>
                                        <p:cTn id="154" dur="1" fill="hold">
                                          <p:stCondLst>
                                            <p:cond delay="0"/>
                                          </p:stCondLst>
                                        </p:cTn>
                                        <p:tgtEl>
                                          <p:spTgt spid="52"/>
                                        </p:tgtEl>
                                        <p:attrNameLst>
                                          <p:attrName>style.visibility</p:attrName>
                                        </p:attrNameLst>
                                      </p:cBhvr>
                                      <p:to>
                                        <p:strVal val="visible"/>
                                      </p:to>
                                    </p:set>
                                    <p:animEffect transition="in" filter="fade">
                                      <p:cBhvr>
                                        <p:cTn id="155" dur="600"/>
                                        <p:tgtEl>
                                          <p:spTgt spid="52"/>
                                        </p:tgtEl>
                                      </p:cBhvr>
                                    </p:animEffect>
                                  </p:childTnLst>
                                </p:cTn>
                              </p:par>
                              <p:par>
                                <p:cTn id="156" presetID="10" presetClass="entr" presetSubtype="0" fill="hold" nodeType="withEffect">
                                  <p:stCondLst>
                                    <p:cond delay="0"/>
                                  </p:stCondLst>
                                  <p:childTnLst>
                                    <p:set>
                                      <p:cBhvr>
                                        <p:cTn id="157" dur="1" fill="hold">
                                          <p:stCondLst>
                                            <p:cond delay="0"/>
                                          </p:stCondLst>
                                        </p:cTn>
                                        <p:tgtEl>
                                          <p:spTgt spid="53"/>
                                        </p:tgtEl>
                                        <p:attrNameLst>
                                          <p:attrName>style.visibility</p:attrName>
                                        </p:attrNameLst>
                                      </p:cBhvr>
                                      <p:to>
                                        <p:strVal val="visible"/>
                                      </p:to>
                                    </p:set>
                                    <p:animEffect transition="in" filter="fade">
                                      <p:cBhvr>
                                        <p:cTn id="158" dur="600"/>
                                        <p:tgtEl>
                                          <p:spTgt spid="53"/>
                                        </p:tgtEl>
                                      </p:cBhvr>
                                    </p:animEffect>
                                  </p:childTnLst>
                                </p:cTn>
                              </p:par>
                              <p:par>
                                <p:cTn id="159" presetID="10" presetClass="entr" presetSubtype="0" fill="hold" nodeType="withEffect">
                                  <p:stCondLst>
                                    <p:cond delay="0"/>
                                  </p:stCondLst>
                                  <p:childTnLst>
                                    <p:set>
                                      <p:cBhvr>
                                        <p:cTn id="160" dur="1" fill="hold">
                                          <p:stCondLst>
                                            <p:cond delay="0"/>
                                          </p:stCondLst>
                                        </p:cTn>
                                        <p:tgtEl>
                                          <p:spTgt spid="54"/>
                                        </p:tgtEl>
                                        <p:attrNameLst>
                                          <p:attrName>style.visibility</p:attrName>
                                        </p:attrNameLst>
                                      </p:cBhvr>
                                      <p:to>
                                        <p:strVal val="visible"/>
                                      </p:to>
                                    </p:set>
                                    <p:animEffect transition="in" filter="fade">
                                      <p:cBhvr>
                                        <p:cTn id="161" dur="600"/>
                                        <p:tgtEl>
                                          <p:spTgt spid="54"/>
                                        </p:tgtEl>
                                      </p:cBhvr>
                                    </p:animEffect>
                                  </p:childTnLst>
                                </p:cTn>
                              </p:par>
                              <p:par>
                                <p:cTn id="162" presetID="10" presetClass="entr" presetSubtype="0" fill="hold" nodeType="withEffect">
                                  <p:stCondLst>
                                    <p:cond delay="0"/>
                                  </p:stCondLst>
                                  <p:childTnLst>
                                    <p:set>
                                      <p:cBhvr>
                                        <p:cTn id="163" dur="1" fill="hold">
                                          <p:stCondLst>
                                            <p:cond delay="0"/>
                                          </p:stCondLst>
                                        </p:cTn>
                                        <p:tgtEl>
                                          <p:spTgt spid="55"/>
                                        </p:tgtEl>
                                        <p:attrNameLst>
                                          <p:attrName>style.visibility</p:attrName>
                                        </p:attrNameLst>
                                      </p:cBhvr>
                                      <p:to>
                                        <p:strVal val="visible"/>
                                      </p:to>
                                    </p:set>
                                    <p:animEffect transition="in" filter="fade">
                                      <p:cBhvr>
                                        <p:cTn id="164" dur="600"/>
                                        <p:tgtEl>
                                          <p:spTgt spid="55"/>
                                        </p:tgtEl>
                                      </p:cBhvr>
                                    </p:animEffect>
                                  </p:childTnLst>
                                </p:cTn>
                              </p:par>
                            </p:childTnLst>
                          </p:cTn>
                        </p:par>
                      </p:childTnLst>
                    </p:cTn>
                  </p:par>
                  <p:par>
                    <p:cTn id="165" fill="hold">
                      <p:stCondLst>
                        <p:cond delay="indefinite"/>
                      </p:stCondLst>
                      <p:childTnLst>
                        <p:par>
                          <p:cTn id="166" fill="hold">
                            <p:stCondLst>
                              <p:cond delay="0"/>
                            </p:stCondLst>
                            <p:childTnLst>
                              <p:par>
                                <p:cTn id="167" presetID="10" presetClass="entr" presetSubtype="0" fill="hold" nodeType="clickEffect">
                                  <p:stCondLst>
                                    <p:cond delay="0"/>
                                  </p:stCondLst>
                                  <p:childTnLst>
                                    <p:set>
                                      <p:cBhvr>
                                        <p:cTn id="168" dur="1" fill="hold">
                                          <p:stCondLst>
                                            <p:cond delay="0"/>
                                          </p:stCondLst>
                                        </p:cTn>
                                        <p:tgtEl>
                                          <p:spTgt spid="56"/>
                                        </p:tgtEl>
                                        <p:attrNameLst>
                                          <p:attrName>style.visibility</p:attrName>
                                        </p:attrNameLst>
                                      </p:cBhvr>
                                      <p:to>
                                        <p:strVal val="visible"/>
                                      </p:to>
                                    </p:set>
                                    <p:animEffect transition="in" filter="fade">
                                      <p:cBhvr>
                                        <p:cTn id="169" dur="600"/>
                                        <p:tgtEl>
                                          <p:spTgt spid="56"/>
                                        </p:tgtEl>
                                      </p:cBhvr>
                                    </p:animEffect>
                                  </p:childTnLst>
                                </p:cTn>
                              </p:par>
                              <p:par>
                                <p:cTn id="170" presetID="10" presetClass="entr" presetSubtype="0" fill="hold" nodeType="withEffect">
                                  <p:stCondLst>
                                    <p:cond delay="0"/>
                                  </p:stCondLst>
                                  <p:childTnLst>
                                    <p:set>
                                      <p:cBhvr>
                                        <p:cTn id="171" dur="1" fill="hold">
                                          <p:stCondLst>
                                            <p:cond delay="0"/>
                                          </p:stCondLst>
                                        </p:cTn>
                                        <p:tgtEl>
                                          <p:spTgt spid="57"/>
                                        </p:tgtEl>
                                        <p:attrNameLst>
                                          <p:attrName>style.visibility</p:attrName>
                                        </p:attrNameLst>
                                      </p:cBhvr>
                                      <p:to>
                                        <p:strVal val="visible"/>
                                      </p:to>
                                    </p:set>
                                    <p:animEffect transition="in" filter="fade">
                                      <p:cBhvr>
                                        <p:cTn id="172" dur="600"/>
                                        <p:tgtEl>
                                          <p:spTgt spid="57"/>
                                        </p:tgtEl>
                                      </p:cBhvr>
                                    </p:animEffect>
                                  </p:childTnLst>
                                </p:cTn>
                              </p:par>
                              <p:par>
                                <p:cTn id="173" presetID="10" presetClass="entr" presetSubtype="0" fill="hold" nodeType="withEffect">
                                  <p:stCondLst>
                                    <p:cond delay="0"/>
                                  </p:stCondLst>
                                  <p:childTnLst>
                                    <p:set>
                                      <p:cBhvr>
                                        <p:cTn id="174" dur="1" fill="hold">
                                          <p:stCondLst>
                                            <p:cond delay="0"/>
                                          </p:stCondLst>
                                        </p:cTn>
                                        <p:tgtEl>
                                          <p:spTgt spid="58"/>
                                        </p:tgtEl>
                                        <p:attrNameLst>
                                          <p:attrName>style.visibility</p:attrName>
                                        </p:attrNameLst>
                                      </p:cBhvr>
                                      <p:to>
                                        <p:strVal val="visible"/>
                                      </p:to>
                                    </p:set>
                                    <p:animEffect transition="in" filter="fade">
                                      <p:cBhvr>
                                        <p:cTn id="175" dur="600"/>
                                        <p:tgtEl>
                                          <p:spTgt spid="58"/>
                                        </p:tgtEl>
                                      </p:cBhvr>
                                    </p:animEffect>
                                  </p:childTnLst>
                                </p:cTn>
                              </p:par>
                              <p:par>
                                <p:cTn id="176" presetID="10" presetClass="entr" presetSubtype="0" fill="hold" nodeType="withEffect">
                                  <p:stCondLst>
                                    <p:cond delay="0"/>
                                  </p:stCondLst>
                                  <p:childTnLst>
                                    <p:set>
                                      <p:cBhvr>
                                        <p:cTn id="177" dur="1" fill="hold">
                                          <p:stCondLst>
                                            <p:cond delay="0"/>
                                          </p:stCondLst>
                                        </p:cTn>
                                        <p:tgtEl>
                                          <p:spTgt spid="59"/>
                                        </p:tgtEl>
                                        <p:attrNameLst>
                                          <p:attrName>style.visibility</p:attrName>
                                        </p:attrNameLst>
                                      </p:cBhvr>
                                      <p:to>
                                        <p:strVal val="visible"/>
                                      </p:to>
                                    </p:set>
                                    <p:animEffect transition="in" filter="fade">
                                      <p:cBhvr>
                                        <p:cTn id="178" dur="600"/>
                                        <p:tgtEl>
                                          <p:spTgt spid="59"/>
                                        </p:tgtEl>
                                      </p:cBhvr>
                                    </p:animEffect>
                                  </p:childTnLst>
                                </p:cTn>
                              </p:par>
                              <p:par>
                                <p:cTn id="179" presetID="10" presetClass="entr" presetSubtype="0" fill="hold" nodeType="withEffect">
                                  <p:stCondLst>
                                    <p:cond delay="0"/>
                                  </p:stCondLst>
                                  <p:childTnLst>
                                    <p:set>
                                      <p:cBhvr>
                                        <p:cTn id="180" dur="1" fill="hold">
                                          <p:stCondLst>
                                            <p:cond delay="0"/>
                                          </p:stCondLst>
                                        </p:cTn>
                                        <p:tgtEl>
                                          <p:spTgt spid="60"/>
                                        </p:tgtEl>
                                        <p:attrNameLst>
                                          <p:attrName>style.visibility</p:attrName>
                                        </p:attrNameLst>
                                      </p:cBhvr>
                                      <p:to>
                                        <p:strVal val="visible"/>
                                      </p:to>
                                    </p:set>
                                    <p:animEffect transition="in" filter="fade">
                                      <p:cBhvr>
                                        <p:cTn id="181" dur="600"/>
                                        <p:tgtEl>
                                          <p:spTgt spid="60"/>
                                        </p:tgtEl>
                                      </p:cBhvr>
                                    </p:animEffect>
                                  </p:childTnLst>
                                </p:cTn>
                              </p:par>
                              <p:par>
                                <p:cTn id="182" presetID="10" presetClass="entr" presetSubtype="0" fill="hold" nodeType="withEffect">
                                  <p:stCondLst>
                                    <p:cond delay="0"/>
                                  </p:stCondLst>
                                  <p:childTnLst>
                                    <p:set>
                                      <p:cBhvr>
                                        <p:cTn id="183" dur="1" fill="hold">
                                          <p:stCondLst>
                                            <p:cond delay="0"/>
                                          </p:stCondLst>
                                        </p:cTn>
                                        <p:tgtEl>
                                          <p:spTgt spid="61"/>
                                        </p:tgtEl>
                                        <p:attrNameLst>
                                          <p:attrName>style.visibility</p:attrName>
                                        </p:attrNameLst>
                                      </p:cBhvr>
                                      <p:to>
                                        <p:strVal val="visible"/>
                                      </p:to>
                                    </p:set>
                                    <p:animEffect transition="in" filter="fade">
                                      <p:cBhvr>
                                        <p:cTn id="184" dur="600"/>
                                        <p:tgtEl>
                                          <p:spTgt spid="61"/>
                                        </p:tgtEl>
                                      </p:cBhvr>
                                    </p:animEffect>
                                  </p:childTnLst>
                                </p:cTn>
                              </p:par>
                              <p:par>
                                <p:cTn id="185" presetID="10" presetClass="entr" presetSubtype="0" fill="hold" nodeType="withEffect">
                                  <p:stCondLst>
                                    <p:cond delay="0"/>
                                  </p:stCondLst>
                                  <p:childTnLst>
                                    <p:set>
                                      <p:cBhvr>
                                        <p:cTn id="186" dur="1" fill="hold">
                                          <p:stCondLst>
                                            <p:cond delay="0"/>
                                          </p:stCondLst>
                                        </p:cTn>
                                        <p:tgtEl>
                                          <p:spTgt spid="62"/>
                                        </p:tgtEl>
                                        <p:attrNameLst>
                                          <p:attrName>style.visibility</p:attrName>
                                        </p:attrNameLst>
                                      </p:cBhvr>
                                      <p:to>
                                        <p:strVal val="visible"/>
                                      </p:to>
                                    </p:set>
                                    <p:animEffect transition="in" filter="fade">
                                      <p:cBhvr>
                                        <p:cTn id="187" dur="600"/>
                                        <p:tgtEl>
                                          <p:spTgt spid="62"/>
                                        </p:tgtEl>
                                      </p:cBhvr>
                                    </p:animEffect>
                                  </p:childTnLst>
                                </p:cTn>
                              </p:par>
                              <p:par>
                                <p:cTn id="188" presetID="10" presetClass="entr" presetSubtype="0" fill="hold" nodeType="withEffect">
                                  <p:stCondLst>
                                    <p:cond delay="0"/>
                                  </p:stCondLst>
                                  <p:childTnLst>
                                    <p:set>
                                      <p:cBhvr>
                                        <p:cTn id="189" dur="1" fill="hold">
                                          <p:stCondLst>
                                            <p:cond delay="0"/>
                                          </p:stCondLst>
                                        </p:cTn>
                                        <p:tgtEl>
                                          <p:spTgt spid="63"/>
                                        </p:tgtEl>
                                        <p:attrNameLst>
                                          <p:attrName>style.visibility</p:attrName>
                                        </p:attrNameLst>
                                      </p:cBhvr>
                                      <p:to>
                                        <p:strVal val="visible"/>
                                      </p:to>
                                    </p:set>
                                    <p:animEffect transition="in" filter="fade">
                                      <p:cBhvr>
                                        <p:cTn id="190" dur="600"/>
                                        <p:tgtEl>
                                          <p:spTgt spid="63"/>
                                        </p:tgtEl>
                                      </p:cBhvr>
                                    </p:animEffect>
                                  </p:childTnLst>
                                </p:cTn>
                              </p:par>
                              <p:par>
                                <p:cTn id="191" presetID="10" presetClass="entr" presetSubtype="0" fill="hold" nodeType="withEffect">
                                  <p:stCondLst>
                                    <p:cond delay="0"/>
                                  </p:stCondLst>
                                  <p:childTnLst>
                                    <p:set>
                                      <p:cBhvr>
                                        <p:cTn id="192" dur="1" fill="hold">
                                          <p:stCondLst>
                                            <p:cond delay="0"/>
                                          </p:stCondLst>
                                        </p:cTn>
                                        <p:tgtEl>
                                          <p:spTgt spid="64"/>
                                        </p:tgtEl>
                                        <p:attrNameLst>
                                          <p:attrName>style.visibility</p:attrName>
                                        </p:attrNameLst>
                                      </p:cBhvr>
                                      <p:to>
                                        <p:strVal val="visible"/>
                                      </p:to>
                                    </p:set>
                                    <p:animEffect transition="in" filter="fade">
                                      <p:cBhvr>
                                        <p:cTn id="193" dur="600"/>
                                        <p:tgtEl>
                                          <p:spTgt spid="64"/>
                                        </p:tgtEl>
                                      </p:cBhvr>
                                    </p:animEffect>
                                  </p:childTnLst>
                                </p:cTn>
                              </p:par>
                              <p:par>
                                <p:cTn id="194" presetID="10" presetClass="entr" presetSubtype="0" fill="hold" nodeType="withEffect">
                                  <p:stCondLst>
                                    <p:cond delay="0"/>
                                  </p:stCondLst>
                                  <p:childTnLst>
                                    <p:set>
                                      <p:cBhvr>
                                        <p:cTn id="195" dur="1" fill="hold">
                                          <p:stCondLst>
                                            <p:cond delay="0"/>
                                          </p:stCondLst>
                                        </p:cTn>
                                        <p:tgtEl>
                                          <p:spTgt spid="65"/>
                                        </p:tgtEl>
                                        <p:attrNameLst>
                                          <p:attrName>style.visibility</p:attrName>
                                        </p:attrNameLst>
                                      </p:cBhvr>
                                      <p:to>
                                        <p:strVal val="visible"/>
                                      </p:to>
                                    </p:set>
                                    <p:animEffect transition="in" filter="fade">
                                      <p:cBhvr>
                                        <p:cTn id="196" dur="600"/>
                                        <p:tgtEl>
                                          <p:spTgt spid="65"/>
                                        </p:tgtEl>
                                      </p:cBhvr>
                                    </p:animEffect>
                                  </p:childTnLst>
                                </p:cTn>
                              </p:par>
                              <p:par>
                                <p:cTn id="197" presetID="10" presetClass="entr" presetSubtype="0" fill="hold" nodeType="withEffect">
                                  <p:stCondLst>
                                    <p:cond delay="0"/>
                                  </p:stCondLst>
                                  <p:childTnLst>
                                    <p:set>
                                      <p:cBhvr>
                                        <p:cTn id="198" dur="1" fill="hold">
                                          <p:stCondLst>
                                            <p:cond delay="0"/>
                                          </p:stCondLst>
                                        </p:cTn>
                                        <p:tgtEl>
                                          <p:spTgt spid="66"/>
                                        </p:tgtEl>
                                        <p:attrNameLst>
                                          <p:attrName>style.visibility</p:attrName>
                                        </p:attrNameLst>
                                      </p:cBhvr>
                                      <p:to>
                                        <p:strVal val="visible"/>
                                      </p:to>
                                    </p:set>
                                    <p:animEffect transition="in" filter="fade">
                                      <p:cBhvr>
                                        <p:cTn id="199" dur="600"/>
                                        <p:tgtEl>
                                          <p:spTgt spid="66"/>
                                        </p:tgtEl>
                                      </p:cBhvr>
                                    </p:animEffect>
                                  </p:childTnLst>
                                </p:cTn>
                              </p:par>
                            </p:childTnLst>
                          </p:cTn>
                        </p:par>
                      </p:childTnLst>
                    </p:cTn>
                  </p:par>
                  <p:par>
                    <p:cTn id="200" fill="hold">
                      <p:stCondLst>
                        <p:cond delay="indefinite"/>
                      </p:stCondLst>
                      <p:childTnLst>
                        <p:par>
                          <p:cTn id="201" fill="hold">
                            <p:stCondLst>
                              <p:cond delay="0"/>
                            </p:stCondLst>
                            <p:childTnLst>
                              <p:par>
                                <p:cTn id="202" presetID="10" presetClass="entr" presetSubtype="0" fill="hold" nodeType="clickEffect">
                                  <p:stCondLst>
                                    <p:cond delay="0"/>
                                  </p:stCondLst>
                                  <p:childTnLst>
                                    <p:set>
                                      <p:cBhvr>
                                        <p:cTn id="203" dur="1" fill="hold">
                                          <p:stCondLst>
                                            <p:cond delay="0"/>
                                          </p:stCondLst>
                                        </p:cTn>
                                        <p:tgtEl>
                                          <p:spTgt spid="67"/>
                                        </p:tgtEl>
                                        <p:attrNameLst>
                                          <p:attrName>style.visibility</p:attrName>
                                        </p:attrNameLst>
                                      </p:cBhvr>
                                      <p:to>
                                        <p:strVal val="visible"/>
                                      </p:to>
                                    </p:set>
                                    <p:animEffect transition="in" filter="fade">
                                      <p:cBhvr>
                                        <p:cTn id="204" dur="600"/>
                                        <p:tgtEl>
                                          <p:spTgt spid="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TECH STACK</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Technologies &amp; implementation</a:t>
            </a:r>
            <a:endParaRPr lang="en-US" sz="3200" dirty="0"/>
          </a:p>
        </p:txBody>
      </p:sp>
      <p:sp>
        <p:nvSpPr>
          <p:cNvPr id="4" name="A1f_r0"/>
          <p:cNvSpPr/>
          <p:nvPr/>
        </p:nvSpPr>
        <p:spPr>
          <a:xfrm>
            <a:off x="457200" y="1234440"/>
            <a:ext cx="4297680" cy="365760"/>
          </a:xfrm>
          <a:prstGeom prst="roundRect">
            <a:avLst>
              <a:gd name="adj" fmla="val 20000"/>
            </a:avLst>
          </a:prstGeom>
          <a:solidFill>
            <a:srgbClr val="FCF1E7"/>
          </a:solidFill>
          <a:ln w="6350">
            <a:solidFill>
              <a:srgbClr val="F2C4B5"/>
            </a:solidFill>
            <a:prstDash val="solid"/>
          </a:ln>
        </p:spPr>
        <p:txBody>
          <a:bodyPr/>
          <a:lstStyle/>
          <a:p>
            <a:endParaRPr lang="en-US"/>
          </a:p>
        </p:txBody>
      </p:sp>
      <p:sp>
        <p:nvSpPr>
          <p:cNvPr id="5" name="A1f_t0"/>
          <p:cNvSpPr txBox="1"/>
          <p:nvPr/>
        </p:nvSpPr>
        <p:spPr>
          <a:xfrm>
            <a:off x="594360" y="1234440"/>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HTML5   </a:t>
            </a:r>
            <a:r>
              <a:rPr lang="en-US" sz="1050" dirty="0">
                <a:solidFill>
                  <a:srgbClr val="3D2925"/>
                </a:solidFill>
                <a:latin typeface="Calibri" pitchFamily="34" charset="0"/>
                <a:ea typeface="Calibri" pitchFamily="34" charset="-122"/>
                <a:cs typeface="Calibri" pitchFamily="34" charset="-120"/>
              </a:rPr>
              <a:t>Semantic structure, ARIA, data-* attributes</a:t>
            </a:r>
            <a:endParaRPr lang="en-US" sz="1250" dirty="0"/>
          </a:p>
        </p:txBody>
      </p:sp>
      <p:sp>
        <p:nvSpPr>
          <p:cNvPr id="6" name="A1f_r1"/>
          <p:cNvSpPr/>
          <p:nvPr/>
        </p:nvSpPr>
        <p:spPr>
          <a:xfrm>
            <a:off x="457200" y="1655064"/>
            <a:ext cx="4297680" cy="365760"/>
          </a:xfrm>
          <a:prstGeom prst="roundRect">
            <a:avLst>
              <a:gd name="adj" fmla="val 20000"/>
            </a:avLst>
          </a:prstGeom>
          <a:solidFill>
            <a:srgbClr val="FFFFFF"/>
          </a:solidFill>
          <a:ln w="6350">
            <a:solidFill>
              <a:srgbClr val="F2C4B5"/>
            </a:solidFill>
            <a:prstDash val="solid"/>
          </a:ln>
        </p:spPr>
        <p:txBody>
          <a:bodyPr/>
          <a:lstStyle/>
          <a:p>
            <a:endParaRPr lang="en-US"/>
          </a:p>
        </p:txBody>
      </p:sp>
      <p:sp>
        <p:nvSpPr>
          <p:cNvPr id="7" name="A1f_t1"/>
          <p:cNvSpPr txBox="1"/>
          <p:nvPr/>
        </p:nvSpPr>
        <p:spPr>
          <a:xfrm>
            <a:off x="594360" y="1655064"/>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CSS3   </a:t>
            </a:r>
            <a:r>
              <a:rPr lang="en-US" sz="1050" dirty="0">
                <a:solidFill>
                  <a:srgbClr val="3D2925"/>
                </a:solidFill>
                <a:latin typeface="Calibri" pitchFamily="34" charset="0"/>
                <a:ea typeface="Calibri" pitchFamily="34" charset="-122"/>
                <a:cs typeface="Calibri" pitchFamily="34" charset="-120"/>
              </a:rPr>
              <a:t>Variables, Grid/Flexbox, dark mode, animations</a:t>
            </a:r>
            <a:endParaRPr lang="en-US" sz="1250" dirty="0"/>
          </a:p>
        </p:txBody>
      </p:sp>
      <p:sp>
        <p:nvSpPr>
          <p:cNvPr id="8" name="A1f_r2"/>
          <p:cNvSpPr/>
          <p:nvPr/>
        </p:nvSpPr>
        <p:spPr>
          <a:xfrm>
            <a:off x="457200" y="2075688"/>
            <a:ext cx="4297680" cy="365760"/>
          </a:xfrm>
          <a:prstGeom prst="roundRect">
            <a:avLst>
              <a:gd name="adj" fmla="val 20000"/>
            </a:avLst>
          </a:prstGeom>
          <a:solidFill>
            <a:srgbClr val="FCF1E7"/>
          </a:solidFill>
          <a:ln w="6350">
            <a:solidFill>
              <a:srgbClr val="F2C4B5"/>
            </a:solidFill>
            <a:prstDash val="solid"/>
          </a:ln>
        </p:spPr>
        <p:txBody>
          <a:bodyPr/>
          <a:lstStyle/>
          <a:p>
            <a:endParaRPr lang="en-US"/>
          </a:p>
        </p:txBody>
      </p:sp>
      <p:sp>
        <p:nvSpPr>
          <p:cNvPr id="9" name="A1f_t2"/>
          <p:cNvSpPr txBox="1"/>
          <p:nvPr/>
        </p:nvSpPr>
        <p:spPr>
          <a:xfrm>
            <a:off x="594360" y="2075688"/>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Bootstrap 5.3.3   </a:t>
            </a:r>
            <a:r>
              <a:rPr lang="en-US" sz="1050" dirty="0">
                <a:solidFill>
                  <a:srgbClr val="3D2925"/>
                </a:solidFill>
                <a:latin typeface="Calibri" pitchFamily="34" charset="0"/>
                <a:ea typeface="Calibri" pitchFamily="34" charset="-122"/>
                <a:cs typeface="Calibri" pitchFamily="34" charset="-120"/>
              </a:rPr>
              <a:t>Responsive grid and utilities</a:t>
            </a:r>
            <a:endParaRPr lang="en-US" sz="1250" dirty="0"/>
          </a:p>
        </p:txBody>
      </p:sp>
      <p:sp>
        <p:nvSpPr>
          <p:cNvPr id="10" name="A1f_r3"/>
          <p:cNvSpPr/>
          <p:nvPr/>
        </p:nvSpPr>
        <p:spPr>
          <a:xfrm>
            <a:off x="457200" y="2496312"/>
            <a:ext cx="4297680" cy="365760"/>
          </a:xfrm>
          <a:prstGeom prst="roundRect">
            <a:avLst>
              <a:gd name="adj" fmla="val 20000"/>
            </a:avLst>
          </a:prstGeom>
          <a:solidFill>
            <a:srgbClr val="FFFFFF"/>
          </a:solidFill>
          <a:ln w="6350">
            <a:solidFill>
              <a:srgbClr val="F2C4B5"/>
            </a:solidFill>
            <a:prstDash val="solid"/>
          </a:ln>
        </p:spPr>
        <p:txBody>
          <a:bodyPr/>
          <a:lstStyle/>
          <a:p>
            <a:endParaRPr lang="en-US"/>
          </a:p>
        </p:txBody>
      </p:sp>
      <p:sp>
        <p:nvSpPr>
          <p:cNvPr id="11" name="A1f_t3"/>
          <p:cNvSpPr txBox="1"/>
          <p:nvPr/>
        </p:nvSpPr>
        <p:spPr>
          <a:xfrm>
            <a:off x="594360" y="2496312"/>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JavaScript (vanilla)   </a:t>
            </a:r>
            <a:r>
              <a:rPr lang="en-US" sz="1050" dirty="0">
                <a:solidFill>
                  <a:srgbClr val="3D2925"/>
                </a:solidFill>
                <a:latin typeface="Calibri" pitchFamily="34" charset="0"/>
                <a:ea typeface="Calibri" pitchFamily="34" charset="-122"/>
                <a:cs typeface="Calibri" pitchFamily="34" charset="-120"/>
              </a:rPr>
              <a:t>Rendering, cart, offers, filters, checkout</a:t>
            </a:r>
            <a:endParaRPr lang="en-US" sz="1250" dirty="0"/>
          </a:p>
        </p:txBody>
      </p:sp>
      <p:sp>
        <p:nvSpPr>
          <p:cNvPr id="12" name="A1f_r4"/>
          <p:cNvSpPr/>
          <p:nvPr/>
        </p:nvSpPr>
        <p:spPr>
          <a:xfrm>
            <a:off x="457200" y="2916936"/>
            <a:ext cx="4297680" cy="365760"/>
          </a:xfrm>
          <a:prstGeom prst="roundRect">
            <a:avLst>
              <a:gd name="adj" fmla="val 20000"/>
            </a:avLst>
          </a:prstGeom>
          <a:solidFill>
            <a:srgbClr val="FCF1E7"/>
          </a:solidFill>
          <a:ln w="6350">
            <a:solidFill>
              <a:srgbClr val="F2C4B5"/>
            </a:solidFill>
            <a:prstDash val="solid"/>
          </a:ln>
        </p:spPr>
        <p:txBody>
          <a:bodyPr/>
          <a:lstStyle/>
          <a:p>
            <a:endParaRPr lang="en-US"/>
          </a:p>
        </p:txBody>
      </p:sp>
      <p:sp>
        <p:nvSpPr>
          <p:cNvPr id="13" name="A1f_t4"/>
          <p:cNvSpPr txBox="1"/>
          <p:nvPr/>
        </p:nvSpPr>
        <p:spPr>
          <a:xfrm>
            <a:off x="594360" y="2916936"/>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jQuery 3.7.1   </a:t>
            </a:r>
            <a:r>
              <a:rPr lang="en-US" sz="1050" dirty="0">
                <a:solidFill>
                  <a:srgbClr val="3D2925"/>
                </a:solidFill>
                <a:latin typeface="Calibri" pitchFamily="34" charset="0"/>
                <a:ea typeface="Calibri" pitchFamily="34" charset="-122"/>
                <a:cs typeface="Calibri" pitchFamily="34" charset="-120"/>
              </a:rPr>
              <a:t>Animated back-to-top button</a:t>
            </a:r>
            <a:endParaRPr lang="en-US" sz="1250" dirty="0"/>
          </a:p>
        </p:txBody>
      </p:sp>
      <p:sp>
        <p:nvSpPr>
          <p:cNvPr id="14" name="A1f_r5"/>
          <p:cNvSpPr/>
          <p:nvPr/>
        </p:nvSpPr>
        <p:spPr>
          <a:xfrm>
            <a:off x="457200" y="3337560"/>
            <a:ext cx="4297680" cy="365760"/>
          </a:xfrm>
          <a:prstGeom prst="roundRect">
            <a:avLst>
              <a:gd name="adj" fmla="val 20000"/>
            </a:avLst>
          </a:prstGeom>
          <a:solidFill>
            <a:srgbClr val="FFFFFF"/>
          </a:solidFill>
          <a:ln w="6350">
            <a:solidFill>
              <a:srgbClr val="F2C4B5"/>
            </a:solidFill>
            <a:prstDash val="solid"/>
          </a:ln>
        </p:spPr>
        <p:txBody>
          <a:bodyPr/>
          <a:lstStyle/>
          <a:p>
            <a:endParaRPr lang="en-US"/>
          </a:p>
        </p:txBody>
      </p:sp>
      <p:sp>
        <p:nvSpPr>
          <p:cNvPr id="15" name="A1f_t5"/>
          <p:cNvSpPr txBox="1"/>
          <p:nvPr/>
        </p:nvSpPr>
        <p:spPr>
          <a:xfrm>
            <a:off x="594360" y="3337560"/>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Google Fonts   </a:t>
            </a:r>
            <a:r>
              <a:rPr lang="en-US" sz="1050" dirty="0">
                <a:solidFill>
                  <a:srgbClr val="3D2925"/>
                </a:solidFill>
                <a:latin typeface="Calibri" pitchFamily="34" charset="0"/>
                <a:ea typeface="Calibri" pitchFamily="34" charset="-122"/>
                <a:cs typeface="Calibri" pitchFamily="34" charset="-120"/>
              </a:rPr>
              <a:t>Fraunces (headings) and Nunito (body)</a:t>
            </a:r>
            <a:endParaRPr lang="en-US" sz="1250" dirty="0"/>
          </a:p>
        </p:txBody>
      </p:sp>
      <p:sp>
        <p:nvSpPr>
          <p:cNvPr id="16" name="A1f_r6"/>
          <p:cNvSpPr/>
          <p:nvPr/>
        </p:nvSpPr>
        <p:spPr>
          <a:xfrm>
            <a:off x="457200" y="3758184"/>
            <a:ext cx="4297680" cy="365760"/>
          </a:xfrm>
          <a:prstGeom prst="roundRect">
            <a:avLst>
              <a:gd name="adj" fmla="val 20000"/>
            </a:avLst>
          </a:prstGeom>
          <a:solidFill>
            <a:srgbClr val="FCF1E7"/>
          </a:solidFill>
          <a:ln w="6350">
            <a:solidFill>
              <a:srgbClr val="F2C4B5"/>
            </a:solidFill>
            <a:prstDash val="solid"/>
          </a:ln>
        </p:spPr>
        <p:txBody>
          <a:bodyPr/>
          <a:lstStyle/>
          <a:p>
            <a:endParaRPr lang="en-US"/>
          </a:p>
        </p:txBody>
      </p:sp>
      <p:sp>
        <p:nvSpPr>
          <p:cNvPr id="17" name="A1f_t6"/>
          <p:cNvSpPr txBox="1"/>
          <p:nvPr/>
        </p:nvSpPr>
        <p:spPr>
          <a:xfrm>
            <a:off x="594360" y="3758184"/>
            <a:ext cx="4114800" cy="365760"/>
          </a:xfrm>
          <a:prstGeom prst="rect">
            <a:avLst/>
          </a:prstGeom>
          <a:noFill/>
          <a:ln/>
        </p:spPr>
        <p:txBody>
          <a:bodyPr wrap="square" lIns="0" tIns="0" rIns="0" bIns="0" rtlCol="0" anchor="ctr"/>
          <a:lstStyle/>
          <a:p>
            <a:pPr marL="0" indent="0">
              <a:buNone/>
            </a:pPr>
            <a:r>
              <a:rPr lang="en-US" sz="1250" b="1" dirty="0">
                <a:solidFill>
                  <a:srgbClr val="765044"/>
                </a:solidFill>
                <a:latin typeface="Calibri" pitchFamily="34" charset="0"/>
                <a:ea typeface="Calibri" pitchFamily="34" charset="-122"/>
                <a:cs typeface="Calibri" pitchFamily="34" charset="-120"/>
              </a:rPr>
              <a:t>JSON · XML · Web Storage   </a:t>
            </a:r>
            <a:r>
              <a:rPr lang="en-US" sz="1050" dirty="0">
                <a:solidFill>
                  <a:srgbClr val="3D2925"/>
                </a:solidFill>
                <a:latin typeface="Calibri" pitchFamily="34" charset="0"/>
                <a:ea typeface="Calibri" pitchFamily="34" charset="-122"/>
                <a:cs typeface="Calibri" pitchFamily="34" charset="-120"/>
              </a:rPr>
              <a:t>Data files, XML catalogue, localStorage</a:t>
            </a:r>
            <a:endParaRPr lang="en-US" sz="1250" dirty="0"/>
          </a:p>
        </p:txBody>
      </p:sp>
      <p:sp>
        <p:nvSpPr>
          <p:cNvPr id="18" name="A2f_b1"/>
          <p:cNvSpPr/>
          <p:nvPr/>
        </p:nvSpPr>
        <p:spPr>
          <a:xfrm>
            <a:off x="5212080" y="1234440"/>
            <a:ext cx="3474720" cy="502920"/>
          </a:xfrm>
          <a:prstGeom prst="roundRect">
            <a:avLst>
              <a:gd name="adj" fmla="val 14545"/>
            </a:avLst>
          </a:prstGeom>
          <a:solidFill>
            <a:srgbClr val="765044"/>
          </a:solidFill>
          <a:ln w="9525">
            <a:solidFill>
              <a:srgbClr val="F2C4B5"/>
            </a:solidFill>
            <a:prstDash val="solid"/>
          </a:ln>
        </p:spPr>
        <p:txBody>
          <a:bodyPr/>
          <a:lstStyle/>
          <a:p>
            <a:endParaRPr lang="en-US"/>
          </a:p>
        </p:txBody>
      </p:sp>
      <p:sp>
        <p:nvSpPr>
          <p:cNvPr id="19" name="A2f_b1t"/>
          <p:cNvSpPr txBox="1"/>
          <p:nvPr/>
        </p:nvSpPr>
        <p:spPr>
          <a:xfrm>
            <a:off x="5212080" y="1234440"/>
            <a:ext cx="3474720" cy="50292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Browser</a:t>
            </a:r>
            <a:endParaRPr lang="en-US" sz="1200" dirty="0"/>
          </a:p>
          <a:p>
            <a:pPr marL="0" indent="0" algn="ctr">
              <a:buNone/>
            </a:pPr>
            <a:r>
              <a:rPr lang="en-US" sz="1000" dirty="0">
                <a:solidFill>
                  <a:srgbClr val="FFFFFF"/>
                </a:solidFill>
                <a:latin typeface="Calibri" pitchFamily="34" charset="0"/>
                <a:ea typeface="Calibri" pitchFamily="34" charset="-122"/>
                <a:cs typeface="Calibri" pitchFamily="34" charset="-120"/>
              </a:rPr>
              <a:t>Client-side multi-page app</a:t>
            </a:r>
            <a:endParaRPr lang="en-US" sz="1200" dirty="0"/>
          </a:p>
        </p:txBody>
      </p:sp>
      <p:sp>
        <p:nvSpPr>
          <p:cNvPr id="20" name="A3f_b2"/>
          <p:cNvSpPr/>
          <p:nvPr/>
        </p:nvSpPr>
        <p:spPr>
          <a:xfrm>
            <a:off x="5212080" y="1965960"/>
            <a:ext cx="3474720" cy="502920"/>
          </a:xfrm>
          <a:prstGeom prst="roundRect">
            <a:avLst>
              <a:gd name="adj" fmla="val 14545"/>
            </a:avLst>
          </a:prstGeom>
          <a:solidFill>
            <a:srgbClr val="F2C4B5"/>
          </a:solidFill>
          <a:ln w="9525">
            <a:solidFill>
              <a:srgbClr val="F2C4B5"/>
            </a:solidFill>
            <a:prstDash val="solid"/>
          </a:ln>
        </p:spPr>
        <p:txBody>
          <a:bodyPr/>
          <a:lstStyle/>
          <a:p>
            <a:endParaRPr lang="en-US"/>
          </a:p>
        </p:txBody>
      </p:sp>
      <p:sp>
        <p:nvSpPr>
          <p:cNvPr id="21" name="A3f_b2t"/>
          <p:cNvSpPr txBox="1"/>
          <p:nvPr/>
        </p:nvSpPr>
        <p:spPr>
          <a:xfrm>
            <a:off x="5212080" y="1965960"/>
            <a:ext cx="3474720" cy="50292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HTML pages (26)</a:t>
            </a:r>
            <a:endParaRPr lang="en-US" sz="1200" dirty="0"/>
          </a:p>
          <a:p>
            <a:pPr marL="0" indent="0" algn="ctr">
              <a:buNone/>
            </a:pPr>
            <a:r>
              <a:rPr lang="en-US" sz="1000" dirty="0">
                <a:solidFill>
                  <a:srgbClr val="3D2925"/>
                </a:solidFill>
                <a:latin typeface="Calibri" pitchFamily="34" charset="0"/>
                <a:ea typeface="Calibri" pitchFamily="34" charset="-122"/>
                <a:cs typeface="Calibri" pitchFamily="34" charset="-120"/>
              </a:rPr>
              <a:t>index.html + /html</a:t>
            </a:r>
            <a:endParaRPr lang="en-US" sz="1200" dirty="0"/>
          </a:p>
        </p:txBody>
      </p:sp>
      <p:sp>
        <p:nvSpPr>
          <p:cNvPr id="22" name="A4f_b3"/>
          <p:cNvSpPr/>
          <p:nvPr/>
        </p:nvSpPr>
        <p:spPr>
          <a:xfrm>
            <a:off x="5212080" y="2697480"/>
            <a:ext cx="3474720" cy="502920"/>
          </a:xfrm>
          <a:prstGeom prst="roundRect">
            <a:avLst>
              <a:gd name="adj" fmla="val 14545"/>
            </a:avLst>
          </a:prstGeom>
          <a:solidFill>
            <a:srgbClr val="F2C4B5"/>
          </a:solidFill>
          <a:ln w="9525">
            <a:solidFill>
              <a:srgbClr val="F2C4B5"/>
            </a:solidFill>
            <a:prstDash val="solid"/>
          </a:ln>
        </p:spPr>
        <p:txBody>
          <a:bodyPr/>
          <a:lstStyle/>
          <a:p>
            <a:endParaRPr lang="en-US"/>
          </a:p>
        </p:txBody>
      </p:sp>
      <p:sp>
        <p:nvSpPr>
          <p:cNvPr id="23" name="A4f_b3t"/>
          <p:cNvSpPr txBox="1"/>
          <p:nvPr/>
        </p:nvSpPr>
        <p:spPr>
          <a:xfrm>
            <a:off x="5212080" y="2697480"/>
            <a:ext cx="3474720" cy="50292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CSS + Bootstrap  ·  script.js / premium.js</a:t>
            </a:r>
            <a:endParaRPr lang="en-US" sz="1200" dirty="0"/>
          </a:p>
          <a:p>
            <a:pPr marL="0" indent="0" algn="ctr">
              <a:buNone/>
            </a:pPr>
            <a:r>
              <a:rPr lang="en-US" sz="1000" dirty="0">
                <a:solidFill>
                  <a:srgbClr val="3D2925"/>
                </a:solidFill>
                <a:latin typeface="Calibri" pitchFamily="34" charset="0"/>
                <a:ea typeface="Calibri" pitchFamily="34" charset="-122"/>
                <a:cs typeface="Calibri" pitchFamily="34" charset="-120"/>
              </a:rPr>
              <a:t>Presentation and behaviour</a:t>
            </a:r>
            <a:endParaRPr lang="en-US" sz="1200" dirty="0"/>
          </a:p>
        </p:txBody>
      </p:sp>
      <p:sp>
        <p:nvSpPr>
          <p:cNvPr id="24" name="A5f_b4"/>
          <p:cNvSpPr/>
          <p:nvPr/>
        </p:nvSpPr>
        <p:spPr>
          <a:xfrm>
            <a:off x="5212080" y="3429000"/>
            <a:ext cx="3474720" cy="502920"/>
          </a:xfrm>
          <a:prstGeom prst="roundRect">
            <a:avLst>
              <a:gd name="adj" fmla="val 14545"/>
            </a:avLst>
          </a:prstGeom>
          <a:solidFill>
            <a:srgbClr val="FCF1E7"/>
          </a:solidFill>
          <a:ln w="9525">
            <a:solidFill>
              <a:srgbClr val="F2C4B5"/>
            </a:solidFill>
            <a:prstDash val="solid"/>
          </a:ln>
        </p:spPr>
        <p:txBody>
          <a:bodyPr/>
          <a:lstStyle/>
          <a:p>
            <a:endParaRPr lang="en-US"/>
          </a:p>
        </p:txBody>
      </p:sp>
      <p:sp>
        <p:nvSpPr>
          <p:cNvPr id="25" name="A5f_b4t"/>
          <p:cNvSpPr txBox="1"/>
          <p:nvPr/>
        </p:nvSpPr>
        <p:spPr>
          <a:xfrm>
            <a:off x="5212080" y="3429000"/>
            <a:ext cx="3474720" cy="502920"/>
          </a:xfrm>
          <a:prstGeom prst="rect">
            <a:avLst/>
          </a:prstGeom>
          <a:noFill/>
          <a:ln/>
        </p:spPr>
        <p:txBody>
          <a:bodyPr wrap="square" lIns="0" tIns="0" rIns="0" bIns="0" rtlCol="0" anchor="ctr"/>
          <a:lstStyle/>
          <a:p>
            <a:pPr marL="0" indent="0" algn="ctr">
              <a:buNone/>
            </a:pPr>
            <a:r>
              <a:rPr lang="en-US" sz="1200" b="1" dirty="0">
                <a:solidFill>
                  <a:srgbClr val="3D2925"/>
                </a:solidFill>
                <a:latin typeface="Calibri" pitchFamily="34" charset="0"/>
                <a:ea typeface="Calibri" pitchFamily="34" charset="-122"/>
                <a:cs typeface="Calibri" pitchFamily="34" charset="-120"/>
              </a:rPr>
              <a:t>Data files + localStorage</a:t>
            </a:r>
            <a:endParaRPr lang="en-US" sz="1200" dirty="0"/>
          </a:p>
          <a:p>
            <a:pPr marL="0" indent="0" algn="ctr">
              <a:buNone/>
            </a:pPr>
            <a:r>
              <a:rPr lang="en-US" sz="1000" dirty="0">
                <a:solidFill>
                  <a:srgbClr val="3D2925"/>
                </a:solidFill>
                <a:latin typeface="Calibri" pitchFamily="34" charset="0"/>
                <a:ea typeface="Calibri" pitchFamily="34" charset="-122"/>
                <a:cs typeface="Calibri" pitchFamily="34" charset="-120"/>
              </a:rPr>
              <a:t>data.js · JSON · XML · Web Storage</a:t>
            </a:r>
            <a:endParaRPr lang="en-US" sz="1200" dirty="0"/>
          </a:p>
        </p:txBody>
      </p:sp>
      <p:sp>
        <p:nvSpPr>
          <p:cNvPr id="26" name="A3f_ar0"/>
          <p:cNvSpPr/>
          <p:nvPr/>
        </p:nvSpPr>
        <p:spPr>
          <a:xfrm>
            <a:off x="6949440" y="1737360"/>
            <a:ext cx="0" cy="228600"/>
          </a:xfrm>
          <a:prstGeom prst="line">
            <a:avLst/>
          </a:prstGeom>
          <a:noFill/>
          <a:ln w="19050">
            <a:solidFill>
              <a:srgbClr val="D99587"/>
            </a:solidFill>
            <a:prstDash val="solid"/>
            <a:tailEnd type="triangle"/>
          </a:ln>
        </p:spPr>
        <p:txBody>
          <a:bodyPr/>
          <a:lstStyle/>
          <a:p>
            <a:endParaRPr lang="en-US"/>
          </a:p>
        </p:txBody>
      </p:sp>
      <p:sp>
        <p:nvSpPr>
          <p:cNvPr id="27" name="A4f_ar1"/>
          <p:cNvSpPr/>
          <p:nvPr/>
        </p:nvSpPr>
        <p:spPr>
          <a:xfrm>
            <a:off x="6949440" y="2468880"/>
            <a:ext cx="0" cy="228600"/>
          </a:xfrm>
          <a:prstGeom prst="line">
            <a:avLst/>
          </a:prstGeom>
          <a:noFill/>
          <a:ln w="19050">
            <a:solidFill>
              <a:srgbClr val="D99587"/>
            </a:solidFill>
            <a:prstDash val="solid"/>
            <a:tailEnd type="triangle"/>
          </a:ln>
        </p:spPr>
        <p:txBody>
          <a:bodyPr/>
          <a:lstStyle/>
          <a:p>
            <a:endParaRPr lang="en-US"/>
          </a:p>
        </p:txBody>
      </p:sp>
      <p:sp>
        <p:nvSpPr>
          <p:cNvPr id="28" name="A5f_ar2"/>
          <p:cNvSpPr/>
          <p:nvPr/>
        </p:nvSpPr>
        <p:spPr>
          <a:xfrm>
            <a:off x="6949440" y="3200400"/>
            <a:ext cx="0" cy="228600"/>
          </a:xfrm>
          <a:prstGeom prst="line">
            <a:avLst/>
          </a:prstGeom>
          <a:noFill/>
          <a:ln w="19050">
            <a:solidFill>
              <a:srgbClr val="D99587"/>
            </a:solidFill>
            <a:prstDash val="solid"/>
            <a:tailEnd type="triangle"/>
          </a:ln>
        </p:spPr>
        <p:txBody>
          <a:bodyPr/>
          <a:lstStyle/>
          <a:p>
            <a:endParaRPr lang="en-US"/>
          </a:p>
        </p:txBody>
      </p:sp>
      <p:sp>
        <p:nvSpPr>
          <p:cNvPr id="29" name="A5f_o"/>
          <p:cNvSpPr txBox="1"/>
          <p:nvPr/>
        </p:nvSpPr>
        <p:spPr>
          <a:xfrm>
            <a:off x="5212080" y="4005072"/>
            <a:ext cx="3474720" cy="228600"/>
          </a:xfrm>
          <a:prstGeom prst="rect">
            <a:avLst/>
          </a:prstGeom>
          <a:noFill/>
          <a:ln/>
        </p:spPr>
        <p:txBody>
          <a:bodyPr wrap="square" lIns="0" tIns="0" rIns="0" bIns="0" rtlCol="0" anchor="t"/>
          <a:lstStyle/>
          <a:p>
            <a:pPr marL="0" indent="0" algn="ctr">
              <a:buNone/>
            </a:pPr>
            <a:r>
              <a:rPr lang="en-US" sz="1000" i="1" dirty="0">
                <a:solidFill>
                  <a:srgbClr val="765044"/>
                </a:solidFill>
                <a:latin typeface="Calibri" pitchFamily="34" charset="0"/>
                <a:ea typeface="Calibri" pitchFamily="34" charset="-122"/>
                <a:cs typeface="Calibri" pitchFamily="34" charset="-120"/>
              </a:rPr>
              <a:t>Optional enhancement layer: jQuery · XML parser</a:t>
            </a:r>
            <a:endParaRPr lang="en-US" sz="1000" dirty="0"/>
          </a:p>
        </p:txBody>
      </p:sp>
      <p:sp>
        <p:nvSpPr>
          <p:cNvPr id="30" name="A6f_n"/>
          <p:cNvSpPr/>
          <p:nvPr/>
        </p:nvSpPr>
        <p:spPr>
          <a:xfrm>
            <a:off x="457200" y="4315968"/>
            <a:ext cx="8229600" cy="347472"/>
          </a:xfrm>
          <a:prstGeom prst="roundRect">
            <a:avLst>
              <a:gd name="adj" fmla="val 50000"/>
            </a:avLst>
          </a:prstGeom>
          <a:solidFill>
            <a:srgbClr val="3D2925"/>
          </a:solidFill>
          <a:ln w="12700">
            <a:solidFill>
              <a:srgbClr val="3D2925"/>
            </a:solidFill>
            <a:prstDash val="solid"/>
          </a:ln>
        </p:spPr>
        <p:txBody>
          <a:bodyPr/>
          <a:lstStyle/>
          <a:p>
            <a:endParaRPr lang="en-US"/>
          </a:p>
        </p:txBody>
      </p:sp>
      <p:sp>
        <p:nvSpPr>
          <p:cNvPr id="31" name="A6f_nt"/>
          <p:cNvSpPr txBox="1"/>
          <p:nvPr/>
        </p:nvSpPr>
        <p:spPr>
          <a:xfrm>
            <a:off x="457200" y="4315968"/>
            <a:ext cx="822960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Front-end only — no backend, database, login or real payment gateway</a:t>
            </a:r>
            <a:endParaRPr lang="en-US" sz="1200" dirty="0"/>
          </a:p>
        </p:txBody>
      </p:sp>
      <p:sp>
        <p:nvSpPr>
          <p:cNvPr id="32"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par>
                                <p:cTn id="23" presetID="10" presetClass="entr" presetSubtype="0" fill="hold" nodeType="with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fade">
                                      <p:cBhvr>
                                        <p:cTn id="25" dur="600"/>
                                        <p:tgtEl>
                                          <p:spTgt spid="10"/>
                                        </p:tgtEl>
                                      </p:cBhvr>
                                    </p:animEffect>
                                  </p:childTnLst>
                                </p:cTn>
                              </p:par>
                              <p:par>
                                <p:cTn id="26" presetID="10" presetClass="entr" presetSubtype="0" fill="hold" nodeType="with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600"/>
                                        <p:tgtEl>
                                          <p:spTgt spid="11"/>
                                        </p:tgtEl>
                                      </p:cBhvr>
                                    </p:animEffect>
                                  </p:childTnLst>
                                </p:cTn>
                              </p:par>
                              <p:par>
                                <p:cTn id="29" presetID="10" presetClass="entr" presetSubtype="0" fill="hold"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600"/>
                                        <p:tgtEl>
                                          <p:spTgt spid="12"/>
                                        </p:tgtEl>
                                      </p:cBhvr>
                                    </p:animEffect>
                                  </p:childTnLst>
                                </p:cTn>
                              </p:par>
                              <p:par>
                                <p:cTn id="32" presetID="10" presetClass="entr" presetSubtype="0" fill="hold" nodeType="with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60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600"/>
                                        <p:tgtEl>
                                          <p:spTgt spid="14"/>
                                        </p:tgtEl>
                                      </p:cBhvr>
                                    </p:animEffect>
                                  </p:childTnLst>
                                </p:cTn>
                              </p:par>
                              <p:par>
                                <p:cTn id="38" presetID="10" presetClass="entr" presetSubtype="0" fill="hold"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600"/>
                                        <p:tgtEl>
                                          <p:spTgt spid="15"/>
                                        </p:tgtEl>
                                      </p:cBhvr>
                                    </p:animEffect>
                                  </p:childTnLst>
                                </p:cTn>
                              </p:par>
                              <p:par>
                                <p:cTn id="41" presetID="10" presetClass="entr" presetSubtype="0" fill="hold"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600"/>
                                        <p:tgtEl>
                                          <p:spTgt spid="16"/>
                                        </p:tgtEl>
                                      </p:cBhvr>
                                    </p:animEffect>
                                  </p:childTnLst>
                                </p:cTn>
                              </p:par>
                              <p:par>
                                <p:cTn id="44" presetID="10" presetClass="entr" presetSubtype="0" fill="hold"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6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10" presetClass="entr" presetSubtype="0" fill="hold" nodeType="clickEffect">
                                  <p:stCondLst>
                                    <p:cond delay="0"/>
                                  </p:stCondLst>
                                  <p:childTnLst>
                                    <p:set>
                                      <p:cBhvr>
                                        <p:cTn id="50" dur="1" fill="hold">
                                          <p:stCondLst>
                                            <p:cond delay="0"/>
                                          </p:stCondLst>
                                        </p:cTn>
                                        <p:tgtEl>
                                          <p:spTgt spid="18"/>
                                        </p:tgtEl>
                                        <p:attrNameLst>
                                          <p:attrName>style.visibility</p:attrName>
                                        </p:attrNameLst>
                                      </p:cBhvr>
                                      <p:to>
                                        <p:strVal val="visible"/>
                                      </p:to>
                                    </p:set>
                                    <p:animEffect transition="in" filter="fade">
                                      <p:cBhvr>
                                        <p:cTn id="51" dur="600"/>
                                        <p:tgtEl>
                                          <p:spTgt spid="18"/>
                                        </p:tgtEl>
                                      </p:cBhvr>
                                    </p:animEffect>
                                  </p:childTnLst>
                                </p:cTn>
                              </p:par>
                              <p:par>
                                <p:cTn id="52" presetID="10" presetClass="entr" presetSubtype="0" fill="hold" nodeType="withEffect">
                                  <p:stCondLst>
                                    <p:cond delay="0"/>
                                  </p:stCondLst>
                                  <p:childTnLst>
                                    <p:set>
                                      <p:cBhvr>
                                        <p:cTn id="53" dur="1" fill="hold">
                                          <p:stCondLst>
                                            <p:cond delay="0"/>
                                          </p:stCondLst>
                                        </p:cTn>
                                        <p:tgtEl>
                                          <p:spTgt spid="19"/>
                                        </p:tgtEl>
                                        <p:attrNameLst>
                                          <p:attrName>style.visibility</p:attrName>
                                        </p:attrNameLst>
                                      </p:cBhvr>
                                      <p:to>
                                        <p:strVal val="visible"/>
                                      </p:to>
                                    </p:set>
                                    <p:animEffect transition="in" filter="fade">
                                      <p:cBhvr>
                                        <p:cTn id="54" dur="600"/>
                                        <p:tgtEl>
                                          <p:spTgt spid="19"/>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nodeType="clickEffect">
                                  <p:stCondLst>
                                    <p:cond delay="0"/>
                                  </p:stCondLst>
                                  <p:childTnLst>
                                    <p:set>
                                      <p:cBhvr>
                                        <p:cTn id="58" dur="1" fill="hold">
                                          <p:stCondLst>
                                            <p:cond delay="0"/>
                                          </p:stCondLst>
                                        </p:cTn>
                                        <p:tgtEl>
                                          <p:spTgt spid="20"/>
                                        </p:tgtEl>
                                        <p:attrNameLst>
                                          <p:attrName>style.visibility</p:attrName>
                                        </p:attrNameLst>
                                      </p:cBhvr>
                                      <p:to>
                                        <p:strVal val="visible"/>
                                      </p:to>
                                    </p:set>
                                    <p:animEffect transition="in" filter="fade">
                                      <p:cBhvr>
                                        <p:cTn id="59" dur="600"/>
                                        <p:tgtEl>
                                          <p:spTgt spid="20"/>
                                        </p:tgtEl>
                                      </p:cBhvr>
                                    </p:animEffect>
                                  </p:childTnLst>
                                </p:cTn>
                              </p:par>
                              <p:par>
                                <p:cTn id="60" presetID="10" presetClass="entr" presetSubtype="0" fill="hold" nodeType="withEffect">
                                  <p:stCondLst>
                                    <p:cond delay="0"/>
                                  </p:stCondLst>
                                  <p:childTnLst>
                                    <p:set>
                                      <p:cBhvr>
                                        <p:cTn id="61" dur="1" fill="hold">
                                          <p:stCondLst>
                                            <p:cond delay="0"/>
                                          </p:stCondLst>
                                        </p:cTn>
                                        <p:tgtEl>
                                          <p:spTgt spid="21"/>
                                        </p:tgtEl>
                                        <p:attrNameLst>
                                          <p:attrName>style.visibility</p:attrName>
                                        </p:attrNameLst>
                                      </p:cBhvr>
                                      <p:to>
                                        <p:strVal val="visible"/>
                                      </p:to>
                                    </p:set>
                                    <p:animEffect transition="in" filter="fade">
                                      <p:cBhvr>
                                        <p:cTn id="62" dur="600"/>
                                        <p:tgtEl>
                                          <p:spTgt spid="21"/>
                                        </p:tgtEl>
                                      </p:cBhvr>
                                    </p:animEffect>
                                  </p:childTnLst>
                                </p:cTn>
                              </p:par>
                              <p:par>
                                <p:cTn id="63" presetID="10" presetClass="entr" presetSubtype="0" fill="hold" nodeType="withEffect">
                                  <p:stCondLst>
                                    <p:cond delay="0"/>
                                  </p:stCondLst>
                                  <p:childTnLst>
                                    <p:set>
                                      <p:cBhvr>
                                        <p:cTn id="64" dur="1" fill="hold">
                                          <p:stCondLst>
                                            <p:cond delay="0"/>
                                          </p:stCondLst>
                                        </p:cTn>
                                        <p:tgtEl>
                                          <p:spTgt spid="26"/>
                                        </p:tgtEl>
                                        <p:attrNameLst>
                                          <p:attrName>style.visibility</p:attrName>
                                        </p:attrNameLst>
                                      </p:cBhvr>
                                      <p:to>
                                        <p:strVal val="visible"/>
                                      </p:to>
                                    </p:set>
                                    <p:animEffect transition="in" filter="fade">
                                      <p:cBhvr>
                                        <p:cTn id="65" dur="600"/>
                                        <p:tgtEl>
                                          <p:spTgt spid="26"/>
                                        </p:tgtEl>
                                      </p:cBhvr>
                                    </p:animEffect>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22"/>
                                        </p:tgtEl>
                                        <p:attrNameLst>
                                          <p:attrName>style.visibility</p:attrName>
                                        </p:attrNameLst>
                                      </p:cBhvr>
                                      <p:to>
                                        <p:strVal val="visible"/>
                                      </p:to>
                                    </p:set>
                                    <p:animEffect transition="in" filter="fade">
                                      <p:cBhvr>
                                        <p:cTn id="70" dur="600"/>
                                        <p:tgtEl>
                                          <p:spTgt spid="22"/>
                                        </p:tgtEl>
                                      </p:cBhvr>
                                    </p:animEffect>
                                  </p:childTnLst>
                                </p:cTn>
                              </p:par>
                              <p:par>
                                <p:cTn id="71" presetID="10" presetClass="entr" presetSubtype="0" fill="hold" nodeType="withEffect">
                                  <p:stCondLst>
                                    <p:cond delay="0"/>
                                  </p:stCondLst>
                                  <p:childTnLst>
                                    <p:set>
                                      <p:cBhvr>
                                        <p:cTn id="72" dur="1" fill="hold">
                                          <p:stCondLst>
                                            <p:cond delay="0"/>
                                          </p:stCondLst>
                                        </p:cTn>
                                        <p:tgtEl>
                                          <p:spTgt spid="23"/>
                                        </p:tgtEl>
                                        <p:attrNameLst>
                                          <p:attrName>style.visibility</p:attrName>
                                        </p:attrNameLst>
                                      </p:cBhvr>
                                      <p:to>
                                        <p:strVal val="visible"/>
                                      </p:to>
                                    </p:set>
                                    <p:animEffect transition="in" filter="fade">
                                      <p:cBhvr>
                                        <p:cTn id="73" dur="600"/>
                                        <p:tgtEl>
                                          <p:spTgt spid="23"/>
                                        </p:tgtEl>
                                      </p:cBhvr>
                                    </p:animEffect>
                                  </p:childTnLst>
                                </p:cTn>
                              </p:par>
                              <p:par>
                                <p:cTn id="74" presetID="10" presetClass="entr" presetSubtype="0" fill="hold" nodeType="withEffect">
                                  <p:stCondLst>
                                    <p:cond delay="0"/>
                                  </p:stCondLst>
                                  <p:childTnLst>
                                    <p:set>
                                      <p:cBhvr>
                                        <p:cTn id="75" dur="1" fill="hold">
                                          <p:stCondLst>
                                            <p:cond delay="0"/>
                                          </p:stCondLst>
                                        </p:cTn>
                                        <p:tgtEl>
                                          <p:spTgt spid="27"/>
                                        </p:tgtEl>
                                        <p:attrNameLst>
                                          <p:attrName>style.visibility</p:attrName>
                                        </p:attrNameLst>
                                      </p:cBhvr>
                                      <p:to>
                                        <p:strVal val="visible"/>
                                      </p:to>
                                    </p:set>
                                    <p:animEffect transition="in" filter="fade">
                                      <p:cBhvr>
                                        <p:cTn id="76" dur="600"/>
                                        <p:tgtEl>
                                          <p:spTgt spid="27"/>
                                        </p:tgtEl>
                                      </p:cBhvr>
                                    </p:animEffect>
                                  </p:childTnLst>
                                </p:cTn>
                              </p:par>
                            </p:childTnLst>
                          </p:cTn>
                        </p:par>
                      </p:childTnLst>
                    </p:cTn>
                  </p:par>
                  <p:par>
                    <p:cTn id="77" fill="hold">
                      <p:stCondLst>
                        <p:cond delay="indefinite"/>
                      </p:stCondLst>
                      <p:childTnLst>
                        <p:par>
                          <p:cTn id="78" fill="hold">
                            <p:stCondLst>
                              <p:cond delay="0"/>
                            </p:stCondLst>
                            <p:childTnLst>
                              <p:par>
                                <p:cTn id="79" presetID="10" presetClass="entr" presetSubtype="0" fill="hold" nodeType="clickEffect">
                                  <p:stCondLst>
                                    <p:cond delay="0"/>
                                  </p:stCondLst>
                                  <p:childTnLst>
                                    <p:set>
                                      <p:cBhvr>
                                        <p:cTn id="80" dur="1" fill="hold">
                                          <p:stCondLst>
                                            <p:cond delay="0"/>
                                          </p:stCondLst>
                                        </p:cTn>
                                        <p:tgtEl>
                                          <p:spTgt spid="24"/>
                                        </p:tgtEl>
                                        <p:attrNameLst>
                                          <p:attrName>style.visibility</p:attrName>
                                        </p:attrNameLst>
                                      </p:cBhvr>
                                      <p:to>
                                        <p:strVal val="visible"/>
                                      </p:to>
                                    </p:set>
                                    <p:animEffect transition="in" filter="fade">
                                      <p:cBhvr>
                                        <p:cTn id="81" dur="600"/>
                                        <p:tgtEl>
                                          <p:spTgt spid="24"/>
                                        </p:tgtEl>
                                      </p:cBhvr>
                                    </p:animEffect>
                                  </p:childTnLst>
                                </p:cTn>
                              </p:par>
                              <p:par>
                                <p:cTn id="82" presetID="10" presetClass="entr" presetSubtype="0" fill="hold" nodeType="withEffect">
                                  <p:stCondLst>
                                    <p:cond delay="0"/>
                                  </p:stCondLst>
                                  <p:childTnLst>
                                    <p:set>
                                      <p:cBhvr>
                                        <p:cTn id="83" dur="1" fill="hold">
                                          <p:stCondLst>
                                            <p:cond delay="0"/>
                                          </p:stCondLst>
                                        </p:cTn>
                                        <p:tgtEl>
                                          <p:spTgt spid="25"/>
                                        </p:tgtEl>
                                        <p:attrNameLst>
                                          <p:attrName>style.visibility</p:attrName>
                                        </p:attrNameLst>
                                      </p:cBhvr>
                                      <p:to>
                                        <p:strVal val="visible"/>
                                      </p:to>
                                    </p:set>
                                    <p:animEffect transition="in" filter="fade">
                                      <p:cBhvr>
                                        <p:cTn id="84" dur="600"/>
                                        <p:tgtEl>
                                          <p:spTgt spid="25"/>
                                        </p:tgtEl>
                                      </p:cBhvr>
                                    </p:animEffect>
                                  </p:childTnLst>
                                </p:cTn>
                              </p:par>
                              <p:par>
                                <p:cTn id="85" presetID="10" presetClass="entr" presetSubtype="0" fill="hold" nodeType="withEffect">
                                  <p:stCondLst>
                                    <p:cond delay="0"/>
                                  </p:stCondLst>
                                  <p:childTnLst>
                                    <p:set>
                                      <p:cBhvr>
                                        <p:cTn id="86" dur="1" fill="hold">
                                          <p:stCondLst>
                                            <p:cond delay="0"/>
                                          </p:stCondLst>
                                        </p:cTn>
                                        <p:tgtEl>
                                          <p:spTgt spid="28"/>
                                        </p:tgtEl>
                                        <p:attrNameLst>
                                          <p:attrName>style.visibility</p:attrName>
                                        </p:attrNameLst>
                                      </p:cBhvr>
                                      <p:to>
                                        <p:strVal val="visible"/>
                                      </p:to>
                                    </p:set>
                                    <p:animEffect transition="in" filter="fade">
                                      <p:cBhvr>
                                        <p:cTn id="87" dur="600"/>
                                        <p:tgtEl>
                                          <p:spTgt spid="28"/>
                                        </p:tgtEl>
                                      </p:cBhvr>
                                    </p:animEffect>
                                  </p:childTnLst>
                                </p:cTn>
                              </p:par>
                              <p:par>
                                <p:cTn id="88" presetID="10" presetClass="entr" presetSubtype="0" fill="hold" nodeType="withEffect">
                                  <p:stCondLst>
                                    <p:cond delay="0"/>
                                  </p:stCondLst>
                                  <p:childTnLst>
                                    <p:set>
                                      <p:cBhvr>
                                        <p:cTn id="89" dur="1" fill="hold">
                                          <p:stCondLst>
                                            <p:cond delay="0"/>
                                          </p:stCondLst>
                                        </p:cTn>
                                        <p:tgtEl>
                                          <p:spTgt spid="29"/>
                                        </p:tgtEl>
                                        <p:attrNameLst>
                                          <p:attrName>style.visibility</p:attrName>
                                        </p:attrNameLst>
                                      </p:cBhvr>
                                      <p:to>
                                        <p:strVal val="visible"/>
                                      </p:to>
                                    </p:set>
                                    <p:animEffect transition="in" filter="fade">
                                      <p:cBhvr>
                                        <p:cTn id="90" dur="600"/>
                                        <p:tgtEl>
                                          <p:spTgt spid="29"/>
                                        </p:tgtEl>
                                      </p:cBhvr>
                                    </p:animEffect>
                                  </p:childTnLst>
                                </p:cTn>
                              </p:par>
                            </p:childTnLst>
                          </p:cTn>
                        </p:par>
                      </p:childTnLst>
                    </p:cTn>
                  </p:par>
                  <p:par>
                    <p:cTn id="91" fill="hold">
                      <p:stCondLst>
                        <p:cond delay="indefinite"/>
                      </p:stCondLst>
                      <p:childTnLst>
                        <p:par>
                          <p:cTn id="92" fill="hold">
                            <p:stCondLst>
                              <p:cond delay="0"/>
                            </p:stCondLst>
                            <p:childTnLst>
                              <p:par>
                                <p:cTn id="93" presetID="10" presetClass="entr" presetSubtype="0" fill="hold" nodeType="clickEffect">
                                  <p:stCondLst>
                                    <p:cond delay="0"/>
                                  </p:stCondLst>
                                  <p:childTnLst>
                                    <p:set>
                                      <p:cBhvr>
                                        <p:cTn id="94" dur="1" fill="hold">
                                          <p:stCondLst>
                                            <p:cond delay="0"/>
                                          </p:stCondLst>
                                        </p:cTn>
                                        <p:tgtEl>
                                          <p:spTgt spid="30"/>
                                        </p:tgtEl>
                                        <p:attrNameLst>
                                          <p:attrName>style.visibility</p:attrName>
                                        </p:attrNameLst>
                                      </p:cBhvr>
                                      <p:to>
                                        <p:strVal val="visible"/>
                                      </p:to>
                                    </p:set>
                                    <p:animEffect transition="in" filter="fade">
                                      <p:cBhvr>
                                        <p:cTn id="95" dur="600"/>
                                        <p:tgtEl>
                                          <p:spTgt spid="30"/>
                                        </p:tgtEl>
                                      </p:cBhvr>
                                    </p:animEffect>
                                  </p:childTnLst>
                                </p:cTn>
                              </p:par>
                              <p:par>
                                <p:cTn id="96" presetID="10" presetClass="entr" presetSubtype="0" fill="hold" nodeType="withEffect">
                                  <p:stCondLst>
                                    <p:cond delay="0"/>
                                  </p:stCondLst>
                                  <p:childTnLst>
                                    <p:set>
                                      <p:cBhvr>
                                        <p:cTn id="97" dur="1" fill="hold">
                                          <p:stCondLst>
                                            <p:cond delay="0"/>
                                          </p:stCondLst>
                                        </p:cTn>
                                        <p:tgtEl>
                                          <p:spTgt spid="31"/>
                                        </p:tgtEl>
                                        <p:attrNameLst>
                                          <p:attrName>style.visibility</p:attrName>
                                        </p:attrNameLst>
                                      </p:cBhvr>
                                      <p:to>
                                        <p:strVal val="visible"/>
                                      </p:to>
                                    </p:set>
                                    <p:animEffect transition="in" filter="fade">
                                      <p:cBhvr>
                                        <p:cTn id="98" dur="6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txBox="1"/>
          <p:nvPr/>
        </p:nvSpPr>
        <p:spPr>
          <a:xfrm>
            <a:off x="457200" y="292608"/>
            <a:ext cx="5486400" cy="228600"/>
          </a:xfrm>
          <a:prstGeom prst="rect">
            <a:avLst/>
          </a:prstGeom>
          <a:noFill/>
          <a:ln/>
        </p:spPr>
        <p:txBody>
          <a:bodyPr wrap="square" lIns="0" tIns="0" rIns="0" bIns="0" rtlCol="0" anchor="t"/>
          <a:lstStyle/>
          <a:p>
            <a:pPr marL="0" indent="0">
              <a:buNone/>
            </a:pPr>
            <a:r>
              <a:rPr lang="en-US" sz="1100" b="1" kern="0" spc="400" dirty="0">
                <a:solidFill>
                  <a:srgbClr val="B06A59"/>
                </a:solidFill>
                <a:latin typeface="Calibri" pitchFamily="34" charset="0"/>
                <a:ea typeface="Calibri" pitchFamily="34" charset="-122"/>
                <a:cs typeface="Calibri" pitchFamily="34" charset="-120"/>
              </a:rPr>
              <a:t>CHALLENGES &amp; PROBLEM SOLVING</a:t>
            </a:r>
            <a:endParaRPr lang="en-US" sz="1100" dirty="0"/>
          </a:p>
        </p:txBody>
      </p:sp>
      <p:sp>
        <p:nvSpPr>
          <p:cNvPr id="3" name="Text 1"/>
          <p:cNvSpPr txBox="1"/>
          <p:nvPr/>
        </p:nvSpPr>
        <p:spPr>
          <a:xfrm>
            <a:off x="457200" y="530352"/>
            <a:ext cx="8229600" cy="548640"/>
          </a:xfrm>
          <a:prstGeom prst="rect">
            <a:avLst/>
          </a:prstGeom>
          <a:noFill/>
          <a:ln/>
        </p:spPr>
        <p:txBody>
          <a:bodyPr wrap="square" lIns="0" tIns="0" rIns="0" bIns="0" rtlCol="0" anchor="t"/>
          <a:lstStyle/>
          <a:p>
            <a:pPr marL="0" indent="0">
              <a:buNone/>
            </a:pPr>
            <a:r>
              <a:rPr lang="en-US" sz="3200" b="1" dirty="0">
                <a:solidFill>
                  <a:srgbClr val="765044"/>
                </a:solidFill>
                <a:latin typeface="Cambria" pitchFamily="34" charset="0"/>
                <a:ea typeface="Cambria" pitchFamily="34" charset="-122"/>
                <a:cs typeface="Cambria" pitchFamily="34" charset="-120"/>
              </a:rPr>
              <a:t>Challenges &amp; problem solving</a:t>
            </a:r>
            <a:endParaRPr lang="en-US" sz="3200" dirty="0"/>
          </a:p>
        </p:txBody>
      </p:sp>
      <p:sp>
        <p:nvSpPr>
          <p:cNvPr id="4" name="A1f_k0"/>
          <p:cNvSpPr/>
          <p:nvPr/>
        </p:nvSpPr>
        <p:spPr>
          <a:xfrm>
            <a:off x="457200" y="1280160"/>
            <a:ext cx="2651760" cy="3246120"/>
          </a:xfrm>
          <a:prstGeom prst="roundRect">
            <a:avLst>
              <a:gd name="adj" fmla="val 3448"/>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5" name="A1f_ic0"/>
          <p:cNvSpPr/>
          <p:nvPr/>
        </p:nvSpPr>
        <p:spPr>
          <a:xfrm>
            <a:off x="640080" y="1417320"/>
            <a:ext cx="457200" cy="457200"/>
          </a:xfrm>
          <a:prstGeom prst="ellipse">
            <a:avLst/>
          </a:prstGeom>
          <a:solidFill>
            <a:srgbClr val="765044"/>
          </a:solidFill>
          <a:ln w="12700">
            <a:solidFill>
              <a:srgbClr val="FFFFFF"/>
            </a:solidFill>
            <a:prstDash val="solid"/>
          </a:ln>
        </p:spPr>
        <p:txBody>
          <a:bodyPr/>
          <a:lstStyle/>
          <a:p>
            <a:endParaRPr lang="en-US"/>
          </a:p>
        </p:txBody>
      </p:sp>
      <p:pic>
        <p:nvPicPr>
          <p:cNvPr id="6" name="A1f_im0" descr="preencoded.png"/>
          <p:cNvPicPr>
            <a:picLocks noChangeAspect="1"/>
          </p:cNvPicPr>
          <p:nvPr/>
        </p:nvPicPr>
        <p:blipFill>
          <a:blip r:embed="rId3"/>
          <a:stretch>
            <a:fillRect/>
          </a:stretch>
        </p:blipFill>
        <p:spPr>
          <a:xfrm>
            <a:off x="740664" y="1517904"/>
            <a:ext cx="256032" cy="256032"/>
          </a:xfrm>
          <a:prstGeom prst="rect">
            <a:avLst/>
          </a:prstGeom>
        </p:spPr>
      </p:pic>
      <p:sp>
        <p:nvSpPr>
          <p:cNvPr id="7" name="A1f_h0"/>
          <p:cNvSpPr txBox="1"/>
          <p:nvPr/>
        </p:nvSpPr>
        <p:spPr>
          <a:xfrm>
            <a:off x="1188720" y="1417320"/>
            <a:ext cx="1828800" cy="457200"/>
          </a:xfrm>
          <a:prstGeom prst="rect">
            <a:avLst/>
          </a:prstGeom>
          <a:noFill/>
          <a:ln/>
        </p:spPr>
        <p:txBody>
          <a:bodyPr wrap="square" lIns="0" tIns="0" rIns="0" bIns="0" rtlCol="0" anchor="ctr"/>
          <a:lstStyle/>
          <a:p>
            <a:pPr marL="0" indent="0">
              <a:buNone/>
            </a:pPr>
            <a:r>
              <a:rPr lang="en-US" sz="1600" b="1" dirty="0">
                <a:solidFill>
                  <a:srgbClr val="765044"/>
                </a:solidFill>
                <a:latin typeface="Cambria" pitchFamily="34" charset="0"/>
                <a:ea typeface="Cambria" pitchFamily="34" charset="-122"/>
                <a:cs typeface="Cambria" pitchFamily="34" charset="-120"/>
              </a:rPr>
              <a:t>What we check</a:t>
            </a:r>
            <a:endParaRPr lang="en-US" sz="1600" dirty="0"/>
          </a:p>
        </p:txBody>
      </p:sp>
      <p:sp>
        <p:nvSpPr>
          <p:cNvPr id="8" name="A1f_b0"/>
          <p:cNvSpPr txBox="1"/>
          <p:nvPr/>
        </p:nvSpPr>
        <p:spPr>
          <a:xfrm>
            <a:off x="640080" y="201168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Navigation and links across all pages</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Browsing, search and filters</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Cart quantities and price totals</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Theme and localStorage persistence</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Layouts at mobile, tablet, desktop</a:t>
            </a:r>
            <a:endParaRPr lang="en-US" sz="1150" dirty="0"/>
          </a:p>
        </p:txBody>
      </p:sp>
      <p:sp>
        <p:nvSpPr>
          <p:cNvPr id="9" name="A1f_n0"/>
          <p:cNvSpPr txBox="1"/>
          <p:nvPr/>
        </p:nvSpPr>
        <p:spPr>
          <a:xfrm>
            <a:off x="640080" y="3886200"/>
            <a:ext cx="2286000" cy="548640"/>
          </a:xfrm>
          <a:prstGeom prst="rect">
            <a:avLst/>
          </a:prstGeom>
          <a:noFill/>
          <a:ln/>
        </p:spPr>
        <p:txBody>
          <a:bodyPr wrap="square" lIns="0" tIns="0" rIns="0" bIns="0" rtlCol="0" anchor="t"/>
          <a:lstStyle/>
          <a:p>
            <a:pPr marL="0" indent="0">
              <a:buNone/>
            </a:pPr>
            <a:r>
              <a:rPr lang="en-US" sz="1000" i="1" dirty="0">
                <a:solidFill>
                  <a:srgbClr val="765044"/>
                </a:solidFill>
                <a:latin typeface="Calibri" pitchFamily="34" charset="0"/>
                <a:ea typeface="Calibri" pitchFamily="34" charset="-122"/>
                <a:cs typeface="Calibri" pitchFamily="34" charset="-120"/>
              </a:rPr>
              <a:t>Done with Chrome DevTools: Responsive mode, Console, Application tab</a:t>
            </a:r>
            <a:endParaRPr lang="en-US" sz="1000" dirty="0"/>
          </a:p>
        </p:txBody>
      </p:sp>
      <p:sp>
        <p:nvSpPr>
          <p:cNvPr id="10" name="A2f_k1"/>
          <p:cNvSpPr/>
          <p:nvPr/>
        </p:nvSpPr>
        <p:spPr>
          <a:xfrm>
            <a:off x="3264408" y="1280160"/>
            <a:ext cx="2651760" cy="3246120"/>
          </a:xfrm>
          <a:prstGeom prst="roundRect">
            <a:avLst>
              <a:gd name="adj" fmla="val 3448"/>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1" name="A2f_ic1"/>
          <p:cNvSpPr/>
          <p:nvPr/>
        </p:nvSpPr>
        <p:spPr>
          <a:xfrm>
            <a:off x="3447288" y="1417320"/>
            <a:ext cx="457200" cy="457200"/>
          </a:xfrm>
          <a:prstGeom prst="ellipse">
            <a:avLst/>
          </a:prstGeom>
          <a:solidFill>
            <a:srgbClr val="B06A59"/>
          </a:solidFill>
          <a:ln w="12700">
            <a:solidFill>
              <a:srgbClr val="FFFFFF"/>
            </a:solidFill>
            <a:prstDash val="solid"/>
          </a:ln>
        </p:spPr>
        <p:txBody>
          <a:bodyPr/>
          <a:lstStyle/>
          <a:p>
            <a:endParaRPr lang="en-US"/>
          </a:p>
        </p:txBody>
      </p:sp>
      <p:pic>
        <p:nvPicPr>
          <p:cNvPr id="12" name="A2f_im1" descr="preencoded.png"/>
          <p:cNvPicPr>
            <a:picLocks noChangeAspect="1"/>
          </p:cNvPicPr>
          <p:nvPr/>
        </p:nvPicPr>
        <p:blipFill>
          <a:blip r:embed="rId4"/>
          <a:stretch>
            <a:fillRect/>
          </a:stretch>
        </p:blipFill>
        <p:spPr>
          <a:xfrm>
            <a:off x="3547872" y="1517904"/>
            <a:ext cx="256032" cy="256032"/>
          </a:xfrm>
          <a:prstGeom prst="rect">
            <a:avLst/>
          </a:prstGeom>
        </p:spPr>
      </p:pic>
      <p:sp>
        <p:nvSpPr>
          <p:cNvPr id="13" name="A2f_h1"/>
          <p:cNvSpPr txBox="1"/>
          <p:nvPr/>
        </p:nvSpPr>
        <p:spPr>
          <a:xfrm>
            <a:off x="3995928" y="1417320"/>
            <a:ext cx="1828800" cy="457200"/>
          </a:xfrm>
          <a:prstGeom prst="rect">
            <a:avLst/>
          </a:prstGeom>
          <a:noFill/>
          <a:ln/>
        </p:spPr>
        <p:txBody>
          <a:bodyPr wrap="square" lIns="0" tIns="0" rIns="0" bIns="0" rtlCol="0" anchor="ctr"/>
          <a:lstStyle/>
          <a:p>
            <a:pPr marL="0" indent="0">
              <a:buNone/>
            </a:pPr>
            <a:r>
              <a:rPr lang="en-US" sz="1600" b="1" dirty="0">
                <a:solidFill>
                  <a:srgbClr val="765044"/>
                </a:solidFill>
                <a:latin typeface="Cambria" pitchFamily="34" charset="0"/>
                <a:ea typeface="Cambria" pitchFamily="34" charset="-122"/>
                <a:cs typeface="Cambria" pitchFamily="34" charset="-120"/>
              </a:rPr>
              <a:t>Challenges &amp; fixes</a:t>
            </a:r>
            <a:endParaRPr lang="en-US" sz="1600" dirty="0"/>
          </a:p>
        </p:txBody>
      </p:sp>
      <p:sp>
        <p:nvSpPr>
          <p:cNvPr id="14" name="A2f_b1"/>
          <p:cNvSpPr txBox="1"/>
          <p:nvPr/>
        </p:nvSpPr>
        <p:spPr>
          <a:xfrm>
            <a:off x="3447288" y="201168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26 consistent pages → one shared script + data-page</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Cart across pages → localStorage</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Options, offers, delivery → one totals() routine</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No server → data in JS/JSON files</a:t>
            </a:r>
            <a:endParaRPr lang="en-US" sz="1150" dirty="0"/>
          </a:p>
        </p:txBody>
      </p:sp>
      <p:sp>
        <p:nvSpPr>
          <p:cNvPr id="15" name="A3f_k2"/>
          <p:cNvSpPr/>
          <p:nvPr/>
        </p:nvSpPr>
        <p:spPr>
          <a:xfrm>
            <a:off x="6071616" y="1280160"/>
            <a:ext cx="2651760" cy="3246120"/>
          </a:xfrm>
          <a:prstGeom prst="roundRect">
            <a:avLst>
              <a:gd name="adj" fmla="val 3448"/>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6" name="A3f_ic2"/>
          <p:cNvSpPr/>
          <p:nvPr/>
        </p:nvSpPr>
        <p:spPr>
          <a:xfrm>
            <a:off x="6254496" y="1417320"/>
            <a:ext cx="457200" cy="457200"/>
          </a:xfrm>
          <a:prstGeom prst="ellipse">
            <a:avLst/>
          </a:prstGeom>
          <a:solidFill>
            <a:srgbClr val="D99587"/>
          </a:solidFill>
          <a:ln w="12700">
            <a:solidFill>
              <a:srgbClr val="FFFFFF"/>
            </a:solidFill>
            <a:prstDash val="solid"/>
          </a:ln>
        </p:spPr>
        <p:txBody>
          <a:bodyPr/>
          <a:lstStyle/>
          <a:p>
            <a:endParaRPr lang="en-US"/>
          </a:p>
        </p:txBody>
      </p:sp>
      <p:pic>
        <p:nvPicPr>
          <p:cNvPr id="17" name="A3f_im2" descr="preencoded.png"/>
          <p:cNvPicPr>
            <a:picLocks noChangeAspect="1"/>
          </p:cNvPicPr>
          <p:nvPr/>
        </p:nvPicPr>
        <p:blipFill>
          <a:blip r:embed="rId5"/>
          <a:stretch>
            <a:fillRect/>
          </a:stretch>
        </p:blipFill>
        <p:spPr>
          <a:xfrm>
            <a:off x="6355080" y="1517904"/>
            <a:ext cx="256032" cy="256032"/>
          </a:xfrm>
          <a:prstGeom prst="rect">
            <a:avLst/>
          </a:prstGeom>
        </p:spPr>
      </p:pic>
      <p:sp>
        <p:nvSpPr>
          <p:cNvPr id="18" name="A3f_h2"/>
          <p:cNvSpPr txBox="1"/>
          <p:nvPr/>
        </p:nvSpPr>
        <p:spPr>
          <a:xfrm>
            <a:off x="6803136" y="1417320"/>
            <a:ext cx="1828800" cy="457200"/>
          </a:xfrm>
          <a:prstGeom prst="rect">
            <a:avLst/>
          </a:prstGeom>
          <a:noFill/>
          <a:ln/>
        </p:spPr>
        <p:txBody>
          <a:bodyPr wrap="square" lIns="0" tIns="0" rIns="0" bIns="0" rtlCol="0" anchor="ctr"/>
          <a:lstStyle/>
          <a:p>
            <a:pPr marL="0" indent="0">
              <a:buNone/>
            </a:pPr>
            <a:r>
              <a:rPr lang="en-US" sz="1600" b="1" dirty="0">
                <a:solidFill>
                  <a:srgbClr val="765044"/>
                </a:solidFill>
                <a:latin typeface="Cambria" pitchFamily="34" charset="0"/>
                <a:ea typeface="Cambria" pitchFamily="34" charset="-122"/>
                <a:cs typeface="Cambria" pitchFamily="34" charset="-120"/>
              </a:rPr>
              <a:t>Skills gained</a:t>
            </a:r>
            <a:endParaRPr lang="en-US" sz="1600" dirty="0"/>
          </a:p>
        </p:txBody>
      </p:sp>
      <p:sp>
        <p:nvSpPr>
          <p:cNvPr id="19" name="A3f_b2"/>
          <p:cNvSpPr txBox="1"/>
          <p:nvPr/>
        </p:nvSpPr>
        <p:spPr>
          <a:xfrm>
            <a:off x="6254496" y="2011680"/>
            <a:ext cx="2286000" cy="1828800"/>
          </a:xfrm>
          <a:prstGeom prst="rect">
            <a:avLst/>
          </a:prstGeom>
          <a:noFill/>
          <a:ln/>
        </p:spPr>
        <p:txBody>
          <a:bodyPr wrap="square" lIns="0" tIns="0" rIns="0" bIns="0" rtlCol="0" anchor="t"/>
          <a:lstStyle/>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Responsive HTML/CSS/Bootstrap</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DOM manipulation &amp; state handling</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Accessibility: ARIA, focus, reduced motion</a:t>
            </a:r>
            <a:endParaRPr lang="en-US" sz="1150" dirty="0"/>
          </a:p>
          <a:p>
            <a:pPr marL="342900" indent="-342900">
              <a:spcAft>
                <a:spcPts val="500"/>
              </a:spcAft>
              <a:buSzPct val="100000"/>
              <a:buChar char="•"/>
            </a:pPr>
            <a:r>
              <a:rPr lang="en-US" sz="1150" dirty="0">
                <a:solidFill>
                  <a:srgbClr val="3D2925"/>
                </a:solidFill>
                <a:latin typeface="Calibri" pitchFamily="34" charset="0"/>
                <a:ea typeface="Calibri" pitchFamily="34" charset="-122"/>
                <a:cs typeface="Calibri" pitchFamily="34" charset="-120"/>
              </a:rPr>
              <a:t>Teamwork and technical documentation</a:t>
            </a:r>
            <a:endParaRPr lang="en-US" sz="1150" dirty="0"/>
          </a:p>
        </p:txBody>
      </p:sp>
      <p:sp>
        <p:nvSpPr>
          <p:cNvPr id="25"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600"/>
                                        <p:tgtEl>
                                          <p:spTgt spid="4"/>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600"/>
                                        <p:tgtEl>
                                          <p:spTgt spid="5"/>
                                        </p:tgtEl>
                                      </p:cBhvr>
                                    </p:animEffect>
                                  </p:childTnLst>
                                </p:cTn>
                              </p:par>
                              <p:par>
                                <p:cTn id="11" presetID="10" presetClass="entr" presetSubtype="0"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600"/>
                                        <p:tgtEl>
                                          <p:spTgt spid="6"/>
                                        </p:tgtEl>
                                      </p:cBhvr>
                                    </p:animEffect>
                                  </p:childTnLst>
                                </p:cTn>
                              </p:par>
                              <p:par>
                                <p:cTn id="14" presetID="10" presetClass="entr" presetSubtype="0" fill="hold" nodeType="with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600"/>
                                        <p:tgtEl>
                                          <p:spTgt spid="7"/>
                                        </p:tgtEl>
                                      </p:cBhvr>
                                    </p:animEffect>
                                  </p:childTnLst>
                                </p:cTn>
                              </p:par>
                              <p:par>
                                <p:cTn id="17" presetID="10" presetClass="entr" presetSubtype="0" fill="hold" nodeType="withEffect">
                                  <p:stCondLst>
                                    <p:cond delay="0"/>
                                  </p:stCondLst>
                                  <p:childTnLst>
                                    <p:set>
                                      <p:cBhvr>
                                        <p:cTn id="18" dur="1" fill="hold">
                                          <p:stCondLst>
                                            <p:cond delay="0"/>
                                          </p:stCondLst>
                                        </p:cTn>
                                        <p:tgtEl>
                                          <p:spTgt spid="8"/>
                                        </p:tgtEl>
                                        <p:attrNameLst>
                                          <p:attrName>style.visibility</p:attrName>
                                        </p:attrNameLst>
                                      </p:cBhvr>
                                      <p:to>
                                        <p:strVal val="visible"/>
                                      </p:to>
                                    </p:set>
                                    <p:animEffect transition="in" filter="fade">
                                      <p:cBhvr>
                                        <p:cTn id="19" dur="600"/>
                                        <p:tgtEl>
                                          <p:spTgt spid="8"/>
                                        </p:tgtEl>
                                      </p:cBhvr>
                                    </p:animEffect>
                                  </p:childTnLst>
                                </p:cTn>
                              </p:par>
                              <p:par>
                                <p:cTn id="20" presetID="10" presetClass="entr" presetSubtype="0" fill="hold" nodeType="with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fade">
                                      <p:cBhvr>
                                        <p:cTn id="22" dur="6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600"/>
                                        <p:tgtEl>
                                          <p:spTgt spid="10"/>
                                        </p:tgtEl>
                                      </p:cBhvr>
                                    </p:animEffect>
                                  </p:childTnLst>
                                </p:cTn>
                              </p:par>
                              <p:par>
                                <p:cTn id="28" presetID="10" presetClass="entr" presetSubtype="0" fill="hold"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600"/>
                                        <p:tgtEl>
                                          <p:spTgt spid="11"/>
                                        </p:tgtEl>
                                      </p:cBhvr>
                                    </p:animEffect>
                                  </p:childTnLst>
                                </p:cTn>
                              </p:par>
                              <p:par>
                                <p:cTn id="31" presetID="10" presetClass="entr" presetSubtype="0" fill="hold" nodeType="withEffect">
                                  <p:stCondLst>
                                    <p:cond delay="0"/>
                                  </p:stCondLst>
                                  <p:childTnLst>
                                    <p:set>
                                      <p:cBhvr>
                                        <p:cTn id="32" dur="1" fill="hold">
                                          <p:stCondLst>
                                            <p:cond delay="0"/>
                                          </p:stCondLst>
                                        </p:cTn>
                                        <p:tgtEl>
                                          <p:spTgt spid="12"/>
                                        </p:tgtEl>
                                        <p:attrNameLst>
                                          <p:attrName>style.visibility</p:attrName>
                                        </p:attrNameLst>
                                      </p:cBhvr>
                                      <p:to>
                                        <p:strVal val="visible"/>
                                      </p:to>
                                    </p:set>
                                    <p:animEffect transition="in" filter="fade">
                                      <p:cBhvr>
                                        <p:cTn id="33" dur="600"/>
                                        <p:tgtEl>
                                          <p:spTgt spid="12"/>
                                        </p:tgtEl>
                                      </p:cBhvr>
                                    </p:animEffect>
                                  </p:childTnLst>
                                </p:cTn>
                              </p:par>
                              <p:par>
                                <p:cTn id="34" presetID="10" presetClass="entr" presetSubtype="0" fill="hold" nodeType="withEffect">
                                  <p:stCondLst>
                                    <p:cond delay="0"/>
                                  </p:stCondLst>
                                  <p:childTnLst>
                                    <p:set>
                                      <p:cBhvr>
                                        <p:cTn id="35" dur="1" fill="hold">
                                          <p:stCondLst>
                                            <p:cond delay="0"/>
                                          </p:stCondLst>
                                        </p:cTn>
                                        <p:tgtEl>
                                          <p:spTgt spid="13"/>
                                        </p:tgtEl>
                                        <p:attrNameLst>
                                          <p:attrName>style.visibility</p:attrName>
                                        </p:attrNameLst>
                                      </p:cBhvr>
                                      <p:to>
                                        <p:strVal val="visible"/>
                                      </p:to>
                                    </p:set>
                                    <p:animEffect transition="in" filter="fade">
                                      <p:cBhvr>
                                        <p:cTn id="36" dur="600"/>
                                        <p:tgtEl>
                                          <p:spTgt spid="13"/>
                                        </p:tgtEl>
                                      </p:cBhvr>
                                    </p:animEffect>
                                  </p:childTnLst>
                                </p:cTn>
                              </p:par>
                              <p:par>
                                <p:cTn id="37" presetID="10" presetClass="entr" presetSubtype="0" fill="hold" nodeType="withEffect">
                                  <p:stCondLst>
                                    <p:cond delay="0"/>
                                  </p:stCondLst>
                                  <p:childTnLst>
                                    <p:set>
                                      <p:cBhvr>
                                        <p:cTn id="38" dur="1" fill="hold">
                                          <p:stCondLst>
                                            <p:cond delay="0"/>
                                          </p:stCondLst>
                                        </p:cTn>
                                        <p:tgtEl>
                                          <p:spTgt spid="14"/>
                                        </p:tgtEl>
                                        <p:attrNameLst>
                                          <p:attrName>style.visibility</p:attrName>
                                        </p:attrNameLst>
                                      </p:cBhvr>
                                      <p:to>
                                        <p:strVal val="visible"/>
                                      </p:to>
                                    </p:set>
                                    <p:animEffect transition="in" filter="fade">
                                      <p:cBhvr>
                                        <p:cTn id="39" dur="600"/>
                                        <p:tgtEl>
                                          <p:spTgt spid="14"/>
                                        </p:tgtEl>
                                      </p:cBhvr>
                                    </p:animEffect>
                                  </p:childTnLst>
                                </p:cTn>
                              </p:par>
                            </p:childTnLst>
                          </p:cTn>
                        </p:par>
                      </p:childTnLst>
                    </p:cTn>
                  </p:par>
                  <p:par>
                    <p:cTn id="40" fill="hold">
                      <p:stCondLst>
                        <p:cond delay="indefinite"/>
                      </p:stCondLst>
                      <p:childTnLst>
                        <p:par>
                          <p:cTn id="41" fill="hold">
                            <p:stCondLst>
                              <p:cond delay="0"/>
                            </p:stCondLst>
                            <p:childTnLst>
                              <p:par>
                                <p:cTn id="42" presetID="10" presetClass="entr" presetSubtype="0" fill="hold" nodeType="clickEffect">
                                  <p:stCondLst>
                                    <p:cond delay="0"/>
                                  </p:stCondLst>
                                  <p:childTnLst>
                                    <p:set>
                                      <p:cBhvr>
                                        <p:cTn id="43" dur="1" fill="hold">
                                          <p:stCondLst>
                                            <p:cond delay="0"/>
                                          </p:stCondLst>
                                        </p:cTn>
                                        <p:tgtEl>
                                          <p:spTgt spid="15"/>
                                        </p:tgtEl>
                                        <p:attrNameLst>
                                          <p:attrName>style.visibility</p:attrName>
                                        </p:attrNameLst>
                                      </p:cBhvr>
                                      <p:to>
                                        <p:strVal val="visible"/>
                                      </p:to>
                                    </p:set>
                                    <p:animEffect transition="in" filter="fade">
                                      <p:cBhvr>
                                        <p:cTn id="44" dur="600"/>
                                        <p:tgtEl>
                                          <p:spTgt spid="15"/>
                                        </p:tgtEl>
                                      </p:cBhvr>
                                    </p:animEffect>
                                  </p:childTnLst>
                                </p:cTn>
                              </p:par>
                              <p:par>
                                <p:cTn id="45" presetID="10" presetClass="entr" presetSubtype="0" fill="hold" nodeType="withEffect">
                                  <p:stCondLst>
                                    <p:cond delay="0"/>
                                  </p:stCondLst>
                                  <p:childTnLst>
                                    <p:set>
                                      <p:cBhvr>
                                        <p:cTn id="46" dur="1" fill="hold">
                                          <p:stCondLst>
                                            <p:cond delay="0"/>
                                          </p:stCondLst>
                                        </p:cTn>
                                        <p:tgtEl>
                                          <p:spTgt spid="16"/>
                                        </p:tgtEl>
                                        <p:attrNameLst>
                                          <p:attrName>style.visibility</p:attrName>
                                        </p:attrNameLst>
                                      </p:cBhvr>
                                      <p:to>
                                        <p:strVal val="visible"/>
                                      </p:to>
                                    </p:set>
                                    <p:animEffect transition="in" filter="fade">
                                      <p:cBhvr>
                                        <p:cTn id="47" dur="600"/>
                                        <p:tgtEl>
                                          <p:spTgt spid="16"/>
                                        </p:tgtEl>
                                      </p:cBhvr>
                                    </p:animEffect>
                                  </p:childTnLst>
                                </p:cTn>
                              </p:par>
                              <p:par>
                                <p:cTn id="48" presetID="10" presetClass="entr" presetSubtype="0" fill="hold" nodeType="withEffect">
                                  <p:stCondLst>
                                    <p:cond delay="0"/>
                                  </p:stCondLst>
                                  <p:childTnLst>
                                    <p:set>
                                      <p:cBhvr>
                                        <p:cTn id="49" dur="1" fill="hold">
                                          <p:stCondLst>
                                            <p:cond delay="0"/>
                                          </p:stCondLst>
                                        </p:cTn>
                                        <p:tgtEl>
                                          <p:spTgt spid="17"/>
                                        </p:tgtEl>
                                        <p:attrNameLst>
                                          <p:attrName>style.visibility</p:attrName>
                                        </p:attrNameLst>
                                      </p:cBhvr>
                                      <p:to>
                                        <p:strVal val="visible"/>
                                      </p:to>
                                    </p:set>
                                    <p:animEffect transition="in" filter="fade">
                                      <p:cBhvr>
                                        <p:cTn id="50" dur="600"/>
                                        <p:tgtEl>
                                          <p:spTgt spid="17"/>
                                        </p:tgtEl>
                                      </p:cBhvr>
                                    </p:animEffect>
                                  </p:childTnLst>
                                </p:cTn>
                              </p:par>
                              <p:par>
                                <p:cTn id="51" presetID="10" presetClass="entr" presetSubtype="0" fill="hold" nodeType="withEffect">
                                  <p:stCondLst>
                                    <p:cond delay="0"/>
                                  </p:stCondLst>
                                  <p:childTnLst>
                                    <p:set>
                                      <p:cBhvr>
                                        <p:cTn id="52" dur="1" fill="hold">
                                          <p:stCondLst>
                                            <p:cond delay="0"/>
                                          </p:stCondLst>
                                        </p:cTn>
                                        <p:tgtEl>
                                          <p:spTgt spid="18"/>
                                        </p:tgtEl>
                                        <p:attrNameLst>
                                          <p:attrName>style.visibility</p:attrName>
                                        </p:attrNameLst>
                                      </p:cBhvr>
                                      <p:to>
                                        <p:strVal val="visible"/>
                                      </p:to>
                                    </p:set>
                                    <p:animEffect transition="in" filter="fade">
                                      <p:cBhvr>
                                        <p:cTn id="53" dur="600"/>
                                        <p:tgtEl>
                                          <p:spTgt spid="18"/>
                                        </p:tgtEl>
                                      </p:cBhvr>
                                    </p:animEffect>
                                  </p:childTnLst>
                                </p:cTn>
                              </p:par>
                              <p:par>
                                <p:cTn id="54" presetID="10" presetClass="entr" presetSubtype="0" fill="hold" nodeType="withEffect">
                                  <p:stCondLst>
                                    <p:cond delay="0"/>
                                  </p:stCondLst>
                                  <p:childTnLst>
                                    <p:set>
                                      <p:cBhvr>
                                        <p:cTn id="55" dur="1" fill="hold">
                                          <p:stCondLst>
                                            <p:cond delay="0"/>
                                          </p:stCondLst>
                                        </p:cTn>
                                        <p:tgtEl>
                                          <p:spTgt spid="19"/>
                                        </p:tgtEl>
                                        <p:attrNameLst>
                                          <p:attrName>style.visibility</p:attrName>
                                        </p:attrNameLst>
                                      </p:cBhvr>
                                      <p:to>
                                        <p:strVal val="visible"/>
                                      </p:to>
                                    </p:set>
                                    <p:animEffect transition="in" filter="fade">
                                      <p:cBhvr>
                                        <p:cTn id="56" dur="6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457200" y="292608"/>
            <a:ext cx="5486400" cy="228600"/>
          </a:xfrm>
          <a:prstGeom prst="rect">
            <a:avLst/>
          </a:prstGeom>
          <a:noFill/>
          <a:ln/>
        </p:spPr>
        <p:txBody>
          <a:bodyPr wrap="square" lIns="0" tIns="0" rIns="0" bIns="0" rtlCol="0" anchor="t"/>
          <a:lstStyle/>
          <a:p>
            <a:pPr marL="0" indent="0" algn="l">
              <a:buNone/>
            </a:pPr>
            <a:r>
              <a:rPr lang="en-US" sz="1100" b="1" spc="400" dirty="0">
                <a:solidFill>
                  <a:srgbClr val="B06A59"/>
                </a:solidFill>
                <a:latin typeface="Calibri"/>
                <a:ea typeface="Calibri"/>
                <a:cs typeface="Calibri"/>
              </a:rPr>
              <a:t>BENEFITS &amp; TARGET USERS</a:t>
            </a:r>
          </a:p>
        </p:txBody>
      </p:sp>
      <p:sp>
        <p:nvSpPr>
          <p:cNvPr id="3" name="Title"/>
          <p:cNvSpPr txBox="1"/>
          <p:nvPr/>
        </p:nvSpPr>
        <p:spPr>
          <a:xfrm>
            <a:off x="457200" y="530352"/>
            <a:ext cx="8229600" cy="548640"/>
          </a:xfrm>
          <a:prstGeom prst="rect">
            <a:avLst/>
          </a:prstGeom>
          <a:noFill/>
          <a:ln/>
        </p:spPr>
        <p:txBody>
          <a:bodyPr wrap="square" lIns="0" tIns="0" rIns="0" bIns="0" rtlCol="0" anchor="t"/>
          <a:lstStyle/>
          <a:p>
            <a:pPr marL="0" indent="0" algn="l">
              <a:buNone/>
            </a:pPr>
            <a:r>
              <a:rPr lang="en-US" sz="3200" b="1" dirty="0">
                <a:solidFill>
                  <a:srgbClr val="765044"/>
                </a:solidFill>
                <a:latin typeface="Cambria"/>
                <a:ea typeface="Cambria"/>
                <a:cs typeface="Cambria"/>
              </a:rPr>
              <a:t>Who it helps and how</a:t>
            </a:r>
          </a:p>
        </p:txBody>
      </p:sp>
      <p:sp>
        <p:nvSpPr>
          <p:cNvPr id="9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13</a:t>
            </a:fld>
            <a:endParaRPr lang="en-US"/>
          </a:p>
        </p:txBody>
      </p:sp>
      <p:sp>
        <p:nvSpPr>
          <p:cNvPr id="11" name="Benefit_card_1"/>
          <p:cNvSpPr/>
          <p:nvPr/>
        </p:nvSpPr>
        <p:spPr>
          <a:xfrm>
            <a:off x="457200" y="1280160"/>
            <a:ext cx="4023360" cy="3246120"/>
          </a:xfrm>
          <a:prstGeom prst="roundRect">
            <a:avLst>
              <a:gd name="adj" fmla="val 2816"/>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2" name="Benefit_1_circle"/>
          <p:cNvSpPr/>
          <p:nvPr/>
        </p:nvSpPr>
        <p:spPr>
          <a:xfrm>
            <a:off x="658368" y="1444752"/>
            <a:ext cx="457200" cy="457200"/>
          </a:xfrm>
          <a:prstGeom prst="ellipse">
            <a:avLst/>
          </a:prstGeom>
          <a:solidFill>
            <a:srgbClr val="765044"/>
          </a:solidFill>
          <a:ln w="12700">
            <a:solidFill>
              <a:srgbClr val="FFFFFF"/>
            </a:solidFill>
            <a:prstDash val="solid"/>
          </a:ln>
        </p:spPr>
        <p:txBody>
          <a:bodyPr/>
          <a:lstStyle/>
          <a:p>
            <a:endParaRPr lang="en-US"/>
          </a:p>
        </p:txBody>
      </p:sp>
      <p:pic>
        <p:nvPicPr>
          <p:cNvPr id="100" name="Benefit_1_icon" descr="FaUsers.png"/>
          <p:cNvPicPr>
            <a:picLocks noChangeAspect="1"/>
          </p:cNvPicPr>
          <p:nvPr/>
        </p:nvPicPr>
        <p:blipFill>
          <a:blip r:embed="rId3"/>
          <a:stretch>
            <a:fillRect/>
          </a:stretch>
        </p:blipFill>
        <p:spPr>
          <a:xfrm>
            <a:off x="758952" y="1545336"/>
            <a:ext cx="256032" cy="256032"/>
          </a:xfrm>
          <a:prstGeom prst="rect">
            <a:avLst/>
          </a:prstGeom>
        </p:spPr>
      </p:pic>
      <p:sp>
        <p:nvSpPr>
          <p:cNvPr id="13" name="Benefit_head_1"/>
          <p:cNvSpPr txBox="1"/>
          <p:nvPr/>
        </p:nvSpPr>
        <p:spPr>
          <a:xfrm>
            <a:off x="1261872" y="1444752"/>
            <a:ext cx="3017520" cy="457200"/>
          </a:xfrm>
          <a:prstGeom prst="rect">
            <a:avLst/>
          </a:prstGeom>
          <a:noFill/>
          <a:ln/>
        </p:spPr>
        <p:txBody>
          <a:bodyPr wrap="square" lIns="0" tIns="0" rIns="0" bIns="0" rtlCol="0" anchor="ctr"/>
          <a:lstStyle/>
          <a:p>
            <a:pPr marL="0" indent="0" algn="l">
              <a:buNone/>
            </a:pPr>
            <a:r>
              <a:rPr lang="en-US" sz="1600" b="1" dirty="0">
                <a:solidFill>
                  <a:srgbClr val="765044"/>
                </a:solidFill>
                <a:latin typeface="Cambria"/>
                <a:ea typeface="Cambria"/>
                <a:cs typeface="Cambria"/>
              </a:rPr>
              <a:t>Target users</a:t>
            </a:r>
          </a:p>
        </p:txBody>
      </p:sp>
      <p:sp>
        <p:nvSpPr>
          <p:cNvPr id="14" name="Benefit_list_1"/>
          <p:cNvSpPr txBox="1"/>
          <p:nvPr/>
        </p:nvSpPr>
        <p:spPr>
          <a:xfrm>
            <a:off x="685800" y="2084832"/>
            <a:ext cx="3611880" cy="2377440"/>
          </a:xfrm>
          <a:prstGeom prst="rect">
            <a:avLst/>
          </a:prstGeom>
          <a:noFill/>
          <a:ln/>
        </p:spPr>
        <p:txBody>
          <a:bodyPr wrap="square" lIns="0" tIns="0" rIns="0" bIns="0" rtlCol="0" anchor="t"/>
          <a:lstStyle/>
          <a:p>
            <a:pPr marL="190500" indent="-190500" algn="l">
              <a:spcAft>
                <a:spcPts val="500"/>
              </a:spcAft>
              <a:buSzPct val="100000"/>
              <a:buChar char="•"/>
            </a:pPr>
            <a:r>
              <a:rPr lang="en-US" sz="1100" dirty="0">
                <a:solidFill>
                  <a:srgbClr val="3D2925"/>
                </a:solidFill>
                <a:latin typeface="Calibri"/>
                <a:ea typeface="Calibri"/>
                <a:cs typeface="Calibri"/>
              </a:rPr>
              <a:t>Bakery and café customers browsing on mobile, tablet or desktop</a:t>
            </a:r>
          </a:p>
          <a:p>
            <a:pPr marL="190500" indent="-190500" algn="l">
              <a:spcAft>
                <a:spcPts val="500"/>
              </a:spcAft>
              <a:buSzPct val="100000"/>
              <a:buChar char="•"/>
            </a:pPr>
            <a:r>
              <a:rPr lang="en-US" sz="1100" dirty="0">
                <a:solidFill>
                  <a:srgbClr val="3D2925"/>
                </a:solidFill>
                <a:latin typeface="Calibri"/>
                <a:ea typeface="Calibri"/>
                <a:cs typeface="Calibri"/>
              </a:rPr>
              <a:t>Customers with dietary needs: egg-free, nut-free, dairy-free, gluten-free and vegan filters</a:t>
            </a:r>
          </a:p>
          <a:p>
            <a:pPr marL="190500" indent="-190500" algn="l">
              <a:spcAft>
                <a:spcPts val="500"/>
              </a:spcAft>
              <a:buSzPct val="100000"/>
              <a:buChar char="•"/>
            </a:pPr>
            <a:r>
              <a:rPr lang="en-US" sz="1100" dirty="0">
                <a:solidFill>
                  <a:srgbClr val="3D2925"/>
                </a:solidFill>
                <a:latin typeface="Calibri"/>
                <a:ea typeface="Calibri"/>
                <a:cs typeface="Calibri"/>
              </a:rPr>
              <a:t>People who place custom orders, such as celebration cakes</a:t>
            </a:r>
          </a:p>
          <a:p>
            <a:pPr marL="190500" indent="-190500" algn="l">
              <a:spcAft>
                <a:spcPts val="500"/>
              </a:spcAft>
              <a:buSzPct val="100000"/>
              <a:buChar char="•"/>
            </a:pPr>
            <a:r>
              <a:rPr lang="en-US" sz="1100" dirty="0">
                <a:solidFill>
                  <a:srgbClr val="3D2925"/>
                </a:solidFill>
                <a:latin typeface="Calibri"/>
                <a:ea typeface="Calibri"/>
                <a:cs typeface="Calibri"/>
              </a:rPr>
              <a:t>Users who rely on keyboard access, ARIA labels and reduced motion</a:t>
            </a:r>
          </a:p>
          <a:p>
            <a:pPr marL="190500" indent="-190500" algn="l">
              <a:spcAft>
                <a:spcPts val="500"/>
              </a:spcAft>
              <a:buSzPct val="100000"/>
              <a:buChar char="•"/>
            </a:pPr>
            <a:r>
              <a:rPr lang="en-US" sz="1100" dirty="0">
                <a:solidFill>
                  <a:srgbClr val="3D2925"/>
                </a:solidFill>
                <a:latin typeface="Calibri"/>
                <a:ea typeface="Calibri"/>
                <a:cs typeface="Calibri"/>
              </a:rPr>
              <a:t>The bakery team: a front end driven by easy-to-edit data files</a:t>
            </a:r>
          </a:p>
        </p:txBody>
      </p:sp>
      <p:sp>
        <p:nvSpPr>
          <p:cNvPr id="15" name="Benefit_card_2"/>
          <p:cNvSpPr/>
          <p:nvPr/>
        </p:nvSpPr>
        <p:spPr>
          <a:xfrm>
            <a:off x="4663440" y="1280160"/>
            <a:ext cx="4023360" cy="3246120"/>
          </a:xfrm>
          <a:prstGeom prst="roundRect">
            <a:avLst>
              <a:gd name="adj" fmla="val 2816"/>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6" name="Benefit_2_circle"/>
          <p:cNvSpPr/>
          <p:nvPr/>
        </p:nvSpPr>
        <p:spPr>
          <a:xfrm>
            <a:off x="4864608" y="1444752"/>
            <a:ext cx="457200" cy="457200"/>
          </a:xfrm>
          <a:prstGeom prst="ellipse">
            <a:avLst/>
          </a:prstGeom>
          <a:solidFill>
            <a:srgbClr val="D99587"/>
          </a:solidFill>
          <a:ln w="12700">
            <a:solidFill>
              <a:srgbClr val="FFFFFF"/>
            </a:solidFill>
            <a:prstDash val="solid"/>
          </a:ln>
        </p:spPr>
        <p:txBody>
          <a:bodyPr/>
          <a:lstStyle/>
          <a:p>
            <a:endParaRPr lang="en-US"/>
          </a:p>
        </p:txBody>
      </p:sp>
      <p:pic>
        <p:nvPicPr>
          <p:cNvPr id="101" name="Benefit_2_icon" descr="FaHeart.png"/>
          <p:cNvPicPr>
            <a:picLocks noChangeAspect="1"/>
          </p:cNvPicPr>
          <p:nvPr/>
        </p:nvPicPr>
        <p:blipFill>
          <a:blip r:embed="rId4"/>
          <a:stretch>
            <a:fillRect/>
          </a:stretch>
        </p:blipFill>
        <p:spPr>
          <a:xfrm>
            <a:off x="4965192" y="1545336"/>
            <a:ext cx="256032" cy="256032"/>
          </a:xfrm>
          <a:prstGeom prst="rect">
            <a:avLst/>
          </a:prstGeom>
        </p:spPr>
      </p:pic>
      <p:sp>
        <p:nvSpPr>
          <p:cNvPr id="17" name="Benefit_head_2"/>
          <p:cNvSpPr txBox="1"/>
          <p:nvPr/>
        </p:nvSpPr>
        <p:spPr>
          <a:xfrm>
            <a:off x="5468112" y="1444752"/>
            <a:ext cx="3017520" cy="457200"/>
          </a:xfrm>
          <a:prstGeom prst="rect">
            <a:avLst/>
          </a:prstGeom>
          <a:noFill/>
          <a:ln/>
        </p:spPr>
        <p:txBody>
          <a:bodyPr wrap="square" lIns="0" tIns="0" rIns="0" bIns="0" rtlCol="0" anchor="ctr"/>
          <a:lstStyle/>
          <a:p>
            <a:pPr marL="0" indent="0" algn="l">
              <a:buNone/>
            </a:pPr>
            <a:r>
              <a:rPr lang="en-US" sz="1600" b="1" dirty="0">
                <a:solidFill>
                  <a:srgbClr val="765044"/>
                </a:solidFill>
                <a:latin typeface="Cambria"/>
                <a:ea typeface="Cambria"/>
                <a:cs typeface="Cambria"/>
              </a:rPr>
              <a:t>Benefits</a:t>
            </a:r>
          </a:p>
        </p:txBody>
      </p:sp>
      <p:sp>
        <p:nvSpPr>
          <p:cNvPr id="18" name="Benefit_list_2"/>
          <p:cNvSpPr txBox="1"/>
          <p:nvPr/>
        </p:nvSpPr>
        <p:spPr>
          <a:xfrm>
            <a:off x="4892040" y="2084832"/>
            <a:ext cx="3611880" cy="2377440"/>
          </a:xfrm>
          <a:prstGeom prst="rect">
            <a:avLst/>
          </a:prstGeom>
          <a:noFill/>
          <a:ln/>
        </p:spPr>
        <p:txBody>
          <a:bodyPr wrap="square" lIns="0" tIns="0" rIns="0" bIns="0" rtlCol="0" anchor="t"/>
          <a:lstStyle/>
          <a:p>
            <a:pPr marL="190500" indent="-190500" algn="l">
              <a:spcAft>
                <a:spcPts val="500"/>
              </a:spcAft>
              <a:buSzPct val="100000"/>
              <a:buChar char="•"/>
            </a:pPr>
            <a:r>
              <a:rPr lang="en-US" sz="1100" dirty="0">
                <a:solidFill>
                  <a:srgbClr val="3D2925"/>
                </a:solidFill>
                <a:latin typeface="Calibri"/>
                <a:ea typeface="Calibri"/>
                <a:cs typeface="Calibri"/>
              </a:rPr>
              <a:t>Easy discovery: prices, ingredients and allergens in one place</a:t>
            </a:r>
          </a:p>
          <a:p>
            <a:pPr marL="190500" indent="-190500" algn="l">
              <a:spcAft>
                <a:spcPts val="500"/>
              </a:spcAft>
              <a:buSzPct val="100000"/>
              <a:buChar char="•"/>
            </a:pPr>
            <a:r>
              <a:rPr lang="en-US" sz="1100" dirty="0">
                <a:solidFill>
                  <a:srgbClr val="3D2925"/>
                </a:solidFill>
                <a:latin typeface="Calibri"/>
                <a:ea typeface="Calibri"/>
                <a:cs typeface="Calibri"/>
              </a:rPr>
              <a:t>Personalised orders with a live price before adding to the cart</a:t>
            </a:r>
          </a:p>
          <a:p>
            <a:pPr marL="190500" indent="-190500" algn="l">
              <a:spcAft>
                <a:spcPts val="500"/>
              </a:spcAft>
              <a:buSzPct val="100000"/>
              <a:buChar char="•"/>
            </a:pPr>
            <a:r>
              <a:rPr lang="en-US" sz="1100" dirty="0">
                <a:solidFill>
                  <a:srgbClr val="3D2925"/>
                </a:solidFill>
                <a:latin typeface="Calibri"/>
                <a:ea typeface="Calibri"/>
                <a:cs typeface="Calibri"/>
              </a:rPr>
              <a:t>Clear offers, delivery fee and totals, with free delivery from Rs. 5,000</a:t>
            </a:r>
          </a:p>
          <a:p>
            <a:pPr marL="190500" indent="-190500" algn="l">
              <a:spcAft>
                <a:spcPts val="500"/>
              </a:spcAft>
              <a:buSzPct val="100000"/>
              <a:buChar char="•"/>
            </a:pPr>
            <a:r>
              <a:rPr lang="en-US" sz="1100" dirty="0">
                <a:solidFill>
                  <a:srgbClr val="3D2925"/>
                </a:solidFill>
                <a:latin typeface="Calibri"/>
                <a:ea typeface="Calibri"/>
                <a:cs typeface="Calibri"/>
              </a:rPr>
              <a:t>Comfortable viewing with light and dark themes</a:t>
            </a:r>
          </a:p>
          <a:p>
            <a:pPr marL="190500" indent="-190500" algn="l">
              <a:spcAft>
                <a:spcPts val="500"/>
              </a:spcAft>
              <a:buSzPct val="100000"/>
              <a:buChar char="•"/>
            </a:pPr>
            <a:r>
              <a:rPr lang="en-US" sz="1100" dirty="0">
                <a:solidFill>
                  <a:srgbClr val="3D2925"/>
                </a:solidFill>
                <a:latin typeface="Calibri"/>
                <a:ea typeface="Calibri"/>
                <a:cs typeface="Calibri"/>
              </a:rPr>
              <a:t>Low running cost: no server or database needed</a:t>
            </a:r>
          </a:p>
        </p:txBody>
      </p:sp>
    </p:spTree>
  </p:cSld>
  <p:clrMapOvr>
    <a:masterClrMapping/>
  </p:clrMapOvr>
  <p:transition spd="med">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457200" y="292608"/>
            <a:ext cx="5486400" cy="228600"/>
          </a:xfrm>
          <a:prstGeom prst="rect">
            <a:avLst/>
          </a:prstGeom>
          <a:noFill/>
          <a:ln/>
        </p:spPr>
        <p:txBody>
          <a:bodyPr wrap="square" lIns="0" tIns="0" rIns="0" bIns="0" rtlCol="0" anchor="t"/>
          <a:lstStyle/>
          <a:p>
            <a:pPr marL="0" indent="0" algn="l">
              <a:buNone/>
            </a:pPr>
            <a:r>
              <a:rPr lang="en-US" sz="1100" b="1" spc="400" dirty="0">
                <a:solidFill>
                  <a:srgbClr val="B06A59"/>
                </a:solidFill>
                <a:latin typeface="Calibri"/>
                <a:ea typeface="Calibri"/>
                <a:cs typeface="Calibri"/>
              </a:rPr>
              <a:t>FUTURE SCOPE</a:t>
            </a:r>
          </a:p>
        </p:txBody>
      </p:sp>
      <p:sp>
        <p:nvSpPr>
          <p:cNvPr id="3" name="Title"/>
          <p:cNvSpPr txBox="1"/>
          <p:nvPr/>
        </p:nvSpPr>
        <p:spPr>
          <a:xfrm>
            <a:off x="457200" y="530352"/>
            <a:ext cx="8229600" cy="548640"/>
          </a:xfrm>
          <a:prstGeom prst="rect">
            <a:avLst/>
          </a:prstGeom>
          <a:noFill/>
          <a:ln/>
        </p:spPr>
        <p:txBody>
          <a:bodyPr wrap="square" lIns="0" tIns="0" rIns="0" bIns="0" rtlCol="0" anchor="t"/>
          <a:lstStyle/>
          <a:p>
            <a:pPr marL="0" indent="0" algn="l">
              <a:buNone/>
            </a:pPr>
            <a:r>
              <a:rPr lang="en-US" sz="3200" b="1" dirty="0">
                <a:solidFill>
                  <a:srgbClr val="765044"/>
                </a:solidFill>
                <a:latin typeface="Cambria"/>
                <a:ea typeface="Cambria"/>
                <a:cs typeface="Cambria"/>
              </a:rPr>
              <a:t>Where Bakerz Bite can grow</a:t>
            </a:r>
          </a:p>
        </p:txBody>
      </p:sp>
      <p:sp>
        <p:nvSpPr>
          <p:cNvPr id="9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14</a:t>
            </a:fld>
            <a:endParaRPr lang="en-US"/>
          </a:p>
        </p:txBody>
      </p:sp>
      <p:sp>
        <p:nvSpPr>
          <p:cNvPr id="11" name="Future_card_1"/>
          <p:cNvSpPr/>
          <p:nvPr/>
        </p:nvSpPr>
        <p:spPr>
          <a:xfrm>
            <a:off x="457200" y="128016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2" name="Future_1_circle"/>
          <p:cNvSpPr/>
          <p:nvPr/>
        </p:nvSpPr>
        <p:spPr>
          <a:xfrm>
            <a:off x="621792" y="1417320"/>
            <a:ext cx="384048" cy="384048"/>
          </a:xfrm>
          <a:prstGeom prst="ellipse">
            <a:avLst/>
          </a:prstGeom>
          <a:solidFill>
            <a:srgbClr val="765044"/>
          </a:solidFill>
          <a:ln w="12700">
            <a:solidFill>
              <a:srgbClr val="FFFFFF"/>
            </a:solidFill>
            <a:prstDash val="solid"/>
          </a:ln>
        </p:spPr>
        <p:txBody>
          <a:bodyPr/>
          <a:lstStyle/>
          <a:p>
            <a:endParaRPr lang="en-US"/>
          </a:p>
        </p:txBody>
      </p:sp>
      <p:pic>
        <p:nvPicPr>
          <p:cNvPr id="100" name="Future_1_icon" descr="FaServer.png"/>
          <p:cNvPicPr>
            <a:picLocks noChangeAspect="1"/>
          </p:cNvPicPr>
          <p:nvPr/>
        </p:nvPicPr>
        <p:blipFill>
          <a:blip r:embed="rId3"/>
          <a:stretch>
            <a:fillRect/>
          </a:stretch>
        </p:blipFill>
        <p:spPr>
          <a:xfrm>
            <a:off x="706283" y="1501811"/>
            <a:ext cx="215067" cy="215067"/>
          </a:xfrm>
          <a:prstGeom prst="rect">
            <a:avLst/>
          </a:prstGeom>
        </p:spPr>
      </p:pic>
      <p:sp>
        <p:nvSpPr>
          <p:cNvPr id="13" name="Future_head_1"/>
          <p:cNvSpPr txBox="1"/>
          <p:nvPr/>
        </p:nvSpPr>
        <p:spPr>
          <a:xfrm>
            <a:off x="1097280" y="141732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Back end and database</a:t>
            </a:r>
          </a:p>
        </p:txBody>
      </p:sp>
      <p:sp>
        <p:nvSpPr>
          <p:cNvPr id="14" name="Future_body_1"/>
          <p:cNvSpPr txBox="1"/>
          <p:nvPr/>
        </p:nvSpPr>
        <p:spPr>
          <a:xfrm>
            <a:off x="621792" y="192024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Node.js/Express with MongoDB or MySQL for products, users and orders.</a:t>
            </a:r>
          </a:p>
        </p:txBody>
      </p:sp>
      <p:sp>
        <p:nvSpPr>
          <p:cNvPr id="15" name="Future_card_2"/>
          <p:cNvSpPr/>
          <p:nvPr/>
        </p:nvSpPr>
        <p:spPr>
          <a:xfrm>
            <a:off x="2560320" y="128016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6" name="Future_2_circle"/>
          <p:cNvSpPr/>
          <p:nvPr/>
        </p:nvSpPr>
        <p:spPr>
          <a:xfrm>
            <a:off x="2724912" y="1417320"/>
            <a:ext cx="384048" cy="384048"/>
          </a:xfrm>
          <a:prstGeom prst="ellipse">
            <a:avLst/>
          </a:prstGeom>
          <a:solidFill>
            <a:srgbClr val="B06A59"/>
          </a:solidFill>
          <a:ln w="12700">
            <a:solidFill>
              <a:srgbClr val="FFFFFF"/>
            </a:solidFill>
            <a:prstDash val="solid"/>
          </a:ln>
        </p:spPr>
        <p:txBody>
          <a:bodyPr/>
          <a:lstStyle/>
          <a:p>
            <a:endParaRPr lang="en-US"/>
          </a:p>
        </p:txBody>
      </p:sp>
      <p:pic>
        <p:nvPicPr>
          <p:cNvPr id="101" name="Future_2_icon" descr="FaUserCircle.png"/>
          <p:cNvPicPr>
            <a:picLocks noChangeAspect="1"/>
          </p:cNvPicPr>
          <p:nvPr/>
        </p:nvPicPr>
        <p:blipFill>
          <a:blip r:embed="rId4"/>
          <a:stretch>
            <a:fillRect/>
          </a:stretch>
        </p:blipFill>
        <p:spPr>
          <a:xfrm>
            <a:off x="2809403" y="1501811"/>
            <a:ext cx="215067" cy="215067"/>
          </a:xfrm>
          <a:prstGeom prst="rect">
            <a:avLst/>
          </a:prstGeom>
        </p:spPr>
      </p:pic>
      <p:sp>
        <p:nvSpPr>
          <p:cNvPr id="17" name="Future_head_2"/>
          <p:cNvSpPr txBox="1"/>
          <p:nvPr/>
        </p:nvSpPr>
        <p:spPr>
          <a:xfrm>
            <a:off x="3200400" y="141732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User accounts</a:t>
            </a:r>
          </a:p>
        </p:txBody>
      </p:sp>
      <p:sp>
        <p:nvSpPr>
          <p:cNvPr id="18" name="Future_body_2"/>
          <p:cNvSpPr txBox="1"/>
          <p:nvPr/>
        </p:nvSpPr>
        <p:spPr>
          <a:xfrm>
            <a:off x="2724912" y="192024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Registration, login, order history and saved addresses.</a:t>
            </a:r>
          </a:p>
        </p:txBody>
      </p:sp>
      <p:sp>
        <p:nvSpPr>
          <p:cNvPr id="19" name="Future_card_3"/>
          <p:cNvSpPr/>
          <p:nvPr/>
        </p:nvSpPr>
        <p:spPr>
          <a:xfrm>
            <a:off x="4663440" y="128016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0" name="Future_3_circle"/>
          <p:cNvSpPr/>
          <p:nvPr/>
        </p:nvSpPr>
        <p:spPr>
          <a:xfrm>
            <a:off x="4828032" y="1417320"/>
            <a:ext cx="384048" cy="384048"/>
          </a:xfrm>
          <a:prstGeom prst="ellipse">
            <a:avLst/>
          </a:prstGeom>
          <a:solidFill>
            <a:srgbClr val="D99587"/>
          </a:solidFill>
          <a:ln w="12700">
            <a:solidFill>
              <a:srgbClr val="FFFFFF"/>
            </a:solidFill>
            <a:prstDash val="solid"/>
          </a:ln>
        </p:spPr>
        <p:txBody>
          <a:bodyPr/>
          <a:lstStyle/>
          <a:p>
            <a:endParaRPr lang="en-US"/>
          </a:p>
        </p:txBody>
      </p:sp>
      <p:pic>
        <p:nvPicPr>
          <p:cNvPr id="102" name="Future_3_icon" descr="FaCreditCard.png"/>
          <p:cNvPicPr>
            <a:picLocks noChangeAspect="1"/>
          </p:cNvPicPr>
          <p:nvPr/>
        </p:nvPicPr>
        <p:blipFill>
          <a:blip r:embed="rId5"/>
          <a:stretch>
            <a:fillRect/>
          </a:stretch>
        </p:blipFill>
        <p:spPr>
          <a:xfrm>
            <a:off x="4912523" y="1501811"/>
            <a:ext cx="215067" cy="215067"/>
          </a:xfrm>
          <a:prstGeom prst="rect">
            <a:avLst/>
          </a:prstGeom>
        </p:spPr>
      </p:pic>
      <p:sp>
        <p:nvSpPr>
          <p:cNvPr id="21" name="Future_head_3"/>
          <p:cNvSpPr txBox="1"/>
          <p:nvPr/>
        </p:nvSpPr>
        <p:spPr>
          <a:xfrm>
            <a:off x="5303520" y="141732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Real payments</a:t>
            </a:r>
          </a:p>
        </p:txBody>
      </p:sp>
      <p:sp>
        <p:nvSpPr>
          <p:cNvPr id="22" name="Future_body_3"/>
          <p:cNvSpPr txBox="1"/>
          <p:nvPr/>
        </p:nvSpPr>
        <p:spPr>
          <a:xfrm>
            <a:off x="4828032" y="192024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JazzCash, EasyPaisa, Stripe or PayPal, plus email/SMS confirmation.</a:t>
            </a:r>
          </a:p>
        </p:txBody>
      </p:sp>
      <p:sp>
        <p:nvSpPr>
          <p:cNvPr id="23" name="Future_card_4"/>
          <p:cNvSpPr/>
          <p:nvPr/>
        </p:nvSpPr>
        <p:spPr>
          <a:xfrm>
            <a:off x="6766560" y="128016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4" name="Future_4_circle"/>
          <p:cNvSpPr/>
          <p:nvPr/>
        </p:nvSpPr>
        <p:spPr>
          <a:xfrm>
            <a:off x="6931152" y="1417320"/>
            <a:ext cx="384048" cy="384048"/>
          </a:xfrm>
          <a:prstGeom prst="ellipse">
            <a:avLst/>
          </a:prstGeom>
          <a:solidFill>
            <a:srgbClr val="765044"/>
          </a:solidFill>
          <a:ln w="12700">
            <a:solidFill>
              <a:srgbClr val="FFFFFF"/>
            </a:solidFill>
            <a:prstDash val="solid"/>
          </a:ln>
        </p:spPr>
        <p:txBody>
          <a:bodyPr/>
          <a:lstStyle/>
          <a:p>
            <a:endParaRPr lang="en-US"/>
          </a:p>
        </p:txBody>
      </p:sp>
      <p:pic>
        <p:nvPicPr>
          <p:cNvPr id="103" name="Future_4_icon" descr="FaChartBar.png"/>
          <p:cNvPicPr>
            <a:picLocks noChangeAspect="1"/>
          </p:cNvPicPr>
          <p:nvPr/>
        </p:nvPicPr>
        <p:blipFill>
          <a:blip r:embed="rId6"/>
          <a:stretch>
            <a:fillRect/>
          </a:stretch>
        </p:blipFill>
        <p:spPr>
          <a:xfrm>
            <a:off x="7015643" y="1501811"/>
            <a:ext cx="215067" cy="215067"/>
          </a:xfrm>
          <a:prstGeom prst="rect">
            <a:avLst/>
          </a:prstGeom>
        </p:spPr>
      </p:pic>
      <p:sp>
        <p:nvSpPr>
          <p:cNvPr id="25" name="Future_head_4"/>
          <p:cNvSpPr txBox="1"/>
          <p:nvPr/>
        </p:nvSpPr>
        <p:spPr>
          <a:xfrm>
            <a:off x="7406640" y="141732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Admin dashboard</a:t>
            </a:r>
          </a:p>
        </p:txBody>
      </p:sp>
      <p:sp>
        <p:nvSpPr>
          <p:cNvPr id="26" name="Future_body_4"/>
          <p:cNvSpPr txBox="1"/>
          <p:nvPr/>
        </p:nvSpPr>
        <p:spPr>
          <a:xfrm>
            <a:off x="6931152" y="192024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Manage products, prices, offers, orders and reviews.</a:t>
            </a:r>
          </a:p>
        </p:txBody>
      </p:sp>
      <p:sp>
        <p:nvSpPr>
          <p:cNvPr id="27" name="Future_card_5"/>
          <p:cNvSpPr/>
          <p:nvPr/>
        </p:nvSpPr>
        <p:spPr>
          <a:xfrm>
            <a:off x="457200" y="292608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28" name="Future_5_circle"/>
          <p:cNvSpPr/>
          <p:nvPr/>
        </p:nvSpPr>
        <p:spPr>
          <a:xfrm>
            <a:off x="621792" y="3063240"/>
            <a:ext cx="384048" cy="384048"/>
          </a:xfrm>
          <a:prstGeom prst="ellipse">
            <a:avLst/>
          </a:prstGeom>
          <a:solidFill>
            <a:srgbClr val="B06A59"/>
          </a:solidFill>
          <a:ln w="12700">
            <a:solidFill>
              <a:srgbClr val="FFFFFF"/>
            </a:solidFill>
            <a:prstDash val="solid"/>
          </a:ln>
        </p:spPr>
        <p:txBody>
          <a:bodyPr/>
          <a:lstStyle/>
          <a:p>
            <a:endParaRPr lang="en-US"/>
          </a:p>
        </p:txBody>
      </p:sp>
      <p:pic>
        <p:nvPicPr>
          <p:cNvPr id="104" name="Future_5_icon" descr="FaTruck.png"/>
          <p:cNvPicPr>
            <a:picLocks noChangeAspect="1"/>
          </p:cNvPicPr>
          <p:nvPr/>
        </p:nvPicPr>
        <p:blipFill>
          <a:blip r:embed="rId7"/>
          <a:stretch>
            <a:fillRect/>
          </a:stretch>
        </p:blipFill>
        <p:spPr>
          <a:xfrm>
            <a:off x="706283" y="3147731"/>
            <a:ext cx="215067" cy="215067"/>
          </a:xfrm>
          <a:prstGeom prst="rect">
            <a:avLst/>
          </a:prstGeom>
        </p:spPr>
      </p:pic>
      <p:sp>
        <p:nvSpPr>
          <p:cNvPr id="29" name="Future_head_5"/>
          <p:cNvSpPr txBox="1"/>
          <p:nvPr/>
        </p:nvSpPr>
        <p:spPr>
          <a:xfrm>
            <a:off x="1097280" y="306324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Order tracking</a:t>
            </a:r>
          </a:p>
        </p:txBody>
      </p:sp>
      <p:sp>
        <p:nvSpPr>
          <p:cNvPr id="30" name="Future_body_5"/>
          <p:cNvSpPr txBox="1"/>
          <p:nvPr/>
        </p:nvSpPr>
        <p:spPr>
          <a:xfrm>
            <a:off x="621792" y="356616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Live status (received, baking, out for delivery) with maps.</a:t>
            </a:r>
          </a:p>
        </p:txBody>
      </p:sp>
      <p:sp>
        <p:nvSpPr>
          <p:cNvPr id="31" name="Future_card_6"/>
          <p:cNvSpPr/>
          <p:nvPr/>
        </p:nvSpPr>
        <p:spPr>
          <a:xfrm>
            <a:off x="2560320" y="292608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32" name="Future_6_circle"/>
          <p:cNvSpPr/>
          <p:nvPr/>
        </p:nvSpPr>
        <p:spPr>
          <a:xfrm>
            <a:off x="2724912" y="3063240"/>
            <a:ext cx="384048" cy="384048"/>
          </a:xfrm>
          <a:prstGeom prst="ellipse">
            <a:avLst/>
          </a:prstGeom>
          <a:solidFill>
            <a:srgbClr val="D99587"/>
          </a:solidFill>
          <a:ln w="12700">
            <a:solidFill>
              <a:srgbClr val="FFFFFF"/>
            </a:solidFill>
            <a:prstDash val="solid"/>
          </a:ln>
        </p:spPr>
        <p:txBody>
          <a:bodyPr/>
          <a:lstStyle/>
          <a:p>
            <a:endParaRPr lang="en-US"/>
          </a:p>
        </p:txBody>
      </p:sp>
      <p:pic>
        <p:nvPicPr>
          <p:cNvPr id="105" name="Future_6_icon" descr="FaGift.png"/>
          <p:cNvPicPr>
            <a:picLocks noChangeAspect="1"/>
          </p:cNvPicPr>
          <p:nvPr/>
        </p:nvPicPr>
        <p:blipFill>
          <a:blip r:embed="rId8"/>
          <a:stretch>
            <a:fillRect/>
          </a:stretch>
        </p:blipFill>
        <p:spPr>
          <a:xfrm>
            <a:off x="2809403" y="3147731"/>
            <a:ext cx="215067" cy="215067"/>
          </a:xfrm>
          <a:prstGeom prst="rect">
            <a:avLst/>
          </a:prstGeom>
        </p:spPr>
      </p:pic>
      <p:sp>
        <p:nvSpPr>
          <p:cNvPr id="33" name="Future_head_6"/>
          <p:cNvSpPr txBox="1"/>
          <p:nvPr/>
        </p:nvSpPr>
        <p:spPr>
          <a:xfrm>
            <a:off x="3200400" y="306324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Coupons and loyalty</a:t>
            </a:r>
          </a:p>
        </p:txBody>
      </p:sp>
      <p:sp>
        <p:nvSpPr>
          <p:cNvPr id="34" name="Future_body_6"/>
          <p:cNvSpPr txBox="1"/>
          <p:nvPr/>
        </p:nvSpPr>
        <p:spPr>
          <a:xfrm>
            <a:off x="2724912" y="356616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Coupon codes, loyalty points and gift cards.</a:t>
            </a:r>
          </a:p>
        </p:txBody>
      </p:sp>
      <p:sp>
        <p:nvSpPr>
          <p:cNvPr id="35" name="Future_card_7"/>
          <p:cNvSpPr/>
          <p:nvPr/>
        </p:nvSpPr>
        <p:spPr>
          <a:xfrm>
            <a:off x="4663440" y="292608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36" name="Future_7_circle"/>
          <p:cNvSpPr/>
          <p:nvPr/>
        </p:nvSpPr>
        <p:spPr>
          <a:xfrm>
            <a:off x="4828032" y="3063240"/>
            <a:ext cx="384048" cy="384048"/>
          </a:xfrm>
          <a:prstGeom prst="ellipse">
            <a:avLst/>
          </a:prstGeom>
          <a:solidFill>
            <a:srgbClr val="765044"/>
          </a:solidFill>
          <a:ln w="12700">
            <a:solidFill>
              <a:srgbClr val="FFFFFF"/>
            </a:solidFill>
            <a:prstDash val="solid"/>
          </a:ln>
        </p:spPr>
        <p:txBody>
          <a:bodyPr/>
          <a:lstStyle/>
          <a:p>
            <a:endParaRPr lang="en-US"/>
          </a:p>
        </p:txBody>
      </p:sp>
      <p:pic>
        <p:nvPicPr>
          <p:cNvPr id="106" name="Future_7_icon" descr="FaMobileAlt.png"/>
          <p:cNvPicPr>
            <a:picLocks noChangeAspect="1"/>
          </p:cNvPicPr>
          <p:nvPr/>
        </p:nvPicPr>
        <p:blipFill>
          <a:blip r:embed="rId9"/>
          <a:stretch>
            <a:fillRect/>
          </a:stretch>
        </p:blipFill>
        <p:spPr>
          <a:xfrm>
            <a:off x="4912523" y="3147731"/>
            <a:ext cx="215067" cy="215067"/>
          </a:xfrm>
          <a:prstGeom prst="rect">
            <a:avLst/>
          </a:prstGeom>
        </p:spPr>
      </p:pic>
      <p:sp>
        <p:nvSpPr>
          <p:cNvPr id="37" name="Future_head_7"/>
          <p:cNvSpPr txBox="1"/>
          <p:nvPr/>
        </p:nvSpPr>
        <p:spPr>
          <a:xfrm>
            <a:off x="5303520" y="306324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PWA and offline</a:t>
            </a:r>
          </a:p>
        </p:txBody>
      </p:sp>
      <p:sp>
        <p:nvSpPr>
          <p:cNvPr id="38" name="Future_body_7"/>
          <p:cNvSpPr txBox="1"/>
          <p:nvPr/>
        </p:nvSpPr>
        <p:spPr>
          <a:xfrm>
            <a:off x="4828032" y="356616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An installable app with offline mode using service workers.</a:t>
            </a:r>
          </a:p>
        </p:txBody>
      </p:sp>
      <p:sp>
        <p:nvSpPr>
          <p:cNvPr id="39" name="Future_card_8"/>
          <p:cNvSpPr/>
          <p:nvPr/>
        </p:nvSpPr>
        <p:spPr>
          <a:xfrm>
            <a:off x="6766560" y="2926080"/>
            <a:ext cx="1920240" cy="1481328"/>
          </a:xfrm>
          <a:prstGeom prst="roundRect">
            <a:avLst>
              <a:gd name="adj" fmla="val 6172"/>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40" name="Future_8_circle"/>
          <p:cNvSpPr/>
          <p:nvPr/>
        </p:nvSpPr>
        <p:spPr>
          <a:xfrm>
            <a:off x="6931152" y="3063240"/>
            <a:ext cx="384048" cy="384048"/>
          </a:xfrm>
          <a:prstGeom prst="ellipse">
            <a:avLst/>
          </a:prstGeom>
          <a:solidFill>
            <a:srgbClr val="B06A59"/>
          </a:solidFill>
          <a:ln w="12700">
            <a:solidFill>
              <a:srgbClr val="FFFFFF"/>
            </a:solidFill>
            <a:prstDash val="solid"/>
          </a:ln>
        </p:spPr>
        <p:txBody>
          <a:bodyPr/>
          <a:lstStyle/>
          <a:p>
            <a:endParaRPr lang="en-US"/>
          </a:p>
        </p:txBody>
      </p:sp>
      <p:pic>
        <p:nvPicPr>
          <p:cNvPr id="107" name="Future_8_icon" descr="FaLanguage.png"/>
          <p:cNvPicPr>
            <a:picLocks noChangeAspect="1"/>
          </p:cNvPicPr>
          <p:nvPr/>
        </p:nvPicPr>
        <p:blipFill>
          <a:blip r:embed="rId10"/>
          <a:stretch>
            <a:fillRect/>
          </a:stretch>
        </p:blipFill>
        <p:spPr>
          <a:xfrm>
            <a:off x="7015643" y="3147731"/>
            <a:ext cx="215067" cy="215067"/>
          </a:xfrm>
          <a:prstGeom prst="rect">
            <a:avLst/>
          </a:prstGeom>
        </p:spPr>
      </p:pic>
      <p:sp>
        <p:nvSpPr>
          <p:cNvPr id="41" name="Future_head_8"/>
          <p:cNvSpPr txBox="1"/>
          <p:nvPr/>
        </p:nvSpPr>
        <p:spPr>
          <a:xfrm>
            <a:off x="7406640" y="3063240"/>
            <a:ext cx="1188720" cy="384048"/>
          </a:xfrm>
          <a:prstGeom prst="rect">
            <a:avLst/>
          </a:prstGeom>
          <a:noFill/>
          <a:ln/>
        </p:spPr>
        <p:txBody>
          <a:bodyPr wrap="square" lIns="0" tIns="0" rIns="0" bIns="0" rtlCol="0" anchor="ctr"/>
          <a:lstStyle/>
          <a:p>
            <a:pPr marL="0" indent="0" algn="l">
              <a:buNone/>
            </a:pPr>
            <a:r>
              <a:rPr lang="en-US" sz="1150" b="1" dirty="0">
                <a:solidFill>
                  <a:srgbClr val="765044"/>
                </a:solidFill>
                <a:latin typeface="Cambria"/>
                <a:ea typeface="Cambria"/>
                <a:cs typeface="Cambria"/>
              </a:rPr>
              <a:t>More languages</a:t>
            </a:r>
          </a:p>
        </p:txBody>
      </p:sp>
      <p:sp>
        <p:nvSpPr>
          <p:cNvPr id="42" name="Future_body_8"/>
          <p:cNvSpPr txBox="1"/>
          <p:nvPr/>
        </p:nvSpPr>
        <p:spPr>
          <a:xfrm>
            <a:off x="6931152" y="3566160"/>
            <a:ext cx="1627632" cy="804672"/>
          </a:xfrm>
          <a:prstGeom prst="rect">
            <a:avLst/>
          </a:prstGeom>
          <a:noFill/>
          <a:ln/>
        </p:spPr>
        <p:txBody>
          <a:bodyPr wrap="square" lIns="0" tIns="0" rIns="0" bIns="0" rtlCol="0" anchor="t"/>
          <a:lstStyle/>
          <a:p>
            <a:pPr marL="0" indent="0" algn="l">
              <a:buNone/>
            </a:pPr>
            <a:r>
              <a:rPr lang="en-US" sz="1050" dirty="0">
                <a:solidFill>
                  <a:srgbClr val="3D2925"/>
                </a:solidFill>
                <a:latin typeface="Calibri"/>
                <a:ea typeface="Calibri"/>
                <a:cs typeface="Calibri"/>
              </a:rPr>
              <a:t>English/Urdu support and multiple currencies.</a:t>
            </a:r>
          </a:p>
        </p:txBody>
      </p:sp>
    </p:spTree>
  </p:cSld>
  <p:clrMapOvr>
    <a:masterClrMapping/>
  </p:clrMapOvr>
  <p:transition spd="med">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yebrow"/>
          <p:cNvSpPr txBox="1"/>
          <p:nvPr/>
        </p:nvSpPr>
        <p:spPr>
          <a:xfrm>
            <a:off x="457200" y="292608"/>
            <a:ext cx="5486400" cy="228600"/>
          </a:xfrm>
          <a:prstGeom prst="rect">
            <a:avLst/>
          </a:prstGeom>
          <a:noFill/>
          <a:ln/>
        </p:spPr>
        <p:txBody>
          <a:bodyPr wrap="square" lIns="0" tIns="0" rIns="0" bIns="0" rtlCol="0" anchor="t"/>
          <a:lstStyle/>
          <a:p>
            <a:pPr marL="0" indent="0" algn="l">
              <a:buNone/>
            </a:pPr>
            <a:r>
              <a:rPr lang="en-US" sz="1100" b="1" spc="400" dirty="0">
                <a:solidFill>
                  <a:srgbClr val="B06A59"/>
                </a:solidFill>
                <a:latin typeface="Calibri"/>
                <a:ea typeface="Calibri"/>
                <a:cs typeface="Calibri"/>
              </a:rPr>
              <a:t>CONCLUSION</a:t>
            </a:r>
          </a:p>
        </p:txBody>
      </p:sp>
      <p:sp>
        <p:nvSpPr>
          <p:cNvPr id="3" name="Title"/>
          <p:cNvSpPr txBox="1"/>
          <p:nvPr/>
        </p:nvSpPr>
        <p:spPr>
          <a:xfrm>
            <a:off x="457200" y="530352"/>
            <a:ext cx="8229600" cy="548640"/>
          </a:xfrm>
          <a:prstGeom prst="rect">
            <a:avLst/>
          </a:prstGeom>
          <a:noFill/>
          <a:ln/>
        </p:spPr>
        <p:txBody>
          <a:bodyPr wrap="square" lIns="0" tIns="0" rIns="0" bIns="0" rtlCol="0" anchor="t"/>
          <a:lstStyle/>
          <a:p>
            <a:pPr marL="0" indent="0" algn="l">
              <a:buNone/>
            </a:pPr>
            <a:r>
              <a:rPr lang="en-US" sz="3200" b="1" dirty="0">
                <a:solidFill>
                  <a:srgbClr val="765044"/>
                </a:solidFill>
                <a:latin typeface="Cambria"/>
                <a:ea typeface="Cambria"/>
                <a:cs typeface="Cambria"/>
              </a:rPr>
              <a:t>What we delivered and learned</a:t>
            </a:r>
          </a:p>
        </p:txBody>
      </p:sp>
      <p:sp>
        <p:nvSpPr>
          <p:cNvPr id="99" name="Slide Number Placeholder 0"/>
          <p:cNvSpPr>
            <a:spLocks noGrp="1"/>
          </p:cNvSpPr>
          <p:nvPr>
            <p:ph type="sldNum" sz="quarter" idx="4294967295"/>
          </p:nvPr>
        </p:nvSpPr>
        <p:spPr>
          <a:xfrm>
            <a:off x="8412480" y="475488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65044"/>
                </a:solidFill>
                <a:latin typeface="Calibri"/>
                <a:ea typeface="Calibri"/>
                <a:cs typeface="Calibri"/>
              </a:defRPr>
            </a:lvl1pPr>
          </a:lstStyle>
          <a:p>
            <a:pPr algn="r"/>
            <a:fld id="{F7021451-1387-4CA6-816F-3879F97B5CBC}" type="slidenum">
              <a:rPr lang="en-US" b="0"/>
              <a:t>15</a:t>
            </a:fld>
            <a:endParaRPr lang="en-US"/>
          </a:p>
        </p:txBody>
      </p:sp>
      <p:sp>
        <p:nvSpPr>
          <p:cNvPr id="11" name="Conclusion_card_1"/>
          <p:cNvSpPr/>
          <p:nvPr/>
        </p:nvSpPr>
        <p:spPr>
          <a:xfrm>
            <a:off x="457200" y="1234440"/>
            <a:ext cx="4023360" cy="2697480"/>
          </a:xfrm>
          <a:prstGeom prst="roundRect">
            <a:avLst>
              <a:gd name="adj" fmla="val 3389"/>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2" name="Conclusion_1_circle"/>
          <p:cNvSpPr/>
          <p:nvPr/>
        </p:nvSpPr>
        <p:spPr>
          <a:xfrm>
            <a:off x="658368" y="1371600"/>
            <a:ext cx="457200" cy="457200"/>
          </a:xfrm>
          <a:prstGeom prst="ellipse">
            <a:avLst/>
          </a:prstGeom>
          <a:solidFill>
            <a:srgbClr val="765044"/>
          </a:solidFill>
          <a:ln w="12700">
            <a:solidFill>
              <a:srgbClr val="FFFFFF"/>
            </a:solidFill>
            <a:prstDash val="solid"/>
          </a:ln>
        </p:spPr>
        <p:txBody>
          <a:bodyPr/>
          <a:lstStyle/>
          <a:p>
            <a:endParaRPr lang="en-US"/>
          </a:p>
        </p:txBody>
      </p:sp>
      <p:pic>
        <p:nvPicPr>
          <p:cNvPr id="100" name="Conclusion_1_icon" descr="FaCheckCircle.png"/>
          <p:cNvPicPr>
            <a:picLocks noChangeAspect="1"/>
          </p:cNvPicPr>
          <p:nvPr/>
        </p:nvPicPr>
        <p:blipFill>
          <a:blip r:embed="rId3"/>
          <a:stretch>
            <a:fillRect/>
          </a:stretch>
        </p:blipFill>
        <p:spPr>
          <a:xfrm>
            <a:off x="758952" y="1472184"/>
            <a:ext cx="256032" cy="256032"/>
          </a:xfrm>
          <a:prstGeom prst="rect">
            <a:avLst/>
          </a:prstGeom>
        </p:spPr>
      </p:pic>
      <p:sp>
        <p:nvSpPr>
          <p:cNvPr id="13" name="Conclusion_head_1"/>
          <p:cNvSpPr txBox="1"/>
          <p:nvPr/>
        </p:nvSpPr>
        <p:spPr>
          <a:xfrm>
            <a:off x="1261872" y="1371600"/>
            <a:ext cx="3017520" cy="457200"/>
          </a:xfrm>
          <a:prstGeom prst="rect">
            <a:avLst/>
          </a:prstGeom>
          <a:noFill/>
          <a:ln/>
        </p:spPr>
        <p:txBody>
          <a:bodyPr wrap="square" lIns="0" tIns="0" rIns="0" bIns="0" rtlCol="0" anchor="ctr"/>
          <a:lstStyle/>
          <a:p>
            <a:pPr marL="0" indent="0" algn="l">
              <a:buNone/>
            </a:pPr>
            <a:r>
              <a:rPr lang="en-US" sz="1600" b="1" dirty="0">
                <a:solidFill>
                  <a:srgbClr val="765044"/>
                </a:solidFill>
                <a:latin typeface="Cambria"/>
                <a:ea typeface="Cambria"/>
                <a:cs typeface="Cambria"/>
              </a:rPr>
              <a:t>What we delivered</a:t>
            </a:r>
          </a:p>
        </p:txBody>
      </p:sp>
      <p:sp>
        <p:nvSpPr>
          <p:cNvPr id="14" name="Conclusion_list_1"/>
          <p:cNvSpPr txBox="1"/>
          <p:nvPr/>
        </p:nvSpPr>
        <p:spPr>
          <a:xfrm>
            <a:off x="685800" y="1965960"/>
            <a:ext cx="3611880" cy="1920240"/>
          </a:xfrm>
          <a:prstGeom prst="rect">
            <a:avLst/>
          </a:prstGeom>
          <a:noFill/>
          <a:ln/>
        </p:spPr>
        <p:txBody>
          <a:bodyPr wrap="square" lIns="0" tIns="0" rIns="0" bIns="0" rtlCol="0" anchor="t"/>
          <a:lstStyle/>
          <a:p>
            <a:pPr marL="190500" indent="-190500" algn="l">
              <a:spcAft>
                <a:spcPts val="800"/>
              </a:spcAft>
              <a:buSzPct val="100000"/>
              <a:buChar char="•"/>
            </a:pPr>
            <a:r>
              <a:rPr lang="en-US" sz="1200" dirty="0">
                <a:solidFill>
                  <a:srgbClr val="3D2925"/>
                </a:solidFill>
                <a:latin typeface="Calibri"/>
                <a:ea typeface="Calibri"/>
                <a:cs typeface="Calibri"/>
              </a:rPr>
              <a:t>A responsive, accessible 26-page bakery website</a:t>
            </a:r>
          </a:p>
          <a:p>
            <a:pPr marL="190500" indent="-190500" algn="l">
              <a:spcAft>
                <a:spcPts val="800"/>
              </a:spcAft>
              <a:buSzPct val="100000"/>
              <a:buChar char="•"/>
            </a:pPr>
            <a:r>
              <a:rPr lang="en-US" sz="1200" dirty="0">
                <a:solidFill>
                  <a:srgbClr val="3D2925"/>
                </a:solidFill>
                <a:latin typeface="Calibri"/>
                <a:ea typeface="Calibri"/>
                <a:cs typeface="Calibri"/>
              </a:rPr>
              <a:t>56 products, 14 categories, search, filters and a wishlist</a:t>
            </a:r>
          </a:p>
          <a:p>
            <a:pPr marL="190500" indent="-190500" algn="l">
              <a:spcAft>
                <a:spcPts val="800"/>
              </a:spcAft>
              <a:buSzPct val="100000"/>
              <a:buChar char="•"/>
            </a:pPr>
            <a:r>
              <a:rPr lang="en-US" sz="1200" dirty="0">
                <a:solidFill>
                  <a:srgbClr val="3D2925"/>
                </a:solidFill>
                <a:latin typeface="Calibri"/>
                <a:ea typeface="Calibri"/>
                <a:cs typeface="Calibri"/>
              </a:rPr>
              <a:t>Customisation with live price, automatic offers and a validated checkout</a:t>
            </a:r>
          </a:p>
          <a:p>
            <a:pPr marL="190500" indent="-190500" algn="l">
              <a:spcAft>
                <a:spcPts val="800"/>
              </a:spcAft>
              <a:buSzPct val="100000"/>
              <a:buChar char="•"/>
            </a:pPr>
            <a:r>
              <a:rPr lang="en-US" sz="1200" dirty="0">
                <a:solidFill>
                  <a:srgbClr val="3D2925"/>
                </a:solidFill>
                <a:latin typeface="Calibri"/>
                <a:ea typeface="Calibri"/>
                <a:cs typeface="Calibri"/>
              </a:rPr>
              <a:t>Light and dark themes; jQuery and XML added as enhancements</a:t>
            </a:r>
          </a:p>
        </p:txBody>
      </p:sp>
      <p:sp>
        <p:nvSpPr>
          <p:cNvPr id="15" name="Conclusion_card_2"/>
          <p:cNvSpPr/>
          <p:nvPr/>
        </p:nvSpPr>
        <p:spPr>
          <a:xfrm>
            <a:off x="4663440" y="1234440"/>
            <a:ext cx="4023360" cy="2697480"/>
          </a:xfrm>
          <a:prstGeom prst="roundRect">
            <a:avLst>
              <a:gd name="adj" fmla="val 3389"/>
            </a:avLst>
          </a:prstGeom>
          <a:solidFill>
            <a:srgbClr val="FFFFFF"/>
          </a:solidFill>
          <a:ln w="9525">
            <a:solidFill>
              <a:srgbClr val="F2C4B5"/>
            </a:solidFill>
            <a:prstDash val="solid"/>
          </a:ln>
          <a:effectLst>
            <a:outerShdw blurRad="127000" dist="38100" dir="5400000" algn="bl" rotWithShape="0">
              <a:srgbClr val="3D2925">
                <a:alpha val="18000"/>
              </a:srgbClr>
            </a:outerShdw>
          </a:effectLst>
        </p:spPr>
        <p:txBody>
          <a:bodyPr/>
          <a:lstStyle/>
          <a:p>
            <a:endParaRPr lang="en-US"/>
          </a:p>
        </p:txBody>
      </p:sp>
      <p:sp>
        <p:nvSpPr>
          <p:cNvPr id="16" name="Conclusion_2_circle"/>
          <p:cNvSpPr/>
          <p:nvPr/>
        </p:nvSpPr>
        <p:spPr>
          <a:xfrm>
            <a:off x="4864608" y="1371600"/>
            <a:ext cx="457200" cy="457200"/>
          </a:xfrm>
          <a:prstGeom prst="ellipse">
            <a:avLst/>
          </a:prstGeom>
          <a:solidFill>
            <a:srgbClr val="D99587"/>
          </a:solidFill>
          <a:ln w="12700">
            <a:solidFill>
              <a:srgbClr val="FFFFFF"/>
            </a:solidFill>
            <a:prstDash val="solid"/>
          </a:ln>
        </p:spPr>
        <p:txBody>
          <a:bodyPr/>
          <a:lstStyle/>
          <a:p>
            <a:endParaRPr lang="en-US"/>
          </a:p>
        </p:txBody>
      </p:sp>
      <p:pic>
        <p:nvPicPr>
          <p:cNvPr id="101" name="Conclusion_2_icon" descr="image.png"/>
          <p:cNvPicPr>
            <a:picLocks noChangeAspect="1"/>
          </p:cNvPicPr>
          <p:nvPr/>
        </p:nvPicPr>
        <p:blipFill>
          <a:blip r:embed="rId4"/>
          <a:stretch>
            <a:fillRect/>
          </a:stretch>
        </p:blipFill>
        <p:spPr>
          <a:xfrm>
            <a:off x="4965192" y="1472184"/>
            <a:ext cx="256032" cy="256032"/>
          </a:xfrm>
          <a:prstGeom prst="rect">
            <a:avLst/>
          </a:prstGeom>
        </p:spPr>
      </p:pic>
      <p:sp>
        <p:nvSpPr>
          <p:cNvPr id="17" name="Conclusion_head_2"/>
          <p:cNvSpPr txBox="1"/>
          <p:nvPr/>
        </p:nvSpPr>
        <p:spPr>
          <a:xfrm>
            <a:off x="5468112" y="1371600"/>
            <a:ext cx="3017520" cy="457200"/>
          </a:xfrm>
          <a:prstGeom prst="rect">
            <a:avLst/>
          </a:prstGeom>
          <a:noFill/>
          <a:ln/>
        </p:spPr>
        <p:txBody>
          <a:bodyPr wrap="square" lIns="0" tIns="0" rIns="0" bIns="0" rtlCol="0" anchor="ctr"/>
          <a:lstStyle/>
          <a:p>
            <a:pPr marL="0" indent="0" algn="l">
              <a:buNone/>
            </a:pPr>
            <a:r>
              <a:rPr lang="en-US" sz="1600" b="1" dirty="0">
                <a:solidFill>
                  <a:srgbClr val="765044"/>
                </a:solidFill>
                <a:latin typeface="Cambria"/>
                <a:ea typeface="Cambria"/>
                <a:cs typeface="Cambria"/>
              </a:rPr>
              <a:t>What we learned</a:t>
            </a:r>
          </a:p>
        </p:txBody>
      </p:sp>
      <p:sp>
        <p:nvSpPr>
          <p:cNvPr id="18" name="Conclusion_list_2"/>
          <p:cNvSpPr txBox="1"/>
          <p:nvPr/>
        </p:nvSpPr>
        <p:spPr>
          <a:xfrm>
            <a:off x="4892040" y="1965960"/>
            <a:ext cx="3611880" cy="1920240"/>
          </a:xfrm>
          <a:prstGeom prst="rect">
            <a:avLst/>
          </a:prstGeom>
          <a:noFill/>
          <a:ln/>
        </p:spPr>
        <p:txBody>
          <a:bodyPr wrap="square" lIns="0" tIns="0" rIns="0" bIns="0" rtlCol="0" anchor="t"/>
          <a:lstStyle/>
          <a:p>
            <a:pPr marL="190500" indent="-190500" algn="l">
              <a:spcAft>
                <a:spcPts val="800"/>
              </a:spcAft>
              <a:buSzPct val="100000"/>
              <a:buChar char="•"/>
            </a:pPr>
            <a:r>
              <a:rPr lang="en-US" sz="1200" dirty="0">
                <a:solidFill>
                  <a:srgbClr val="3D2925"/>
                </a:solidFill>
                <a:latin typeface="Calibri"/>
                <a:ea typeface="Calibri"/>
                <a:cs typeface="Calibri"/>
              </a:rPr>
              <a:t>Structuring a multi-page project around one shared script</a:t>
            </a:r>
          </a:p>
          <a:p>
            <a:pPr marL="190500" indent="-190500" algn="l">
              <a:spcAft>
                <a:spcPts val="800"/>
              </a:spcAft>
              <a:buSzPct val="100000"/>
              <a:buChar char="•"/>
            </a:pPr>
            <a:r>
              <a:rPr lang="en-US" sz="1200" dirty="0">
                <a:solidFill>
                  <a:srgbClr val="3D2925"/>
                </a:solidFill>
                <a:latin typeface="Calibri"/>
                <a:ea typeface="Calibri"/>
                <a:cs typeface="Calibri"/>
              </a:rPr>
              <a:t>Building reusable components without a framework</a:t>
            </a:r>
          </a:p>
          <a:p>
            <a:pPr marL="190500" indent="-190500" algn="l">
              <a:spcAft>
                <a:spcPts val="800"/>
              </a:spcAft>
              <a:buSzPct val="100000"/>
              <a:buChar char="•"/>
            </a:pPr>
            <a:r>
              <a:rPr lang="en-US" sz="1200" dirty="0">
                <a:solidFill>
                  <a:srgbClr val="3D2925"/>
                </a:solidFill>
                <a:latin typeface="Calibri"/>
                <a:ea typeface="Calibri"/>
                <a:cs typeface="Calibri"/>
              </a:rPr>
              <a:t>Managing state in the browser with localStorage</a:t>
            </a:r>
          </a:p>
          <a:p>
            <a:pPr marL="190500" indent="-190500" algn="l">
              <a:spcAft>
                <a:spcPts val="800"/>
              </a:spcAft>
              <a:buSzPct val="100000"/>
              <a:buChar char="•"/>
            </a:pPr>
            <a:r>
              <a:rPr lang="en-US" sz="1200" dirty="0">
                <a:solidFill>
                  <a:srgbClr val="3D2925"/>
                </a:solidFill>
                <a:latin typeface="Calibri"/>
                <a:ea typeface="Calibri"/>
                <a:cs typeface="Calibri"/>
              </a:rPr>
              <a:t>Validating user input and documenting a project professionally</a:t>
            </a:r>
          </a:p>
        </p:txBody>
      </p:sp>
      <p:sp>
        <p:nvSpPr>
          <p:cNvPr id="19" name="Closing_bar"/>
          <p:cNvSpPr/>
          <p:nvPr/>
        </p:nvSpPr>
        <p:spPr>
          <a:xfrm>
            <a:off x="457200" y="4114800"/>
            <a:ext cx="8229600" cy="411480"/>
          </a:xfrm>
          <a:prstGeom prst="roundRect">
            <a:avLst>
              <a:gd name="adj" fmla="val 48888"/>
            </a:avLst>
          </a:prstGeom>
          <a:solidFill>
            <a:srgbClr val="3D2925"/>
          </a:solidFill>
          <a:ln>
            <a:noFill/>
          </a:ln>
        </p:spPr>
        <p:txBody>
          <a:bodyPr wrap="square" lIns="73152" tIns="36576" rIns="73152" bIns="36576" rtlCol="0" anchor="ctr"/>
          <a:lstStyle/>
          <a:p>
            <a:pPr marL="0" indent="0" algn="ctr">
              <a:buNone/>
            </a:pPr>
            <a:r>
              <a:rPr lang="en-US" sz="1250" b="1" dirty="0">
                <a:solidFill>
                  <a:srgbClr val="FFFFFF"/>
                </a:solidFill>
                <a:latin typeface="Calibri"/>
                <a:ea typeface="Calibri"/>
                <a:cs typeface="Calibri"/>
              </a:rPr>
              <a:t>Front-end only today, and ready to grow with a back end, payments and an admin panel</a:t>
            </a:r>
          </a:p>
        </p:txBody>
      </p:sp>
    </p:spTree>
  </p:cSld>
  <p:clrMapOvr>
    <a:masterClrMapping/>
  </p:clrMapOvr>
  <p:transition spd="med">
    <p:fade/>
  </p:transition>
</p:sld>
</file>

<file path=ppt/slides/slide16.xml><?xml version="1.0" encoding="utf-8"?>
<p:sld xmlns:a="http://schemas.openxmlformats.org/drawingml/2006/main" xmlns:r="http://schemas.openxmlformats.org/officeDocument/2006/relationships" xmlns:p="http://schemas.openxmlformats.org/presentationml/2006/main">
  <p:cSld name="Slide 10">
    <p:bg>
      <p:bgPr>
        <a:solidFill>
          <a:srgbClr val="FCF1E7"/>
        </a:solidFill>
        <a:effectLst/>
      </p:bgPr>
    </p:bg>
    <p:spTree>
      <p:nvGrpSpPr>
        <p:cNvPr id="1" name=""/>
        <p:cNvGrpSpPr/>
        <p:nvPr/>
      </p:nvGrpSpPr>
      <p:grpSpPr>
        <a:xfrm>
          <a:off x="0" y="0"/>
          <a:ext cx="0" cy="0"/>
          <a:chOff x="0" y="0"/>
          <a:chExt cx="0" cy="0"/>
        </a:xfrm>
      </p:grpSpPr>
      <p:pic>
        <p:nvPicPr>
          <p:cNvPr id="2" name="A1w" descr="/home/claude/img/close.jpg"/>
          <p:cNvPicPr>
            <a:picLocks noChangeAspect="1"/>
          </p:cNvPicPr>
          <p:nvPr/>
        </p:nvPicPr>
        <p:blipFill>
          <a:blip r:embed="rId3"/>
          <a:stretch>
            <a:fillRect/>
          </a:stretch>
        </p:blipFill>
        <p:spPr>
          <a:xfrm>
            <a:off x="0" y="0"/>
            <a:ext cx="3566160" cy="5143500"/>
          </a:xfrm>
          <a:prstGeom prst="rect">
            <a:avLst/>
          </a:prstGeom>
        </p:spPr>
      </p:pic>
      <p:pic>
        <p:nvPicPr>
          <p:cNvPr id="3" name="A2f" descr="/home/claude/img/logo.png"/>
          <p:cNvPicPr>
            <a:picLocks noChangeAspect="1"/>
          </p:cNvPicPr>
          <p:nvPr/>
        </p:nvPicPr>
        <p:blipFill>
          <a:blip r:embed="rId4"/>
          <a:stretch>
            <a:fillRect/>
          </a:stretch>
        </p:blipFill>
        <p:spPr>
          <a:xfrm>
            <a:off x="4114800" y="411480"/>
            <a:ext cx="1737360" cy="1225296"/>
          </a:xfrm>
          <a:prstGeom prst="rect">
            <a:avLst/>
          </a:prstGeom>
        </p:spPr>
      </p:pic>
      <p:sp>
        <p:nvSpPr>
          <p:cNvPr id="4" name="A3f"/>
          <p:cNvSpPr txBox="1"/>
          <p:nvPr/>
        </p:nvSpPr>
        <p:spPr>
          <a:xfrm>
            <a:off x="4114800" y="1783080"/>
            <a:ext cx="4572000" cy="822960"/>
          </a:xfrm>
          <a:prstGeom prst="rect">
            <a:avLst/>
          </a:prstGeom>
          <a:noFill/>
          <a:ln/>
        </p:spPr>
        <p:txBody>
          <a:bodyPr wrap="square" lIns="0" tIns="0" rIns="0" bIns="0" rtlCol="0" anchor="t"/>
          <a:lstStyle/>
          <a:p>
            <a:pPr marL="0" indent="0">
              <a:buNone/>
            </a:pPr>
            <a:r>
              <a:rPr lang="en-US" sz="4800" b="1" dirty="0">
                <a:solidFill>
                  <a:srgbClr val="765044"/>
                </a:solidFill>
                <a:latin typeface="Cambria" pitchFamily="34" charset="0"/>
                <a:ea typeface="Cambria" pitchFamily="34" charset="-122"/>
                <a:cs typeface="Cambria" pitchFamily="34" charset="-120"/>
              </a:rPr>
              <a:t>Thank You</a:t>
            </a:r>
            <a:endParaRPr lang="en-US" sz="4800" dirty="0"/>
          </a:p>
        </p:txBody>
      </p:sp>
      <p:sp>
        <p:nvSpPr>
          <p:cNvPr id="5" name="A4f"/>
          <p:cNvSpPr txBox="1"/>
          <p:nvPr/>
        </p:nvSpPr>
        <p:spPr>
          <a:xfrm>
            <a:off x="4114800" y="2697480"/>
            <a:ext cx="4572000" cy="411480"/>
          </a:xfrm>
          <a:prstGeom prst="rect">
            <a:avLst/>
          </a:prstGeom>
          <a:noFill/>
          <a:ln/>
        </p:spPr>
        <p:txBody>
          <a:bodyPr wrap="square" lIns="0" tIns="0" rIns="0" bIns="0" rtlCol="0" anchor="t"/>
          <a:lstStyle/>
          <a:p>
            <a:pPr marL="0" indent="0">
              <a:buNone/>
            </a:pPr>
            <a:r>
              <a:rPr lang="en-US" sz="1800" i="1" dirty="0">
                <a:solidFill>
                  <a:srgbClr val="B06A59"/>
                </a:solidFill>
                <a:latin typeface="Cambria" pitchFamily="34" charset="0"/>
                <a:ea typeface="Cambria" pitchFamily="34" charset="-122"/>
                <a:cs typeface="Cambria" pitchFamily="34" charset="-120"/>
              </a:rPr>
              <a:t>Bakerz Bite — Where Smiles Are Served Daily</a:t>
            </a:r>
            <a:endParaRPr lang="en-US" sz="1800" dirty="0"/>
          </a:p>
        </p:txBody>
      </p:sp>
      <p:sp>
        <p:nvSpPr>
          <p:cNvPr id="6" name="A5f_l"/>
          <p:cNvSpPr/>
          <p:nvPr/>
        </p:nvSpPr>
        <p:spPr>
          <a:xfrm>
            <a:off x="4114800" y="3291840"/>
            <a:ext cx="1097280" cy="0"/>
          </a:xfrm>
          <a:prstGeom prst="line">
            <a:avLst/>
          </a:prstGeom>
          <a:noFill/>
          <a:ln w="19050">
            <a:solidFill>
              <a:srgbClr val="D8B779"/>
            </a:solidFill>
            <a:prstDash val="solid"/>
          </a:ln>
        </p:spPr>
        <p:txBody>
          <a:bodyPr/>
          <a:lstStyle/>
          <a:p>
            <a:endParaRPr lang="en-US"/>
          </a:p>
        </p:txBody>
      </p:sp>
      <p:sp>
        <p:nvSpPr>
          <p:cNvPr id="7" name="A5f"/>
          <p:cNvSpPr txBox="1"/>
          <p:nvPr/>
        </p:nvSpPr>
        <p:spPr>
          <a:xfrm>
            <a:off x="4114800" y="3429000"/>
            <a:ext cx="4572000" cy="320040"/>
          </a:xfrm>
          <a:prstGeom prst="rect">
            <a:avLst/>
          </a:prstGeom>
          <a:noFill/>
          <a:ln/>
        </p:spPr>
        <p:txBody>
          <a:bodyPr wrap="square" lIns="0" tIns="0" rIns="0" bIns="0" rtlCol="0" anchor="t"/>
          <a:lstStyle/>
          <a:p>
            <a:pPr marL="0" indent="0">
              <a:buNone/>
            </a:pPr>
            <a:r>
              <a:rPr lang="en-US" sz="1600" b="1" kern="0" spc="400" dirty="0">
                <a:solidFill>
                  <a:srgbClr val="3D2925"/>
                </a:solidFill>
                <a:latin typeface="Calibri" pitchFamily="34" charset="0"/>
                <a:ea typeface="Calibri" pitchFamily="34" charset="-122"/>
                <a:cs typeface="Calibri" pitchFamily="34" charset="-120"/>
              </a:rPr>
              <a:t>QUESTIONS &amp; ANSWERS</a:t>
            </a:r>
            <a:endParaRPr lang="en-US" sz="1600" dirty="0"/>
          </a:p>
        </p:txBody>
      </p:sp>
      <p:sp>
        <p:nvSpPr>
          <p:cNvPr id="8" name="A6f"/>
          <p:cNvSpPr txBox="1"/>
          <p:nvPr/>
        </p:nvSpPr>
        <p:spPr>
          <a:xfrm>
            <a:off x="4114800" y="3931920"/>
            <a:ext cx="4572000" cy="548640"/>
          </a:xfrm>
          <a:prstGeom prst="rect">
            <a:avLst/>
          </a:prstGeom>
          <a:noFill/>
          <a:ln/>
        </p:spPr>
        <p:txBody>
          <a:bodyPr wrap="square" lIns="0" tIns="0" rIns="0" bIns="0" rtlCol="0" anchor="t"/>
          <a:lstStyle/>
          <a:p>
            <a:pPr marL="0" indent="0">
              <a:buNone/>
            </a:pPr>
            <a:r>
              <a:rPr lang="en-US" sz="1150" dirty="0">
                <a:solidFill>
                  <a:srgbClr val="765044"/>
                </a:solidFill>
                <a:latin typeface="Calibri" pitchFamily="34" charset="0"/>
                <a:ea typeface="Calibri" pitchFamily="34" charset="-122"/>
                <a:cs typeface="Calibri" pitchFamily="34" charset="-120"/>
              </a:rPr>
              <a:t>Fariha Kamran · Fatima Irfan · Kashaf Baig · Ahmed Faraz Siddiqui</a:t>
            </a:r>
            <a:endParaRPr lang="en-US" sz="1150" dirty="0"/>
          </a:p>
          <a:p>
            <a:pPr marL="0" indent="0">
              <a:buNone/>
            </a:pPr>
            <a:r>
              <a:rPr lang="en-US" sz="1150" dirty="0">
                <a:solidFill>
                  <a:srgbClr val="765044"/>
                </a:solidFill>
                <a:latin typeface="Calibri" pitchFamily="34" charset="0"/>
                <a:ea typeface="Calibri" pitchFamily="34" charset="-122"/>
                <a:cs typeface="Calibri" pitchFamily="34" charset="-120"/>
              </a:rPr>
              <a:t>Group A · CPISM · Batch 2606E2</a:t>
            </a:r>
            <a:endParaRPr lang="en-US" sz="115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800"/>
                                        <p:tgtEl>
                                          <p:spTgt spid="2"/>
                                        </p:tgtEl>
                                      </p:cBhvr>
                                    </p:animEffect>
                                  </p:childTnLst>
                                </p:cTn>
                              </p:par>
                            </p:childTnLst>
                          </p:cTn>
                        </p:par>
                        <p:par>
                          <p:cTn id="8" fill="hold">
                            <p:stCondLst>
                              <p:cond delay="700"/>
                            </p:stCondLst>
                            <p:childTnLst>
                              <p:par>
                                <p:cTn id="9" presetID="10" presetClass="entr" presetSubtype="0" fill="hold" nodeType="afterEffect">
                                  <p:stCondLst>
                                    <p:cond delay="0"/>
                                  </p:stCondLst>
                                  <p:childTnLst>
                                    <p:set>
                                      <p:cBhvr>
                                        <p:cTn id="10" dur="1" fill="hold">
                                          <p:stCondLst>
                                            <p:cond delay="0"/>
                                          </p:stCondLst>
                                        </p:cTn>
                                        <p:tgtEl>
                                          <p:spTgt spid="3"/>
                                        </p:tgtEl>
                                        <p:attrNameLst>
                                          <p:attrName>style.visibility</p:attrName>
                                        </p:attrNameLst>
                                      </p:cBhvr>
                                      <p:to>
                                        <p:strVal val="visible"/>
                                      </p:to>
                                    </p:set>
                                    <p:animEffect transition="in" filter="fade">
                                      <p:cBhvr>
                                        <p:cTn id="11" dur="600"/>
                                        <p:tgtEl>
                                          <p:spTgt spid="3"/>
                                        </p:tgtEl>
                                      </p:cBhvr>
                                    </p:animEffect>
                                  </p:childTnLst>
                                </p:cTn>
                              </p:par>
                            </p:childTnLst>
                          </p:cTn>
                        </p:par>
                        <p:par>
                          <p:cTn id="12" fill="hold">
                            <p:stCondLst>
                              <p:cond delay="1400"/>
                            </p:stCondLst>
                            <p:childTnLst>
                              <p:par>
                                <p:cTn id="13" presetID="10" presetClass="entr" presetSubtype="0" fill="hold" nodeType="after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fade">
                                      <p:cBhvr>
                                        <p:cTn id="15" dur="600"/>
                                        <p:tgtEl>
                                          <p:spTgt spid="4"/>
                                        </p:tgtEl>
                                      </p:cBhvr>
                                    </p:animEffect>
                                  </p:childTnLst>
                                </p:cTn>
                              </p:par>
                            </p:childTnLst>
                          </p:cTn>
                        </p:par>
                        <p:par>
                          <p:cTn id="16" fill="hold">
                            <p:stCondLst>
                              <p:cond delay="2100"/>
                            </p:stCondLst>
                            <p:childTnLst>
                              <p:par>
                                <p:cTn id="17" presetID="10" presetClass="entr" presetSubtype="0" fill="hold" nodeType="after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fade">
                                      <p:cBhvr>
                                        <p:cTn id="19" dur="600"/>
                                        <p:tgtEl>
                                          <p:spTgt spid="5"/>
                                        </p:tgtEl>
                                      </p:cBhvr>
                                    </p:animEffect>
                                  </p:childTnLst>
                                </p:cTn>
                              </p:par>
                            </p:childTnLst>
                          </p:cTn>
                        </p:par>
                        <p:par>
                          <p:cTn id="20" fill="hold">
                            <p:stCondLst>
                              <p:cond delay="2800"/>
                            </p:stCondLst>
                            <p:childTnLst>
                              <p:par>
                                <p:cTn id="21" presetID="10" presetClass="entr" presetSubtype="0" fill="hold" nodeType="afterEffect">
                                  <p:stCondLst>
                                    <p:cond delay="0"/>
                                  </p:stCondLst>
                                  <p:childTnLst>
                                    <p:set>
                                      <p:cBhvr>
                                        <p:cTn id="22" dur="1" fill="hold">
                                          <p:stCondLst>
                                            <p:cond delay="0"/>
                                          </p:stCondLst>
                                        </p:cTn>
                                        <p:tgtEl>
                                          <p:spTgt spid="6"/>
                                        </p:tgtEl>
                                        <p:attrNameLst>
                                          <p:attrName>style.visibility</p:attrName>
                                        </p:attrNameLst>
                                      </p:cBhvr>
                                      <p:to>
                                        <p:strVal val="visible"/>
                                      </p:to>
                                    </p:set>
                                    <p:animEffect transition="in" filter="fade">
                                      <p:cBhvr>
                                        <p:cTn id="23" dur="600"/>
                                        <p:tgtEl>
                                          <p:spTgt spid="6"/>
                                        </p:tgtEl>
                                      </p:cBhvr>
                                    </p:animEffect>
                                  </p:childTnLst>
                                </p:cTn>
                              </p:par>
                              <p:par>
                                <p:cTn id="24" presetID="10" presetClass="entr" presetSubtype="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fade">
                                      <p:cBhvr>
                                        <p:cTn id="26" dur="600"/>
                                        <p:tgtEl>
                                          <p:spTgt spid="7"/>
                                        </p:tgtEl>
                                      </p:cBhvr>
                                    </p:animEffect>
                                  </p:childTnLst>
                                </p:cTn>
                              </p:par>
                            </p:childTnLst>
                          </p:cTn>
                        </p:par>
                        <p:par>
                          <p:cTn id="27" fill="hold">
                            <p:stCondLst>
                              <p:cond delay="3500"/>
                            </p:stCondLst>
                            <p:childTnLst>
                              <p:par>
                                <p:cTn id="28" presetID="10" presetClass="entr" presetSubtype="0" fill="hold" nodeType="after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6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Bakerz Bite">
  <a:themeElements>
    <a:clrScheme name="Bakerz Bite">
      <a:dk1>
        <a:srgbClr val="3D2925"/>
      </a:dk1>
      <a:lt1>
        <a:srgbClr val="FFFAF6"/>
      </a:lt1>
      <a:dk2>
        <a:srgbClr val="765044"/>
      </a:dk2>
      <a:lt2>
        <a:srgbClr val="FCF1E7"/>
      </a:lt2>
      <a:accent1>
        <a:srgbClr val="D99587"/>
      </a:accent1>
      <a:accent2>
        <a:srgbClr val="D8B779"/>
      </a:accent2>
      <a:accent3>
        <a:srgbClr val="B06A59"/>
      </a:accent3>
      <a:accent4>
        <a:srgbClr val="F2C4B5"/>
      </a:accent4>
      <a:accent5>
        <a:srgbClr val="765044"/>
      </a:accent5>
      <a:accent6>
        <a:srgbClr val="8F5445"/>
      </a:accent6>
      <a:hlink>
        <a:srgbClr val="8F5445"/>
      </a:hlink>
      <a:folHlink>
        <a:srgbClr val="B06A59"/>
      </a:folHlink>
    </a:clrScheme>
    <a:fontScheme name="Bakerz Bit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TotalTime>
  <Words>2038</Words>
  <Application>Microsoft Office PowerPoint</Application>
  <PresentationFormat>On-screen Show (16:9)</PresentationFormat>
  <Paragraphs>317</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Arial</vt:lpstr>
      <vt:lpstr>Calibri</vt:lpstr>
      <vt:lpstr>Cambria</vt:lpstr>
      <vt:lpstr>Bakerz Bite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Bakerz Bite — Artisan Bakery &amp; Café</dc:title>
  <dc:subject>PptxGenJS Presentation</dc:subject>
  <dc:creator>Bakerz Bite Team</dc:creator>
  <cp:lastModifiedBy>Zubia Razi</cp:lastModifiedBy>
  <cp:revision>4</cp:revision>
  <dcterms:created xsi:type="dcterms:W3CDTF">2026-10-22T15:01:53Z</dcterms:created>
  <dcterms:modified xsi:type="dcterms:W3CDTF">2026-10-29T04:28:04Z</dcterms:modified>
</cp:coreProperties>
</file>